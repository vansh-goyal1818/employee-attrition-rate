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265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A777A"/>
                </a:solidFill>
                <a:latin typeface="Calibri"/>
              </a:rPr>
              <a:t>TECHNICAL PROJECT PRESENTATION  |  ENTERPRISE WORKFORCE ANALYTICS
</a:t>
            </a:r>
          </a:p>
          <a:p>
            <a:r>
              <a:rPr sz="3200" b="1">
                <a:solidFill>
                  <a:srgbClr val="1B365D"/>
                </a:solidFill>
                <a:latin typeface="Calibri"/>
              </a:rPr>
              <a:t>Employee Attrition Prediction &amp;
Workforce Analytics
</a:t>
            </a:r>
          </a:p>
          <a:p>
            <a:r>
              <a:rPr sz="1600" i="1">
                <a:solidFill>
                  <a:srgbClr val="1E293B"/>
                </a:solidFill>
                <a:latin typeface="Calibri"/>
              </a:rPr>
              <a:t>An End-to-End Machine Learning and Workforce Decision Support System
</a:t>
            </a:r>
          </a:p>
          <a:p>
            <a:r>
              <a:rPr sz="1300" b="1">
                <a:solidFill>
                  <a:srgbClr val="1B365D"/>
                </a:solidFill>
                <a:latin typeface="Calibri"/>
              </a:rPr>
              <a:t>Project Team:  Vansh Goyal (24BDS1156)  •  Ritabrata Dey (24BDS1129)  •  Chetan Pareek (24BDS1125)
</a:t>
            </a:r>
          </a:p>
          <a:p>
            <a:r>
              <a:rPr sz="1100">
                <a:solidFill>
                  <a:srgbClr val="64748B"/>
                </a:solidFill>
                <a:latin typeface="Calibri"/>
              </a:rPr>
              <a:t>School of Computer Science and Engineering (SCOPE)  |  Vellore Institute of Technology (VIT), Chennai
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EXECUTIVE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Problem Context &amp; Technical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Calibri"/>
              </a:defRPr>
            </a:pPr>
            <a:r>
              <a:t>Operational Challenge: Voluntary Attrition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Manufacturing Disruption: </a:t>
            </a:r>
            <a:r>
              <a:rPr>
                <a:solidFill>
                  <a:srgbClr val="1E293B"/>
                </a:solidFill>
              </a:rPr>
              <a:t>Unplanned technician and operator turnover creates severe line imbalances, scrap rate spikes, and delays in industrial delivery schedules.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Asymmetric Replacement Costs: </a:t>
            </a:r>
            <a:r>
              <a:rPr>
                <a:solidFill>
                  <a:srgbClr val="1E293B"/>
                </a:solidFill>
              </a:rPr>
              <a:t>Recruiting and certifying specialized CNC and assembly technicians incurs substantial onboarding lag and emergency hiring overhead.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Failure of Reactive HR: </a:t>
            </a:r>
            <a:r>
              <a:rPr>
                <a:solidFill>
                  <a:srgbClr val="1E293B"/>
                </a:solidFill>
              </a:rPr>
              <a:t>Exit interviews capture turnover drivers only after resignations occur, providing zero opportunity for timely retention interventions.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Supervisory Blindspots: </a:t>
            </a:r>
            <a:r>
              <a:rPr>
                <a:solidFill>
                  <a:srgbClr val="1E293B"/>
                </a:solidFill>
              </a:rPr>
              <a:t>Localized shift friction and physical burnout are often obscured by subjective managerial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Calibri"/>
              </a:defRPr>
            </a:pPr>
            <a:r>
              <a:t>End-to-End Solution Architecture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4A777A"/>
                </a:solidFill>
              </a:rPr>
              <a:t>✔ Multi-Plant Empirical Data Pipeline: </a:t>
            </a:r>
            <a:r>
              <a:rPr>
                <a:solidFill>
                  <a:srgbClr val="1E293B"/>
                </a:solidFill>
              </a:rPr>
              <a:t>Audit and prepare an enterprise dataset of 50,000 employee records across 6 regional manufacturing plants.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4A777A"/>
                </a:solidFill>
              </a:rPr>
              <a:t>✔ Behavioral Feature Engineering: </a:t>
            </a:r>
            <a:r>
              <a:rPr>
                <a:solidFill>
                  <a:srgbClr val="1E293B"/>
                </a:solidFill>
              </a:rPr>
              <a:t>Formulate robust composite psychometric and operational indices (SatisfactionIndex, OvertimeLevel).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4A777A"/>
                </a:solidFill>
              </a:rPr>
              <a:t>✔ Algorithm Benchmarking: </a:t>
            </a:r>
            <a:r>
              <a:rPr>
                <a:solidFill>
                  <a:srgbClr val="1E293B"/>
                </a:solidFill>
              </a:rPr>
              <a:t>Systematically evaluate 10 supervised classification algorithms across linear, kernel, and tree-based paradigms.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4A777A"/>
                </a:solidFill>
              </a:rPr>
              <a:t>✔ Decision-Threshold Calibration: </a:t>
            </a:r>
            <a:r>
              <a:rPr>
                <a:solidFill>
                  <a:srgbClr val="1E293B"/>
                </a:solidFill>
              </a:rPr>
              <a:t>Resolve severe class imbalance by optimizing decision boundaries to maximize leaver recall and F1-score.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4A777A"/>
                </a:solidFill>
              </a:rPr>
              <a:t>✔ Interactive Decision Support: </a:t>
            </a:r>
            <a:r>
              <a:rPr>
                <a:solidFill>
                  <a:srgbClr val="1E293B"/>
                </a:solidFill>
              </a:rPr>
              <a:t>Deliver an 8-tab Streamlit dashboard with real-time R inference for proactive HR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DATASET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Workforce Dataset: 50,000 Multi-Plant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Calibri"/>
              </a:rPr>
              <a:t>TOTAL WORKFORCE RECORDS
</a:t>
            </a:r>
          </a:p>
          <a:p>
            <a:pPr algn="ctr"/>
            <a:r>
              <a:rPr sz="2200" b="1">
                <a:solidFill>
                  <a:srgbClr val="1B365D"/>
                </a:solidFill>
                <a:latin typeface="Calibri"/>
              </a:rPr>
              <a:t>50,000
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6 Regional Manufacturing Plants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468880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Calibri"/>
              </a:rPr>
              <a:t>ORIGINAL ATTRIBUTES
</a:t>
            </a:r>
          </a:p>
          <a:p>
            <a:pPr algn="ctr"/>
            <a:r>
              <a:rPr sz="2200" b="1">
                <a:solidFill>
                  <a:srgbClr val="1B365D"/>
                </a:solidFill>
                <a:latin typeface="Calibri"/>
              </a:rPr>
              <a:t>21
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Demographic, Compensation, Survey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468880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37160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Calibri"/>
              </a:rPr>
              <a:t>OVERALL ATTRITION RATE
</a:t>
            </a:r>
          </a:p>
          <a:p>
            <a:pPr algn="ctr"/>
            <a:r>
              <a:rPr sz="2200" b="1">
                <a:solidFill>
                  <a:srgbClr val="991B1B"/>
                </a:solidFill>
                <a:latin typeface="Calibri"/>
              </a:rPr>
              <a:t>16.66%
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8,332 Total Leavers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371600"/>
            <a:ext cx="2743200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37160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Calibri"/>
              </a:rPr>
              <a:t>RETAINED EMPLOYEES
</a:t>
            </a:r>
          </a:p>
          <a:p>
            <a:pPr algn="ctr"/>
            <a:r>
              <a:rPr sz="2200" b="1">
                <a:solidFill>
                  <a:srgbClr val="166534"/>
                </a:solidFill>
                <a:latin typeface="Calibri"/>
              </a:rPr>
              <a:t>83.34%
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41,668 Active Workers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512064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Calibri"/>
              </a:defRPr>
            </a:pPr>
            <a:r>
              <a:t>Dataset Profile &amp; Class Imbalance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B365D"/>
                </a:solidFill>
              </a:rPr>
              <a:t>• Broad Enterprise Scale: </a:t>
            </a:r>
            <a:r>
              <a:rPr>
                <a:solidFill>
                  <a:srgbClr val="1E293B"/>
                </a:solidFill>
              </a:rPr>
              <a:t>50,000 individual records across 6 plants provide statistical stability far exceeding standard small benchmarks.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B365D"/>
                </a:solidFill>
              </a:rPr>
              <a:t>• Zero Data Leakage: </a:t>
            </a:r>
            <a:r>
              <a:rPr>
                <a:solidFill>
                  <a:srgbClr val="1E293B"/>
                </a:solidFill>
              </a:rPr>
              <a:t>1,050,000 total cells audited with zero missing values; sequential EmployeeNumber strictly excluded from training.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B365D"/>
                </a:solidFill>
              </a:rPr>
              <a:t>• Moderate 5:1 Imbalance: </a:t>
            </a:r>
            <a:r>
              <a:rPr>
                <a:solidFill>
                  <a:srgbClr val="1E293B"/>
                </a:solidFill>
              </a:rPr>
              <a:t>With 83.34% retention vs. 16.66% turnover, standard accuracy metrics create a deceptive 'imbalance trap'.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1B365D"/>
                </a:solidFill>
              </a:rPr>
              <a:t>• Holdout Test Partition: </a:t>
            </a:r>
            <a:r>
              <a:rPr>
                <a:solidFill>
                  <a:srgbClr val="1E293B"/>
                </a:solidFill>
              </a:rPr>
              <a:t>A stratified 20% partition (9,999 records: 8,333 stayers, 1,666 leavers) was held strictly isolated for unbiased final evaluation.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21208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834640"/>
            <a:ext cx="46634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Key Workforce Patterns: What Separates Leavers?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Calibri"/>
              </a:defRPr>
            </a:pPr>
            <a:r>
              <a:t>Core Behavioral Signals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Monthly Overtime Exhaustion: </a:t>
            </a:r>
            <a:r>
              <a:rPr>
                <a:solidFill>
                  <a:srgbClr val="1E293B"/>
                </a:solidFill>
              </a:rPr>
              <a:t>Departed employees logged median overtime of 38.0 hrs/mo vs. 24.0 hrs/mo for retained workers. A steep risk inflection occurs at 28 hrs/mo.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Sharp Engagement Disparity: </a:t>
            </a:r>
            <a:r>
              <a:rPr>
                <a:solidFill>
                  <a:srgbClr val="1E293B"/>
                </a:solidFill>
              </a:rPr>
              <a:t>Leavers exhibit heavily depressed engagement scores (mean 61.89 vs. 68.62 for stayers), with high flight clustering below 60.0.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Subtle Compensation Impact: </a:t>
            </a:r>
            <a:r>
              <a:rPr>
                <a:solidFill>
                  <a:srgbClr val="1E293B"/>
                </a:solidFill>
              </a:rPr>
              <a:t>Monthly income showed negligible correlation with attrition (r = -0.035; median ₹31,577 stayers vs. ₹30,852 leavers). Standardized plant pay structures make non-financial factors dominant.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Transit Burden: </a:t>
            </a:r>
            <a:r>
              <a:rPr>
                <a:solidFill>
                  <a:srgbClr val="1E293B"/>
                </a:solidFill>
              </a:rPr>
              <a:t>Employees commuting &gt;30 km exhibit 2.4x higher turnover propensity due to compounding travel fatigue.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297680" cy="2194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023360"/>
            <a:ext cx="42976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DOMAIN FEATURE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Feature Engineering: Synthesizing Behavioral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554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Calibri"/>
              </a:defRPr>
            </a:pPr>
            <a:r>
              <a:t>Primary Engineered Feature: Composite SatisfactionIndex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284C7"/>
                </a:solidFill>
                <a:latin typeface="Consolas"/>
              </a:rPr>
              <a:t>SatisfactionIndex = (EnvironmentSatisfaction + JobSatisfaction + JobInvolvement) / 3
</a:t>
            </a:r>
            <a:r>
              <a:rPr sz="1050">
                <a:solidFill>
                  <a:srgbClr val="1E293B"/>
                </a:solidFill>
                <a:latin typeface="Calibri"/>
              </a:rPr>
              <a:t>Consolidates three collinear ordinal survey scores into a stable continuous psychometric scale [1.00, 4.00]. Retained employees average 2.43 vs. 2.18 for departed employees (Wilcoxon W = 1.98e8, p &lt; 0.001).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24688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EngagementLevel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B365D"/>
                </a:solidFill>
                <a:latin typeface="Calibri"/>
              </a:rPr>
              <a:t>Low (&lt;60.0)
Medium (60.0–75.0)
High (&gt;75.0)
</a:t>
            </a:r>
            <a:r>
              <a:rPr sz="950" i="1">
                <a:solidFill>
                  <a:srgbClr val="64748B"/>
                </a:solidFill>
                <a:latin typeface="Calibri"/>
              </a:rPr>
              <a:t>Isolates acute disengagement.
Chi-sq χ² = 1870.27 (p &lt; 0.001).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108960"/>
            <a:ext cx="24688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2004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91B1B"/>
                </a:solidFill>
                <a:latin typeface="Calibri"/>
              </a:defRPr>
            </a:pPr>
            <a:r>
              <a:t>OvertimeLevel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B365D"/>
                </a:solidFill>
                <a:latin typeface="Calibri"/>
              </a:rPr>
              <a:t>Low (&lt;20 hrs/mo)
Moderate (20–35 hrs)
High (&gt;35 hrs/mo)
</a:t>
            </a:r>
            <a:r>
              <a:rPr sz="950" i="1">
                <a:solidFill>
                  <a:srgbClr val="64748B"/>
                </a:solidFill>
                <a:latin typeface="Calibri"/>
              </a:rPr>
              <a:t>Captures burnout threshold.
Chi-sq χ² = 273.58 (p &lt; 0.001).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24688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2004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Calibri"/>
              </a:defRPr>
            </a:pPr>
            <a:r>
              <a:t>DistanceCategory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B365D"/>
                </a:solidFill>
                <a:latin typeface="Calibri"/>
              </a:rPr>
              <a:t>Near (&lt;15 km)
Moderate (15–35 km)
Far (&gt;35 km)
</a:t>
            </a:r>
            <a:r>
              <a:rPr sz="950" i="1">
                <a:solidFill>
                  <a:srgbClr val="64748B"/>
                </a:solidFill>
                <a:latin typeface="Calibri"/>
              </a:rPr>
              <a:t>Captures transit fatigue.
Chi-sq χ² = 94.29 (p &lt; 0.001).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108960"/>
            <a:ext cx="24688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32004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A777A"/>
                </a:solidFill>
                <a:latin typeface="Calibri"/>
              </a:defRPr>
            </a:pPr>
            <a:r>
              <a:t>TenureGroup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B365D"/>
                </a:solidFill>
                <a:latin typeface="Calibri"/>
              </a:rPr>
              <a:t>New (&lt;1 yr)
Developing (1–3 yrs)
Established (3–7 yrs)
Veteran (&gt;7 yrs)
</a:t>
            </a:r>
            <a:r>
              <a:rPr sz="950" i="1">
                <a:solidFill>
                  <a:srgbClr val="64748B"/>
                </a:solidFill>
                <a:latin typeface="Calibri"/>
              </a:rPr>
              <a:t>Maps turnover risk across career lifecycle milestones.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FEATURE SUBSET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Feature Selection &amp; Statistical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Calibri"/>
              </a:defRPr>
            </a:pPr>
            <a:r>
              <a:t>15 Selected Predictor Features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Calibri"/>
              </a:rPr>
              <a:t>1. EngagementScore (Gini: 882.96)
2. MonthlyIncome (Gini: 880.37)
3. MonthlyRate (Gini: 872.39)
4. DailyRate (Gini: 850.42)
5. Education (Gini: 839.04)
6. HourlyRate (Gini: 787.18)
7. YearsAtCompany (Gini: 758.51)
8. DistanceFromHome (Gini: 724.05)
9. MonthlyOvertimeHours (Gini: 706.18)
10. Department (7 Categorical Levels)
11. Plant (6 Manufacturing Facilities)
12. EducationField (6 Disciplines)
13. SatisfactionIndex (Composite Indicator)
14. JobRole (5 Production Roles)
15. JobInvolvement (Ordinal 1–4 Scale)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Calibri"/>
              </a:defRPr>
            </a:pPr>
            <a:r>
              <a:t>Hypothesis Testing Rigor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4A777A"/>
                </a:solidFill>
              </a:rPr>
              <a:t>✔ Wilcoxon Rank-Sum Tests: </a:t>
            </a:r>
            <a:r>
              <a:rPr>
                <a:solidFill>
                  <a:srgbClr val="1E293B"/>
                </a:solidFill>
              </a:rPr>
              <a:t>Non-parametric tests confirmed highly significant median divergence (p &lt; 0.001) for EngagementScore, MonthlyOvertimeHours, DistanceFromHome, and SatisfactionIndex.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4A777A"/>
                </a:solidFill>
              </a:rPr>
              <a:t>✔ Chi-Square Independence: </a:t>
            </a:r>
            <a:r>
              <a:rPr>
                <a:solidFill>
                  <a:srgbClr val="1E293B"/>
                </a:solidFill>
              </a:rPr>
              <a:t>JobRole (χ² = 26.16, p &lt; 0.001), Department (χ² = 14.20, p = 0.027), Shift (χ² = 9.52, p = 0.0086), EngagementLevel (χ² = 1870.27), and OvertimeLevel (χ² = 273.58) confirmed strong dependency.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4A777A"/>
                </a:solidFill>
              </a:rPr>
              <a:t>✔ Point-Biserial Correlations: </a:t>
            </a:r>
            <a:r>
              <a:rPr>
                <a:solidFill>
                  <a:srgbClr val="1E293B"/>
                </a:solidFill>
              </a:rPr>
              <a:t>EngagementScore displays strongest negative correlation (r = -0.2115, p &lt; 0.001); MonthlyOvertimeHours displays strongest positive correlation (r = +0.0799, p &lt; 0.001).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METHODOLOGY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Model Development Pipeline &amp;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64592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65D"/>
                </a:solidFill>
                <a:latin typeface="Calibri"/>
              </a:defRPr>
            </a:pPr>
            <a:r>
              <a:t>1. Split</a:t>
            </a:r>
          </a:p>
          <a:p>
            <a:pPr algn="ctr">
              <a:defRPr sz="900">
                <a:solidFill>
                  <a:srgbClr val="1E293B"/>
                </a:solidFill>
                <a:latin typeface="Calibri"/>
              </a:defRPr>
            </a:pPr>
            <a:r>
              <a:t>80/20 Stratified</a:t>
            </a:r>
            <a:br/>
            <a:r>
              <a:t>40,001 Train</a:t>
            </a:r>
            <a:br/>
            <a:r>
              <a:t>9,999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371600"/>
            <a:ext cx="164592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3716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65D"/>
                </a:solidFill>
                <a:latin typeface="Calibri"/>
              </a:defRPr>
            </a:pPr>
            <a:r>
              <a:t>2. Encode</a:t>
            </a:r>
          </a:p>
          <a:p>
            <a:pPr algn="ctr">
              <a:defRPr sz="900">
                <a:solidFill>
                  <a:srgbClr val="1E293B"/>
                </a:solidFill>
                <a:latin typeface="Calibri"/>
              </a:defRPr>
            </a:pPr>
            <a:r>
              <a:t>Caret dummyVars</a:t>
            </a:r>
            <a:br/>
            <a:r>
              <a:t>One-Hot Matrix</a:t>
            </a:r>
            <a:br/>
            <a:r>
              <a:t>28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164592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65D"/>
                </a:solidFill>
                <a:latin typeface="Calibri"/>
              </a:defRPr>
            </a:pPr>
            <a:r>
              <a:t>3. Scale</a:t>
            </a:r>
          </a:p>
          <a:p>
            <a:pPr algn="ctr">
              <a:defRPr sz="900">
                <a:solidFill>
                  <a:srgbClr val="1E293B"/>
                </a:solidFill>
                <a:latin typeface="Calibri"/>
              </a:defRPr>
            </a:pPr>
            <a:r>
              <a:t>preProcess</a:t>
            </a:r>
            <a:br/>
            <a:r>
              <a:t>Center &amp; Scale</a:t>
            </a:r>
            <a:br/>
            <a:r>
              <a:t>Zero-Leakage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164592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65D"/>
                </a:solidFill>
                <a:latin typeface="Calibri"/>
              </a:defRPr>
            </a:pPr>
            <a:r>
              <a:t>4. Train</a:t>
            </a:r>
          </a:p>
          <a:p>
            <a:pPr algn="ctr">
              <a:defRPr sz="900">
                <a:solidFill>
                  <a:srgbClr val="1E293B"/>
                </a:solidFill>
                <a:latin typeface="Calibri"/>
              </a:defRPr>
            </a:pPr>
            <a:r>
              <a:t>10 Baseline</a:t>
            </a:r>
            <a:br/>
            <a:r>
              <a:t>Algorithms</a:t>
            </a:r>
            <a:br/>
            <a:r>
              <a:t>In Parallel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164592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3716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65D"/>
                </a:solidFill>
                <a:latin typeface="Calibri"/>
              </a:defRPr>
            </a:pPr>
            <a:r>
              <a:t>5. Tune</a:t>
            </a:r>
          </a:p>
          <a:p>
            <a:pPr algn="ctr">
              <a:defRPr sz="900">
                <a:solidFill>
                  <a:srgbClr val="1E293B"/>
                </a:solidFill>
                <a:latin typeface="Calibri"/>
              </a:defRPr>
            </a:pPr>
            <a:r>
              <a:t>5-Fold CV Grid</a:t>
            </a:r>
            <a:br/>
            <a:r>
              <a:t>Tree Ensembles</a:t>
            </a:r>
            <a:br/>
            <a:r>
              <a:t>Regularization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371600"/>
            <a:ext cx="164592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13716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65D"/>
                </a:solidFill>
                <a:latin typeface="Calibri"/>
              </a:defRPr>
            </a:pPr>
            <a:r>
              <a:t>6. Calibrate</a:t>
            </a:r>
          </a:p>
          <a:p>
            <a:pPr algn="ctr">
              <a:defRPr sz="900">
                <a:solidFill>
                  <a:srgbClr val="1E293B"/>
                </a:solidFill>
                <a:latin typeface="Calibri"/>
              </a:defRPr>
            </a:pPr>
            <a:r>
              <a:t>Threshold Sweep</a:t>
            </a:r>
            <a:br/>
            <a:r>
              <a:t>T in [0.10, 0.90]</a:t>
            </a:r>
            <a:br/>
            <a:r>
              <a:t>Optimize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1069848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Calibri"/>
              </a:defRPr>
            </a:pPr>
            <a:r>
              <a:t>10 Supervised Machine Learning Algorithms Benchmarked</a:t>
            </a:r>
          </a:p>
          <a:p>
            <a:pPr>
              <a:spcBef>
                <a:spcPts val="500"/>
              </a:spcBef>
            </a:pPr>
            <a:r>
              <a:rPr b="1">
                <a:solidFill>
                  <a:srgbClr val="1B365D"/>
                </a:solidFill>
              </a:rPr>
              <a:t>• Linear Models: </a:t>
            </a:r>
            <a:r>
              <a:rPr>
                <a:solidFill>
                  <a:srgbClr val="1E293B"/>
                </a:solidFill>
              </a:rPr>
              <a:t>Logistic Regression, Elastic Net (L1/L2 Regularized), Linear Discriminant Analysis (LDA)</a:t>
            </a:r>
          </a:p>
          <a:p>
            <a:pPr>
              <a:spcBef>
                <a:spcPts val="500"/>
              </a:spcBef>
            </a:pPr>
            <a:r>
              <a:rPr b="1">
                <a:solidFill>
                  <a:srgbClr val="1B365D"/>
                </a:solidFill>
              </a:rPr>
              <a:t>• Probabilistic &amp; Distance: </a:t>
            </a:r>
            <a:r>
              <a:rPr>
                <a:solidFill>
                  <a:srgbClr val="1E293B"/>
                </a:solidFill>
              </a:rPr>
              <a:t>Naive Bayes (Conditional Independence), K-Nearest Neighbors (KNN with Euclidean Metrics)</a:t>
            </a:r>
          </a:p>
          <a:p>
            <a:pPr>
              <a:spcBef>
                <a:spcPts val="500"/>
              </a:spcBef>
            </a:pPr>
            <a:r>
              <a:rPr b="1">
                <a:solidFill>
                  <a:srgbClr val="1B365D"/>
                </a:solidFill>
              </a:rPr>
              <a:t>• Kernel Methods: </a:t>
            </a:r>
            <a:r>
              <a:rPr>
                <a:solidFill>
                  <a:srgbClr val="1E293B"/>
                </a:solidFill>
              </a:rPr>
              <a:t>Support Vector Machines (SVM with Radial Basis Function Kernel)</a:t>
            </a:r>
          </a:p>
          <a:p>
            <a:pPr>
              <a:spcBef>
                <a:spcPts val="500"/>
              </a:spcBef>
            </a:pPr>
            <a:r>
              <a:rPr b="1">
                <a:solidFill>
                  <a:srgbClr val="1B365D"/>
                </a:solidFill>
              </a:rPr>
              <a:t>• Single Decision Trees: </a:t>
            </a:r>
            <a:r>
              <a:rPr>
                <a:solidFill>
                  <a:srgbClr val="1E293B"/>
                </a:solidFill>
              </a:rPr>
              <a:t>Classification and Regression Trees (CART with Gini Optimization)</a:t>
            </a:r>
          </a:p>
          <a:p>
            <a:pPr>
              <a:spcBef>
                <a:spcPts val="500"/>
              </a:spcBef>
            </a:pPr>
            <a:r>
              <a:rPr b="1">
                <a:solidFill>
                  <a:srgbClr val="1B365D"/>
                </a:solidFill>
              </a:rPr>
              <a:t>• Bagged Ensembles: </a:t>
            </a:r>
            <a:r>
              <a:rPr>
                <a:solidFill>
                  <a:srgbClr val="1E293B"/>
                </a:solidFill>
              </a:rPr>
              <a:t>Random Forest (150 trees, randomized feature sub-sampling)</a:t>
            </a:r>
          </a:p>
          <a:p>
            <a:pPr>
              <a:spcBef>
                <a:spcPts val="500"/>
              </a:spcBef>
            </a:pPr>
            <a:r>
              <a:rPr b="1">
                <a:solidFill>
                  <a:srgbClr val="1B365D"/>
                </a:solidFill>
              </a:rPr>
              <a:t>• Boosting Architectures: </a:t>
            </a:r>
            <a:r>
              <a:rPr>
                <a:solidFill>
                  <a:srgbClr val="1E293B"/>
                </a:solidFill>
              </a:rPr>
              <a:t>Gradient Boosting Machine (GBM), Extreme Gradient Boosting (XGBoost with tree regularization)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MODEL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Model Performance Comparison &amp; Tuned Ensembles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Calibri"/>
              </a:defRPr>
            </a:pPr>
            <a:r>
              <a:t>Performance Under Default Threshold (0.50)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4937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Tuned Model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Tuned Gradient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0.6790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83.41%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Tuned XGBoost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0.6716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1.38%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83.24%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Tuned 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83.33%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8404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991B1B"/>
                </a:solidFill>
              </a:rPr>
              <a:t>Critical Insight: The Accuracy Paradox
</a:t>
            </a:r>
            <a:r>
              <a:rPr sz="1000">
                <a:solidFill>
                  <a:srgbClr val="1E293B"/>
                </a:solidFill>
              </a:rPr>
              <a:t>• At the default threshold (0.50), high accuracy (~83.3%) hides a complete failure to detect leavers (&lt;1.4% Recall).
• Tuned Gradient Boosting achieved the highest overall ROC-AUC (0.6790).
• Tuned XGBoost was selected as the final operational model because it achieved the strongest F1-score (0.3583) and highest leaver recall (51.62%) upon threshold calibration (T = 0.20).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uned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7548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OPERATIONAL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Moving Beyond Accuracy: Decision Threshold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Calibri"/>
              </a:defRPr>
            </a:pPr>
            <a:r>
              <a:t>Threshold = 0.20 (Optimal Policy)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F1-Score: 0.3583
Recall: 51.62%
Precision: 27.43%
Accuracy: 69.19%
Specificity: 72.70%
Caught Leavers: 860 / 1,666
False Alarms: 2,275 / 8,333
Optimal industrial trade-off.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91B1B"/>
                </a:solidFill>
                <a:latin typeface="Calibri"/>
              </a:defRPr>
            </a:pPr>
            <a:r>
              <a:t>Threshold = 0.50 (Default Academic)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F1-Score: 0.0267
Recall: 1.38%
Precision: 41.07%
Accuracy: 83.24%
Specificity: 99.60%
Caught Leavers: 23 / 1,666
Missed Leavers: 1,643 (98.6%)
Clinically non-viable in HR.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Calibri"/>
              </a:defRPr>
            </a:pPr>
            <a:r>
              <a:t>Threshold = 0.70 (Conservative)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1E293B"/>
                </a:solidFill>
                <a:latin typeface="Calibri"/>
              </a:rPr>
              <a:t>F1-Score: 0.0000
Recall: 0.00%
Precision: 0.00%
Accuracy: 83.34%
Specificity: 100.00%
Caught Leavers: 0 / 1,666
Missed Leavers: 1,666 (100%)
Complete model paralysis.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CHAMPION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Final Model Scorecard: Tuned XGBoost (T = 0.20)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Calibri"/>
              </a:rPr>
              <a:t>ROC-AUC SCORE
</a:t>
            </a:r>
          </a:p>
          <a:p>
            <a:pPr algn="ctr"/>
            <a:r>
              <a:rPr sz="2200" b="1">
                <a:solidFill>
                  <a:srgbClr val="1B365D"/>
                </a:solidFill>
                <a:latin typeface="Calibri"/>
              </a:rPr>
              <a:t>0.6716
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Strong Rank Discrimination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468880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Calibri"/>
              </a:rPr>
              <a:t>TEST SET RECALL
</a:t>
            </a:r>
          </a:p>
          <a:p>
            <a:pPr algn="ctr"/>
            <a:r>
              <a:rPr sz="2200" b="1">
                <a:solidFill>
                  <a:srgbClr val="166534"/>
                </a:solidFill>
                <a:latin typeface="Calibri"/>
              </a:rPr>
              <a:t>51.62%
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860 of 1,666 Leavers Caught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2468880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Calibri"/>
              </a:rPr>
              <a:t>PEAK F1-SCORE
</a:t>
            </a:r>
          </a:p>
          <a:p>
            <a:pPr algn="ctr"/>
            <a:r>
              <a:rPr sz="2200" b="1">
                <a:solidFill>
                  <a:srgbClr val="1B365D"/>
                </a:solidFill>
                <a:latin typeface="Calibri"/>
              </a:rPr>
              <a:t>0.3583
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Optimal Precision-Recall Balance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651760"/>
            <a:ext cx="2468880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651760"/>
            <a:ext cx="2468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Calibri"/>
              </a:rPr>
              <a:t>SPECIFICITY
</a:t>
            </a:r>
          </a:p>
          <a:p>
            <a:pPr algn="ctr"/>
            <a:r>
              <a:rPr sz="2200" b="1">
                <a:solidFill>
                  <a:srgbClr val="1B365D"/>
                </a:solidFill>
                <a:latin typeface="Calibri"/>
              </a:rPr>
              <a:t>72.70%
</a:t>
            </a:r>
          </a:p>
          <a:p>
            <a:pPr algn="ctr"/>
            <a:r>
              <a:rPr sz="850">
                <a:solidFill>
                  <a:srgbClr val="64748B"/>
                </a:solidFill>
                <a:latin typeface="Calibri"/>
              </a:rPr>
              <a:t>6,058 Stayers Correctly Cleared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Operational Model Justification</a:t>
            </a:r>
          </a:p>
          <a:p>
            <a:r>
              <a:rPr sz="950">
                <a:solidFill>
                  <a:srgbClr val="1E293B"/>
                </a:solidFill>
              </a:rPr>
              <a:t>• Tuned Extreme Gradient Boosting (XGBoost) achieves the global highest F1-Score (0.3583) among all models at T = 0.20.
• Precision = 27.43%: 1 out of every 3.6 flagged employees is an actual flight hazard.
• Balanced Accuracy = 69.19%, Cohen's Kappa = 0.1798.
• Decision support provides plant managers with a 60–90 day intervention runway.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nal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6634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ERROR ANALYSIS &amp;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Final Model Diagnostics: Confusion Matrix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Confusion Matrix (9,999 Test Records at T = 0.20)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49377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Cohort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Pred: Retained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Pred: Leaver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Actual Stayers (0)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6,058 (TN)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2,275 (FP)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8,333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Actual Leavers (1)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806 (FN)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860 (TP)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1,666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Total Evaluated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6,864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3,135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9,999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9319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E293B"/>
                </a:solidFill>
              </a:rPr>
              <a:t>Operational Trade-Off Analysis:
• Caught Leavers (TP = 860): Over 51% of leavers identified before resigning.
• Managed False Alarms (FP = 2,275): Represent ~27% of stayers flagged for low-cost supervisory retention touchpoints.
• Missed Leavers (FN = 806): Reduced by over 50% compared to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na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MODEL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What Drives Predicted Risk? Tree Information Gain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Calibri"/>
              </a:defRPr>
            </a:pPr>
            <a:r>
              <a:t>Top 10 Feature Importance Contributions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E293B"/>
                </a:solidFill>
                <a:latin typeface="Calibri"/>
              </a:rPr>
              <a:t>1. EngagementScore (Gain: 882.96) — Primary psychological signal
2. MonthlyIncome (Gain: 880.37) — Baseline economic tier
3. MonthlyRate (Gain: 872.39) — Benefits &amp; auxiliary pay
4. DailyRate (Gain: 850.42) — Shift wage stratification
5. Education (Gain: 839.04) — Qualification milestone
6. HourlyRate (Gain: 787.18) — Granular operational rate
7. YearsAtCompany (Gain: 758.51) — Institutional tenure
8. DistanceFromHome (Gain: 724.05) — Commute fatigue
9. MonthlyOvertimeHours (Gain: 706.18) — Physical workload
10. Department (Gain: 537.30) — Shop-floor climate</a:t>
            </a:r>
          </a:p>
          <a:p>
            <a:pPr>
              <a:spcBef>
                <a:spcPts val="800"/>
              </a:spcBef>
            </a:pPr>
            <a:r>
              <a:rPr sz="900" i="1" b="1">
                <a:solidFill>
                  <a:srgbClr val="B45309"/>
                </a:solidFill>
              </a:rPr>
              <a:t>Important Distinction: Feature importance reflects predictive contributions in tree splits, NOT direct causal relationships.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nal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6634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SOFTWARE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Interactive Decision Support Dashboard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554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Calibri"/>
              </a:defRPr>
            </a:pPr>
            <a:r>
              <a:t>Decoupled Three-Tier Production Architecture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E293B"/>
                </a:solidFill>
              </a:rPr>
              <a:t>Streamlit UI (Frontend)  ➔  Python Controller (Fast NumPy Vectorization &amp; SQLite Querying)  ➔  R Prediction Bridge (predict_employee.R executing trained tuned_xgboost_model.rds)  ➔  Real-Time Flight Score.
Zero Model Retraining in Python: Guaranteed 100% mathematical fidelity to validated R machine learning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24688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Executive &amp; Benchmark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Tabs 1 &amp; 2
• Enterprise workforce KPIs
• 10 baseline model comparisons
• Accuracy paradox explanation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108960"/>
            <a:ext cx="24688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2004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Dynamic Calibration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Tabs 3 &amp; 7
• Real-time threshold slider
• Live confusion matrix update
• ROC &amp; PR diagnostic curves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24688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2004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Workforce Analytics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Tab 4
• Multi-plant segmentation
• Departmental churn filters
• Overtime &amp; tenure profiles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108960"/>
            <a:ext cx="246888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320040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Calibri"/>
              </a:defRPr>
            </a:pPr>
            <a:r>
              <a:t>Risk Scoring &amp; Action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Calibri"/>
              </a:rPr>
              <a:t>Tabs 5, 6 &amp; 8
• 16-variable risk calculator
• Tree-split feature gains
• Prescriptive HR action pillars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DECISION SUPPORT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Individual Risk Assessment &amp; Inference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Calibri"/>
              </a:defRPr>
            </a:pPr>
            <a:r>
              <a:t>Real-Time Scoring Pipeline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16 Input Attributes: </a:t>
            </a:r>
            <a:r>
              <a:rPr>
                <a:solidFill>
                  <a:srgbClr val="1E293B"/>
                </a:solidFill>
              </a:rPr>
              <a:t>Plant, Department, Role, Shift, Education, Commute Distance, Monthly Income, Overtime, and Survey Ratings.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Dynamic SatisfactionIndex: </a:t>
            </a:r>
            <a:r>
              <a:rPr>
                <a:solidFill>
                  <a:srgbClr val="1E293B"/>
                </a:solidFill>
              </a:rPr>
              <a:t>Automatically synthesizes Environment, Job Satisfaction, and Involvement into the composite metric.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Headless R Inference: </a:t>
            </a:r>
            <a:r>
              <a:rPr>
                <a:solidFill>
                  <a:srgbClr val="1E293B"/>
                </a:solidFill>
              </a:rPr>
              <a:t>Invokes predict_employee.R via subprocess; loads caret preprocessing objects and tuned_xgboost_model.rds in &lt;0.8s.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Threshold Comparison: </a:t>
            </a:r>
            <a:r>
              <a:rPr>
                <a:solidFill>
                  <a:srgbClr val="1E293B"/>
                </a:solidFill>
              </a:rPr>
              <a:t>Evaluates score against operational threshold (0.20); categorizes as HIGHER RISK (Intervention) or LOWER RISK (Retained).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1B365D"/>
                </a:solidFill>
              </a:rPr>
              <a:t>• Advisory Governance: </a:t>
            </a:r>
            <a:r>
              <a:rPr>
                <a:solidFill>
                  <a:srgbClr val="1E293B"/>
                </a:solidFill>
              </a:rPr>
              <a:t>Explicitly framed as decision support; automated employment decisions strictly prohibited.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365D"/>
                </a:solidFill>
                <a:latin typeface="Calibri"/>
              </a:defRPr>
            </a:pPr>
            <a:r>
              <a:t>Verified Demonstration Scenarios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991B1B"/>
                </a:solidFill>
              </a:rPr>
              <a:t>Scenario A: High Risk Flight Hazard
</a:t>
            </a:r>
            <a:r>
              <a:rPr sz="950">
                <a:solidFill>
                  <a:srgbClr val="1E293B"/>
                </a:solidFill>
              </a:rPr>
              <a:t>Operator in Assembly A • Overtime: 55 hrs • Commute: 45 km • Engagement: 45.0 • Satisfaction: 1.0
➔ Predicted Probability: 84.71% (HIGHER RISK)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166534"/>
                </a:solidFill>
              </a:rPr>
              <a:t>Scenario B: Low Risk Stable Veteran
</a:t>
            </a:r>
            <a:r>
              <a:rPr sz="950">
                <a:solidFill>
                  <a:srgbClr val="1E293B"/>
                </a:solidFill>
              </a:rPr>
              <a:t>Supervisor in Tool Room • Overtime: 5 hrs • Commute: 8 km • Engagement: 88.0 • Satisfaction: 4.0
➔ Predicted Probability: 1.49% (LOWER RISK)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B45309"/>
                </a:solidFill>
              </a:rPr>
              <a:t>Scenario C: Borderline Monitoring
</a:t>
            </a:r>
            <a:r>
              <a:rPr sz="950">
                <a:solidFill>
                  <a:srgbClr val="1E293B"/>
                </a:solidFill>
              </a:rPr>
              <a:t>Technician in Logistics • Overtime: 25 hrs • Commute: 22 km • Engagement: 64.0 • Satisfaction: 2.33
➔ Predicted Probability: 14.93% (MONITORING)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OPERATIONAL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Strategic HR Action Pillars &amp; Algorithmic Ethics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B365D"/>
                </a:solidFill>
                <a:latin typeface="Calibri"/>
              </a:defRPr>
            </a:pPr>
            <a:r>
              <a:t>Pillar 1: Overtime Capping Governance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</a:rPr>
              <a:t>Mandate hard monthly overtime ceilings (28 hrs) in Assembly A and Logistics. Reassign auxiliary workloads to relief operator pools.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4A777A"/>
                </a:solidFill>
                <a:latin typeface="Calibri"/>
              </a:defRPr>
            </a:pPr>
            <a:r>
              <a:t>Pillar 2: Industrial Transit Routing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</a:rPr>
              <a:t>Establish plant-chartered transit shuttles connecting suburban residential clusters to Bawal and Pune facilities, mitigating commute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12064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66534"/>
                </a:solidFill>
                <a:latin typeface="Calibri"/>
              </a:defRPr>
            </a:pPr>
            <a:r>
              <a:t>Pillar 3: Front-Line Supervisory Coaching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</a:rPr>
              <a:t>Introduce structured bi-weekly 1-on-1 check-ins for workers with engagement scores &lt;60.0 to address localized shop-floor friction.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08960"/>
            <a:ext cx="512064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246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Calibri"/>
              </a:defRPr>
            </a:pPr>
            <a:r>
              <a:t>Pillar 4: Predictive Cadence Integration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</a:rPr>
              <a:t>Embed dashboard risk scoring into bi-monthly plant HR operational reviews to intervene 60–90 days prior to formal resignation notices.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  <a:latin typeface="Calibri"/>
              </a:defRPr>
            </a:pPr>
            <a:r>
              <a:t>Responsible Governance &amp; Ethical Directives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1E293B"/>
                </a:solidFill>
              </a:rPr>
              <a:t>• Human-in-the-Loop Oversight: Algorithmic predictions are strictly advisory tools to trigger supportive career development.
• Explicit Negative Constraint: Under no circumstances may model probabilities justify automated termination, compensation reductions, or punitive shift assignments.
• Validation Boundary: Requires recalibration prior to deployment outside continuous automotive manufacturing environments.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777A"/>
                </a:solidFill>
                <a:latin typeface="Calibri"/>
              </a:defRPr>
            </a:pPr>
            <a:r>
              <a:t>CONCLUSION &amp;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65D"/>
                </a:solidFill>
                <a:latin typeface="Calibri"/>
              </a:defRPr>
            </a:pPr>
            <a:r>
              <a:t>Project Summary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Calibri"/>
              </a:defRPr>
            </a:pPr>
            <a:r>
              <a:t>Summary of Completed Deliverables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4A777A"/>
                </a:solidFill>
              </a:rPr>
              <a:t>✔ Enterprise Pipeline: </a:t>
            </a:r>
            <a:r>
              <a:rPr>
                <a:solidFill>
                  <a:srgbClr val="1E293B"/>
                </a:solidFill>
              </a:rPr>
              <a:t>Audited and cleaned 50,000 multi-plant manufacturing records with zero data leakage.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4A777A"/>
                </a:solidFill>
              </a:rPr>
              <a:t>✔ Behavioral Engineering: </a:t>
            </a:r>
            <a:r>
              <a:rPr>
                <a:solidFill>
                  <a:srgbClr val="1E293B"/>
                </a:solidFill>
              </a:rPr>
              <a:t>Formulated composite SatisfactionIndex and verified non-parametric statistical significance across primary drivers.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4A777A"/>
                </a:solidFill>
              </a:rPr>
              <a:t>✔ Imbalance Optimization: </a:t>
            </a:r>
            <a:r>
              <a:rPr>
                <a:solidFill>
                  <a:srgbClr val="1E293B"/>
                </a:solidFill>
              </a:rPr>
              <a:t>Demonstrated the Accuracy Paradox and calibrated decision boundary to T = 0.20, elevating Recall to 51.62%.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4A777A"/>
                </a:solidFill>
              </a:rPr>
              <a:t>✔ Champion Architecture: </a:t>
            </a:r>
            <a:r>
              <a:rPr>
                <a:solidFill>
                  <a:srgbClr val="1E293B"/>
                </a:solidFill>
              </a:rPr>
              <a:t>Tuned XGBoost delivered peak F1-Score (0.3583) and ROC-AUC of 0.6716 on 9,999 test records.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4A777A"/>
                </a:solidFill>
              </a:rPr>
              <a:t>✔ Production Tooling: </a:t>
            </a:r>
            <a:r>
              <a:rPr>
                <a:solidFill>
                  <a:srgbClr val="1E293B"/>
                </a:solidFill>
              </a:rPr>
              <a:t>Delivered an 8-module Streamlit dashboard with real-time R inference bridge and prescriptive HR action pillars.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Calibri"/>
              </a:defRPr>
            </a:pPr>
            <a:r>
              <a:t>Technical Roadmap &amp; Future Scope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0284C7"/>
                </a:solidFill>
              </a:rPr>
              <a:t>➔ Multi-Industry Validation: </a:t>
            </a:r>
            <a:r>
              <a:rPr>
                <a:solidFill>
                  <a:srgbClr val="1E293B"/>
                </a:solidFill>
              </a:rPr>
              <a:t>Validate pipeline on longitudinal datasets from logistics, engineering, and electronics sectors.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0284C7"/>
                </a:solidFill>
              </a:rPr>
              <a:t>➔ Probability Calibration: </a:t>
            </a:r>
            <a:r>
              <a:rPr>
                <a:solidFill>
                  <a:srgbClr val="1E293B"/>
                </a:solidFill>
              </a:rPr>
              <a:t>Implement Platt Scaling or Isotonic Regression for exact empirical probability alignment.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0284C7"/>
                </a:solidFill>
              </a:rPr>
              <a:t>➔ Explainable AI (XAI): </a:t>
            </a:r>
            <a:r>
              <a:rPr>
                <a:solidFill>
                  <a:srgbClr val="1E293B"/>
                </a:solidFill>
              </a:rPr>
              <a:t>Incorporate real-time SHAP force plots directly into the Streamlit employee scoring tab.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0284C7"/>
                </a:solidFill>
              </a:rPr>
              <a:t>➔ Algorithmic Fairness: </a:t>
            </a:r>
            <a:r>
              <a:rPr>
                <a:solidFill>
                  <a:srgbClr val="1E293B"/>
                </a:solidFill>
              </a:rPr>
              <a:t>Audit demographic parity and equalized odds across age, gender, and shift distributions.</a:t>
            </a:r>
          </a:p>
          <a:p>
            <a:pPr>
              <a:spcBef>
                <a:spcPts val="600"/>
              </a:spcBef>
            </a:pPr>
            <a:r>
              <a:rPr b="1">
                <a:solidFill>
                  <a:srgbClr val="0284C7"/>
                </a:solidFill>
              </a:rPr>
              <a:t>➔ HRIS Integration: </a:t>
            </a:r>
            <a:r>
              <a:rPr>
                <a:solidFill>
                  <a:srgbClr val="1E293B"/>
                </a:solidFill>
              </a:rPr>
              <a:t>Develop REST API endpoints for automated bi-directional synchronization with Workday and SAP SuccessFactors.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10698480" cy="822960"/>
          </a:xfrm>
          <a:prstGeom prst="roundRect">
            <a:avLst/>
          </a:prstGeom>
          <a:solidFill>
            <a:srgbClr val="1B365D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Thank You  |  Employee Attrition Prediction &amp; Workforce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