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Arial"/>
              </a:defRPr>
            </a:pPr>
            <a:r>
              <a:rPr sz="1300" b="0" i="0" u="none" strike="noStrike">
                <a:solidFill>
                  <a:srgbClr val="0B1F3A"/>
                </a:solidFill>
                <a:latin typeface="Arial"/>
              </a:rPr>
              <a:t>21 Features by Category</a:t>
            </a:r>
          </a:p>
        </c:rich>
      </c:tx>
      <c:layout/>
      <c:overlay val="0"/>
    </c:title>
    <c:autoTitleDeleted val="0"/>
    <c:plotArea>
      <c:layout/>
      <c:doughnutChart>
        <c:varyColors val="1"/>
        <c:ser>
          <c:idx val="0"/>
          <c:order val="0"/>
          <c:tx>
            <c:strRef>
              <c:f>Sheet1!$B$1</c:f>
              <c:strCache>
                <c:ptCount val="1"/>
                <c:pt idx="0">
                  <c:v>Feature Categories</c:v>
                </c:pt>
              </c:strCache>
            </c:strRef>
          </c:tx>
          <c:spPr>
            <a:solidFill>
              <a:schemeClr val="accent1"/>
            </a:solidFill>
            <a:ln w="9525" cap="flat">
              <a:solidFill>
                <a:srgbClr val="F9F9F9"/>
              </a:solidFill>
              <a:prstDash val="solid"/>
              <a:round/>
            </a:ln>
            <a:effectLst/>
          </c:spPr>
          <c:dPt>
            <c:idx val="0"/>
            <c:bubble3D val="0"/>
            <c:spPr>
              <a:solidFill>
                <a:srgbClr val="0E7490"/>
              </a:solidFill>
              <a:effectLst/>
            </c:spPr>
          </c:dPt>
          <c:dPt>
            <c:idx val="1"/>
            <c:bubble3D val="0"/>
            <c:spPr>
              <a:solidFill>
                <a:srgbClr val="22D3EE"/>
              </a:solidFill>
              <a:effectLst/>
            </c:spPr>
          </c:dPt>
          <c:dPt>
            <c:idx val="2"/>
            <c:bubble3D val="0"/>
            <c:spPr>
              <a:solidFill>
                <a:srgbClr val="4C6A93"/>
              </a:solidFill>
              <a:effectLst/>
            </c:spPr>
          </c:dPt>
          <c:dPt>
            <c:idx val="3"/>
            <c:bubble3D val="0"/>
            <c:spPr>
              <a:solidFill>
                <a:srgbClr val="6B7684"/>
              </a:solidFill>
              <a:effectLst/>
            </c:spPr>
          </c:dPt>
          <c:dPt>
            <c:idx val="4"/>
            <c:bubble3D val="0"/>
            <c:spPr>
              <a:solidFill>
                <a:srgbClr val="9FB4CE"/>
              </a:solidFill>
              <a:effectLst/>
            </c:spPr>
          </c:dPt>
          <c:dPt>
            <c:idx val="5"/>
            <c:bubble3D val="0"/>
            <c:spPr>
              <a:solidFill>
                <a:srgbClr val="0B1F3A"/>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Numerical (Discrete)</c:v>
                </c:pt>
                <c:pt idx="1">
                  <c:v>Nominal</c:v>
                </c:pt>
                <c:pt idx="2">
                  <c:v>Ordinal</c:v>
                </c:pt>
                <c:pt idx="3">
                  <c:v>Identifier</c:v>
                </c:pt>
                <c:pt idx="4">
                  <c:v>Numerical (Continuous)</c:v>
                </c:pt>
                <c:pt idx="5">
                  <c:v>Target</c:v>
                </c:pt>
              </c:strCache>
            </c:strRef>
          </c:cat>
          <c:val>
            <c:numRef>
              <c:f>Sheet1!$B$2:$B$7</c:f>
              <c:numCache>
                <c:ptCount val="6"/>
                <c:pt idx="0">
                  <c:v>8</c:v>
                </c:pt>
                <c:pt idx="1">
                  <c:v>5</c:v>
                </c:pt>
                <c:pt idx="2">
                  <c:v>5</c:v>
                </c:pt>
                <c:pt idx="3">
                  <c:v>1</c:v>
                </c:pt>
                <c:pt idx="4">
                  <c:v>1</c:v>
                </c:pt>
                <c:pt idx="5">
                  <c:v>1</c:v>
                </c:pt>
              </c:numCache>
            </c:numRef>
          </c:val>
        </c:ser>
        <c:firstSliceAng val="0"/>
        <c:holeSize val="55"/>
      </c:doughnutChart>
      <c:spPr>
        <a:noFill/>
        <a:ln>
          <a:noFill/>
        </a:ln>
        <a:effectLst/>
      </c:spPr>
    </c:plotArea>
    <c:legend>
      <c:legendPos val="b"/>
      <c:overlay val="0"/>
      <c:txPr>
        <a:bodyPr/>
        <a:lstStyle/>
        <a:p>
          <a:pPr>
            <a:defRPr sz="1000">
              <a:solidFill>
                <a:srgbClr val="0B1F3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Outliers (%)</c:v>
                </c:pt>
              </c:strCache>
            </c:strRef>
          </c:tx>
          <c:spPr>
            <a:solidFill>
              <a:srgbClr val="0E7490"/>
            </a:solidFill>
            <a:effectLst/>
          </c:spPr>
          <c:invertIfNegative val="0"/>
          <c:dLbls>
            <c:numFmt formatCode="0.00&quot;%&quot;"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cat>
            <c:multiLvlStrRef>
              <c:f>Sheet1!$A$2:$A$10</c:f>
              <c:multiLvlStrCache>
                <c:ptCount val="9"/>
                <c:lvl>
                  <c:pt idx="0">
                    <c:v>MonthlyRate</c:v>
                  </c:pt>
                  <c:pt idx="1">
                    <c:v>MonthlyIncome</c:v>
                  </c:pt>
                  <c:pt idx="2">
                    <c:v>HourlyRate</c:v>
                  </c:pt>
                  <c:pt idx="3">
                    <c:v>DailyRate</c:v>
                  </c:pt>
                  <c:pt idx="4">
                    <c:v>MonthlyOvertimeHours</c:v>
                  </c:pt>
                  <c:pt idx="5">
                    <c:v>DistanceFromHome</c:v>
                  </c:pt>
                  <c:pt idx="6">
                    <c:v>EngagementScore</c:v>
                  </c:pt>
                  <c:pt idx="7">
                    <c:v>SafetyIncidents_12M</c:v>
                  </c:pt>
                  <c:pt idx="8">
                    <c:v>YearsAtCompany</c:v>
                  </c:pt>
                </c:lvl>
              </c:multiLvlStrCache>
            </c:multiLvlStrRef>
          </c:cat>
          <c:val>
            <c:numRef>
              <c:f>Sheet1!$B$2:$B$10</c:f>
              <c:numCache>
                <c:formatCode>General</c:formatCode>
                <c:ptCount val="9"/>
                <c:pt idx="0">
                  <c:v>0</c:v>
                </c:pt>
                <c:pt idx="1">
                  <c:v>0</c:v>
                </c:pt>
                <c:pt idx="2">
                  <c:v>0</c:v>
                </c:pt>
                <c:pt idx="3">
                  <c:v>0</c:v>
                </c:pt>
                <c:pt idx="4">
                  <c:v>0.24</c:v>
                </c:pt>
                <c:pt idx="5">
                  <c:v>0.28</c:v>
                </c:pt>
                <c:pt idx="6">
                  <c:v>0.4</c:v>
                </c:pt>
                <c:pt idx="7">
                  <c:v>0.79</c:v>
                </c:pt>
                <c:pt idx="8">
                  <c:v>2.96</c:v>
                </c:pt>
              </c:numCache>
            </c:numRef>
          </c:val>
        </c:ser>
        <c:dLbls>
          <c:numFmt formatCode="0.00&quot;%&quot;"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0B1F3A"/>
                </a:solidFill>
                <a:latin typeface="Arial"/>
              </a:defRPr>
            </a:pPr>
            <a:endParaRPr lang="en-US"/>
          </a:p>
        </c:txPr>
        <c:crossAx val="2094734552"/>
        <c:crosses val="autoZero"/>
        <c:auto val="1"/>
        <c:lblAlgn val="ctr"/>
        <c:noMultiLvlLbl val="1"/>
      </c:catAx>
      <c:valAx>
        <c:axId val="2094734552"/>
        <c:scaling>
          <c:orientation val="minMax"/>
          <c:max val="3.4"/>
          <c:min val="0"/>
        </c:scaling>
        <c:delete val="0"/>
        <c:axPos val="b"/>
        <c:majorGridlines>
          <c:spPr>
            <a:ln w="9525" cap="flat">
              <a:solidFill>
                <a:srgbClr val="E2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Attrition Prediction Using Machine Learning. This is Digital Assignment 1 (DA1) for the Programming for Data Science course at VIT Chennai, School of Computer Science and Engineering (SCOPE). Prepared by Vansh Goyal (24BDS1156), Ritabrata Dey (24BDS1129), and Chetan Pareek (24BDS1125). This phase of the project covers dataset identification and justification, dataset understanding, data preprocessing, and exploratory data analysis using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for this presentation, following the structure of the DA1 report: Introduction, Problem Statement, and Objectives set up the motivation. Dataset Overview, Justification, Literature Review, and Research Gap establish why this dataset and approach were chosen. Dataset Understanding through Scaling cover the full preprocessing pipeline performed in R. Exploratory Data Analysis, Key Visualizations, and Major Findings present the results. We close with Conclusion, Future Scope,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attrition is one of the most closely monitored metrics in modern HR management, particularly in large manufacturing and industrial organizations where workforce stability directly affects production continuity, training investment, and operational cost. Unlike small enterprises, multi-plant organizations face added complexity because attrition patterns vary across departments, shifts, job roles, and locations, making manual identification of at-risk employees increasingly impractical as workforce size grows. With the increasing availability of structured HR data covering compensation, satisfaction, engagement, and safety records, machine learning offers a scalable way to move from reactive HR intervention to proactive workforce planning. This project follows a structured data science workflow: understanding the dataset, cleaning and preparing it, and conducting exploratory analysis to surface statistically observable patterns. This report corresponds to the first phase of that workflow: data preparation and exploratory analysis. The 16.56% attrition rate shown here is the actual class distribution in our 50,000-record dataset (8,282 of 50,000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operating across multiple plants and departments generate large volumes of employee data but often lack systematic tools to translate this data into actionable retention insights. Attrition is typically discovered only after an employee resigns, by which point the opportunity for intervention has already passed. There is a need for a structured, data-driven method to identify the factors most strongly associated with employee attrition using historical HR records, so organizations can move from reactive exit interviews to proactive, evidence-based retention strategies. This phase of the project addresses the foundational step: acquiring, understanding, cleaning, and exploring a suitable employee dataset to establish a reliable basis for later predictive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guide this phase of the project: (1) identify and justify the use of an anonymized, multi-plant HR dataset suitable for studying employee attrition; (2) perform a detailed understanding of the dataset structure, including features, data types, and scale; (3) preprocess the dataset by handling missing values, duplicate records, outliers, categorical encoding, and feature transformation; (4) generate informative visualizations in R to understand employee characteristics and attrition patterns; (5) summarize insights from exploratory data analysis and identify preliminary attributes associated with attrition; (6) establish a clean, well-understood dataset as the foundation for the next phase of analysis (predictive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an anonymized Human Resource dataset collected from multiple manufacturing plants of a large industrial organization, obtained during an industry internship and anonymized for academic use. It contains 50,000 employee-level records across 21 features spanning demographic attributes, compensation details, job-related conditions, engagement metrics, and attrition outcomes. The target variable is AttritionFlag (Yes/No), with one row per employee. The dataset spans multiple manufacturing plants (plant identifiers anonymized as Plant_A through Plant_F), departments, and shifts. Class distribution: No (retained) = 41,718 employees (83.44%), Yes (left) = 8,282 employees (16.56%).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reasons justify this dataset choice. (1) Scale and statistical diversity: 50,000 records provide greater statistical diversity than the widely used IBM HR Analytics dataset (~1,470 records) adopted in numerous prior studies. (2) Multi-plant, multi-department diversity: spans multiple manufacturing plants and departments (Logistics, Assembly, Quality Control, etc.), unlike single-site datasets. (3) Breadth of feature types: combines demographic, compensation, workplace-condition, and psychometric/engagement variables. (4) Practical relevance: reflects realistic HR scenarios from an actual industrial HR system. (5) Suitability for the full pipeline: mix of numerical, categorical, and ordinal variables supports preprocessing, feature engineering, EDA, and future predictive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studies were reviewed: Raza et al. (2022, Applied Sciences) achieved 93% accuracy with an optimized Extra Trees Classifier on the IBM-style dataset. Guerranti and Dimitri (2023, Applied Sciences) found Logistic Regression performed best at 88% accuracy, 85% AUC-ROC, prioritizing interpretability. Li (2023, PeerJ Computer Science) used a Transformer-based deep learning framework that outperformed baselines but sacrificed interpretability. Al Akasheh et al. (2024, IEEE Access) combined Knowledge Graphs with XAI and a linear SVM, achieving 92.5% accuracy. Nawaz et al. (2024, Computers in Industry) proposed a sequential pattern mining methodology (E(3A)CSPM) that outperformed state-of-the-art approaches across four public datasets. All five, despite different methods, relied on the same small ~1,470-record single-site benchmark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five reviewed studies, a consistent pattern emerges: the overwhelming majority of employee attrition research relies on the same small, single-site, publicly available benchmark dataset of approximately 1,470 records, regardless of whether it uses classical ML, deep learning, knowledge graphs, or pattern mining. Engagement-specific and safety-related workplace variables are rarely available in these public datasets and are therefore underexplored as attrition predictors. Furthermore, many existing studies focus primarily on predictive performance, while comparatively fewer emphasize comprehensive exploratory data analysis and data preparation using large-scale industrial HR datasets. This project aims to bridge that gap by performing systematic preprocessing and exploratory analysis before predictive modelling, on a considerably larger 50,000-record multi-plant industrial HR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50,000 rows and 21 columns with zero missing values and zero duplicate records — verified in R using colSums(is.na(df)) and duplicated(df)/duplicated(df$EmployeeNumber). The 21 features break down as: 8 numerical discrete columns (DistanceFromHome, DailyRate, HourlyRate, MonthlyIncome, MonthlyRate, MonthlyOvertimeHours, SafetyIncidents_12M, EngagementScore), 5 nominal categorical columns (Plant, Department, JobRole, Shift, EducationField), 5 ordinal columns (Education, EnvironmentSatisfaction, JobSatisfaction, JobInvolvement, EducationLevel), 1 identifier (EmployeeNumber), 1 continuous numerical (YearsAtCompany), and 1 target variable (AttritionFlag). The target variable exhibits moderate class imbalance: 41,718 retained (83.44%) vs 8,282 left (16.56%).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preprocessing pipeline followed seven sequential, verified steps, all executed in R: (1) Missing value verification using colSums(is.na(df)) — zero found across all 21 columns. (2) Duplicate record verification using duplicated(df) and duplicated(df$EmployeeNumber) — zero found. (3) Redundancy check between Education and EducationLevel using a cross-tabulation table() — confirmed a perfect one-to-one mapping. (4) Feature removal — EmployeeNumber (identifier, no explanatory value) and EducationLevel (redundant) were dropped, reducing columns from 21 to 19. (5) Outlier detection using the IQR method on 9 numeric columns — outliers were flagged but retained as legitimate values, not data errors. (6) Encoding — one-hot encoding for 5 nominal columns via model.matrix(), and binary encoding of the target (Yes=1, No=0). (7) Scaling — Z-score standardization via scale() on 8 continuous/discrete numeric columns, verified to produce mean=0.00 and SD=1.00.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21 columns were checked for missing values using colSums(is.na(df)) in R. Every column returned a count of 0 — total missing cells across the entire 50,000 × 21 dataset: 0. No imputation was performed, because no missing values exist in the source data, so imputation would be unnecessary and could introduce artificial values into an already-complete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 records were checked using duplicated(df) for full-row duplicates and duplicated(df$EmployeeNumber) for identifier-level duplicates. Both returned 0 — no rows were removed. Each of the 50,000 records represents a distinct employee with no repeated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were removed during feature engineering. EmployeeNumber was confirmed as a unique sequential integer identifier with no relationship to attrition behavior, so it was dropped. EducationLevel was cross-tabulated against the numeric Education column using table(), confirming a strict one-to-one mapping — for example, every record with Education=1 has EducationLevel="Below 10th / No Formal Education". Since both columns encode identical information in different formats, EducationLevel was dropped to avoid redundant, perfectly collinear features. Column count was reduced from 21 to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Outlier bounds were computed for each continuous/discrete numeric predictor as [Q1 − 1.5×IQR, Q3 + 1.5×IQR] using quantile() in R. Results: DistanceFromHome 140 outliers (0.28%), DailyRate/HourlyRate/MonthlyIncome/MonthlyRate all 0 outliers (0.00%), YearsAtCompany 1,478 outliers (2.96%, the highest), MonthlyOvertimeHours 120 (0.24%), SafetyIncidents_12M 396 (0.79%), EngagementScore 198 (0.40%). No records were removed — outlier values were flagged and retained. Compensation-related columns show zero flagged outliers, indicating a naturally bounded, well-controlled pay structure. Where outliers were flagged, they correspond to plausible legitimate cases (e.g. long-tenured employees) rather than data errors, so removing them would discard genuine variation relevant to studying attrition.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encoding operations were performed in R. First, the five nominal categorical columns — Plant (anonymized), Department, JobRole, Shift, and EducationField — were one-hot encoded using model.matrix(), producing a 50,000 × 23 encoded matrix. This avoids imposing a false ordinal relationship on unordered categories. Second, the binary target AttritionFlag was encoded using ifelse(): "Yes" becomes 1 and "No" becomes 0, stored as AttritionFlag_bin, verified by cross-tabulation. This binary encoding is required for the target to be used quantitatively in later statistical and predictive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Substantial scale differences existed across numeric predictors — for example, MonthlyIncome ranges from 18,000 to 44,999 while YearsAtCompany ranges from 0 to 28. Z-score standardization was applied via R's scale() function to 8 columns: DistanceFromHome, DailyRate, HourlyRate, MonthlyIncome, MonthlyRate, YearsAtCompany, MonthlyOvertimeHours, and EngagementScore. Post-scaling verification confirmed every column now has mean = 0.00 and SD = 1.00, shown in the After columns here. Ordinal Likert-scale columns and the SafetyIncidents_12M count variable were deliberately left unscaled, since their small, bounded, discrete ranges are already comparable and interpretable in original form. Standardization places variables with very different natural scales onto a common scale without distorting the underlying distribution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visualizations in this section were generated in R using ggplot2 and corrplot, based on the cleaned dataset produced during preprocessing (df_clean), with EmployeeNumber and EducationLevel already removed and plant identifiers anonymized. Eight visualizations were generated in total: the overall attrition distribution, attrition rate by department, monthly income by attrition status, monthly overtime hours by attrition status, engagement score distribution by attrition status, distance from home by attrition status, a correlation heatmap among numeric predictors, and a correlation-with-target bar chart. The next two slides present the most important of these visualizations and the findings they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eight EDA visualizations, reproduced directly from the R analysis. Figure 1 shows the target class distribution: 41,718 retained (83.44%) vs 8,282 left (16.56%). Figure 2 sorts departments by attrition rate — Quality Control has the highest rate at 17.1%, followed by Assembly B (16.8%), with the total spread across all seven departments under one percentage point, meaning department membership alone carries little discriminating power. Figure 3 shows monthly income by attrition status — the two boxplots are nearly identical, indicating income shows almost no relationship with attrition (correlation of only 0.002), which is notable since compensation is often assumed to be a primary driver. Figure 4 shows monthly overtime hours by attrition status — employees who left have a substantially higher median overtime (38 hours/month) than those who stayed (24 hours/month), with MonthlyOvertimeHours showing the strongest positive correlation with attrition (+0.321) of any numeric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four EDA visualizations. Figure 5 shows engagement score distribution by attrition status — the most visually distinct pattern in the entire analysis: employees who left are heavily concentrated around an engagement score of roughly 50, while retained employees show a broader distribution peaking near 65–70, with the two densities barely overlapping. EngagementScore has the strongest correlation with attrition overall (−0.395). Figure 6 shows distance from home by attrition status — a modest but visible upward shift for employees who left (median ~35 km vs ~31 km for those retained), consistent with its smaller correlation (0.088). Figure 7 is the predictor-to-predictor correlation heatmap, deliberately excluding the diagonal and focusing only on relationships among the numeric predictors themselves — every off-diagonal value rounds to between −0.01 and 0.01, confirming the numeric predictors carry independent, non-redundant information with no meaningful multicollinearity. This is included specifically to validate that finding, not to reveal a strong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quantifies and consolidates the patterns observed across the EDA. EngagementScore shows the strongest relationship with attrition overall at −0.395, followed by MonthlyOvertimeHours at +0.321, and EnvironmentSatisfaction at −0.176, with DistanceFromHome a distant fourth at +0.088. All compensation-related variables (DailyRate, HourlyRate, MonthlyIncome, MonthlyRate) and organizational tenure (YearsAtCompany) cluster near zero correlation, confirming that pay and length of service are not meaningfully associated with attrition in this dataset — a finding that runs counter to common assumptions about why employees leave. Department-wise attrition rates were also found to be fairly uniform (16.4%–17.1%), with Quality Control only marginally elevated. The near-zero correlations among the numeric predictors themselves (seen in the separate correlation heatmap) confirm these variables provide largely independent, non-redundant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has documented the first phase of the project on employee attrition prediction, covering problem formulation, dataset identification, literature review, dataset understanding, preprocessing, and exploratory data analysis. An anonymized, multi-plant HR dataset comprising 50,000 employee records and 21 attributes was identified and justified as a suitable basis for studying attrition, offering greater scale and organizational diversity than the small, single-site benchmark datasets used in the majority of prior published studies. The dataset was found to be complete and well-structured, with no missing values and no duplicate records. Preprocessing verified and addressed a redundancy between Education and EducationLevel, removed the non-predictive EmployeeNumber identifier, applied IQR-based outlier detection, encoded categorical variables, and standardized numerical variables with differing scales. The EDA revealed that attrition is most strongly associated with EngagementScore and MonthlyOvertimeHours, with EnvironmentSatisfaction and DistanceFromHome contributing secondary associations, while compensation-related variables and tenure showed almost no relationship with attrition. These findings directly address the six objectives set out earlier and confirm the research gap identified in the literature review — that comprehensive preprocessing and exploratory analysis on a large-scale industrial HR dataset can surface engagement- and workload-related drivers of attrition that are underrepresented in existing literature. Limitations: this phase is exploratory and associative, not causal, and no predictive model has yet been built or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cleaned and prepared dataset, along with the patterns identified in this report — particularly the strong associations involving EngagementScore and MonthlyOvertimeHours — provide a well-grounded foundation for the predictive modelling phase to follow, in which classification techniques can be developed, trained, and evaluated to translate these exploratory findings into a working attrition prediction system. This next phase (DA2) will build on the cleaned, encoded, and scaled dataset established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peer-reviewed references were used in the literature review, all published between 2022 and 2024 in reputable venues: IEEE Access, Applied Sciences (MDPI), PeerJ Computer Science, and Computers in Industry (Elsevier). Full APA 7th edition citations are shown on this slide, matching the references list in Section 7.4 of the written DA1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welcome any questions about the dataset, preprocessing methodology, or exploratory findings presented today. This concludes the DA1 presentation on Employee Attrition Prediction Using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112A4E"/>
          </a:solidFill>
          <a:ln/>
        </p:spPr>
      </p:sp>
      <p:sp>
        <p:nvSpPr>
          <p:cNvPr id="3" name="Shape 1"/>
          <p:cNvSpPr/>
          <p:nvPr/>
        </p:nvSpPr>
        <p:spPr>
          <a:xfrm>
            <a:off x="-1280160" y="5120640"/>
            <a:ext cx="3108960" cy="3108960"/>
          </a:xfrm>
          <a:prstGeom prst="ellipse">
            <a:avLst/>
          </a:prstGeom>
          <a:solidFill>
            <a:srgbClr val="112A4E"/>
          </a:solidFill>
          <a:ln/>
        </p:spPr>
      </p:sp>
      <p:sp>
        <p:nvSpPr>
          <p:cNvPr id="4" name="Shape 2"/>
          <p:cNvSpPr/>
          <p:nvPr/>
        </p:nvSpPr>
        <p:spPr>
          <a:xfrm>
            <a:off x="5614416" y="937260"/>
            <a:ext cx="960120" cy="960120"/>
          </a:xfrm>
          <a:prstGeom prst="ellipse">
            <a:avLst/>
          </a:prstGeom>
          <a:solidFill>
            <a:srgbClr val="22D3EE"/>
          </a:solidFill>
          <a:ln/>
        </p:spPr>
      </p:sp>
      <p:pic>
        <p:nvPicPr>
          <p:cNvPr id="5" name="Image 0" descr="/home/claude/pptx_build/icons/cover.png">    </p:cNvPr>
          <p:cNvPicPr>
            <a:picLocks noChangeAspect="1"/>
          </p:cNvPicPr>
          <p:nvPr/>
        </p:nvPicPr>
        <p:blipFill>
          <a:blip r:embed="rId1"/>
          <a:stretch>
            <a:fillRect/>
          </a:stretch>
        </p:blipFill>
        <p:spPr>
          <a:xfrm>
            <a:off x="5854446" y="1177290"/>
            <a:ext cx="480060" cy="480060"/>
          </a:xfrm>
          <a:prstGeom prst="rect">
            <a:avLst/>
          </a:prstGeom>
        </p:spPr>
      </p:pic>
      <p:sp>
        <p:nvSpPr>
          <p:cNvPr id="6" name="Text 3"/>
          <p:cNvSpPr/>
          <p:nvPr/>
        </p:nvSpPr>
        <p:spPr>
          <a:xfrm>
            <a:off x="914400" y="2331720"/>
            <a:ext cx="10360152" cy="365760"/>
          </a:xfrm>
          <a:prstGeom prst="rect">
            <a:avLst/>
          </a:prstGeom>
          <a:noFill/>
          <a:ln/>
        </p:spPr>
        <p:txBody>
          <a:bodyPr wrap="square" lIns="0" tIns="0" rIns="0" bIns="0" rtlCol="0" anchor="ctr"/>
          <a:lstStyle/>
          <a:p>
            <a:pPr algn="ctr" indent="0" marL="0">
              <a:buNone/>
            </a:pPr>
            <a:r>
              <a:rPr lang="en-US" sz="1300" b="1" spc="200" kern="0" dirty="0">
                <a:solidFill>
                  <a:srgbClr val="22D3EE"/>
                </a:solidFill>
                <a:latin typeface="Calibri" pitchFamily="34" charset="0"/>
                <a:ea typeface="Calibri" pitchFamily="34" charset="-122"/>
                <a:cs typeface="Calibri" pitchFamily="34" charset="-120"/>
              </a:rPr>
              <a:t>DIGITAL ASSIGNMENT 1  ·  PROGRAMMING FOR DATA SCIENCE</a:t>
            </a:r>
            <a:endParaRPr lang="en-US" sz="1300" dirty="0"/>
          </a:p>
        </p:txBody>
      </p:sp>
      <p:sp>
        <p:nvSpPr>
          <p:cNvPr id="7" name="Text 4"/>
          <p:cNvSpPr/>
          <p:nvPr/>
        </p:nvSpPr>
        <p:spPr>
          <a:xfrm>
            <a:off x="914400" y="2743200"/>
            <a:ext cx="10360152" cy="1554480"/>
          </a:xfrm>
          <a:prstGeom prst="rect">
            <a:avLst/>
          </a:prstGeom>
          <a:noFill/>
          <a:ln/>
        </p:spPr>
        <p:txBody>
          <a:bodyPr wrap="square" lIns="0" tIns="0" rIns="0" bIns="0" rtlCol="0" anchor="ctr"/>
          <a:lstStyle/>
          <a:p>
            <a:pPr algn="ctr" indent="0" marL="0">
              <a:lnSpc>
                <a:spcPct val="108000"/>
              </a:lnSpc>
              <a:buNone/>
            </a:pPr>
            <a:r>
              <a:rPr lang="en-US" sz="4000" b="1" dirty="0">
                <a:solidFill>
                  <a:srgbClr val="FFFFFF"/>
                </a:solidFill>
                <a:latin typeface="Cambria" pitchFamily="34" charset="0"/>
                <a:ea typeface="Cambria" pitchFamily="34" charset="-122"/>
                <a:cs typeface="Cambria" pitchFamily="34" charset="-120"/>
              </a:rPr>
              <a:t>Employee Attrition Prediction</a:t>
            </a:r>
            <a:endParaRPr lang="en-US" sz="4000" dirty="0"/>
          </a:p>
          <a:p>
            <a:pPr algn="ctr" indent="0" marL="0">
              <a:lnSpc>
                <a:spcPct val="108000"/>
              </a:lnSpc>
              <a:buNone/>
            </a:pPr>
            <a:r>
              <a:rPr lang="en-US" sz="4000" b="1" dirty="0">
                <a:solidFill>
                  <a:srgbClr val="FFFFFF"/>
                </a:solidFill>
                <a:latin typeface="Cambria" pitchFamily="34" charset="0"/>
                <a:ea typeface="Cambria" pitchFamily="34" charset="-122"/>
                <a:cs typeface="Cambria" pitchFamily="34" charset="-120"/>
              </a:rPr>
              <a:t>Using Machine Learning</a:t>
            </a:r>
            <a:endParaRPr lang="en-US" sz="4000" dirty="0"/>
          </a:p>
        </p:txBody>
      </p:sp>
      <p:sp>
        <p:nvSpPr>
          <p:cNvPr id="8" name="Text 5"/>
          <p:cNvSpPr/>
          <p:nvPr/>
        </p:nvSpPr>
        <p:spPr>
          <a:xfrm>
            <a:off x="1828800" y="4224528"/>
            <a:ext cx="8531352" cy="457200"/>
          </a:xfrm>
          <a:prstGeom prst="rect">
            <a:avLst/>
          </a:prstGeom>
          <a:noFill/>
          <a:ln/>
        </p:spPr>
        <p:txBody>
          <a:bodyPr wrap="square" lIns="0" tIns="0" rIns="0" bIns="0" rtlCol="0" anchor="ctr"/>
          <a:lstStyle/>
          <a:p>
            <a:pPr algn="ctr" indent="0" marL="0">
              <a:buNone/>
            </a:pPr>
            <a:r>
              <a:rPr lang="en-US" sz="1400" i="1" dirty="0">
                <a:solidFill>
                  <a:srgbClr val="B9C6D9"/>
                </a:solidFill>
                <a:latin typeface="Calibri" pitchFamily="34" charset="0"/>
                <a:ea typeface="Calibri" pitchFamily="34" charset="-122"/>
                <a:cs typeface="Calibri" pitchFamily="34" charset="-120"/>
              </a:rPr>
              <a:t>An Exploratory Data Analysis and Data Preparation Study on a Multi-Plant Industrial HR Dataset</a:t>
            </a:r>
            <a:endParaRPr lang="en-US" sz="1400" dirty="0"/>
          </a:p>
        </p:txBody>
      </p:sp>
      <p:sp>
        <p:nvSpPr>
          <p:cNvPr id="9" name="Shape 6"/>
          <p:cNvSpPr/>
          <p:nvPr/>
        </p:nvSpPr>
        <p:spPr>
          <a:xfrm>
            <a:off x="996696" y="4892040"/>
            <a:ext cx="3246120" cy="658368"/>
          </a:xfrm>
          <a:prstGeom prst="roundRect">
            <a:avLst>
              <a:gd name="adj" fmla="val 13889"/>
            </a:avLst>
          </a:prstGeom>
          <a:solidFill>
            <a:srgbClr val="112A4E"/>
          </a:solidFill>
          <a:ln w="12700">
            <a:solidFill>
              <a:srgbClr val="244268"/>
            </a:solidFill>
            <a:prstDash val="solid"/>
          </a:ln>
        </p:spPr>
      </p:sp>
      <p:sp>
        <p:nvSpPr>
          <p:cNvPr id="10" name="Text 7"/>
          <p:cNvSpPr/>
          <p:nvPr/>
        </p:nvSpPr>
        <p:spPr>
          <a:xfrm>
            <a:off x="996696" y="4937760"/>
            <a:ext cx="32461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Vansh Goyal</a:t>
            </a:r>
            <a:endParaRPr lang="en-US" sz="1250" dirty="0"/>
          </a:p>
        </p:txBody>
      </p:sp>
      <p:sp>
        <p:nvSpPr>
          <p:cNvPr id="11" name="Text 8"/>
          <p:cNvSpPr/>
          <p:nvPr/>
        </p:nvSpPr>
        <p:spPr>
          <a:xfrm>
            <a:off x="996696" y="5230368"/>
            <a:ext cx="3246120" cy="274320"/>
          </a:xfrm>
          <a:prstGeom prst="rect">
            <a:avLst/>
          </a:prstGeom>
          <a:noFill/>
          <a:ln/>
        </p:spPr>
        <p:txBody>
          <a:bodyPr wrap="square" lIns="0" tIns="0" rIns="0" bIns="0" rtlCol="0" anchor="ctr"/>
          <a:lstStyle/>
          <a:p>
            <a:pPr algn="ctr" indent="0" marL="0">
              <a:buNone/>
            </a:pPr>
            <a:r>
              <a:rPr lang="en-US" sz="1000" dirty="0">
                <a:solidFill>
                  <a:srgbClr val="92A6C2"/>
                </a:solidFill>
                <a:latin typeface="Calibri" pitchFamily="34" charset="0"/>
                <a:ea typeface="Calibri" pitchFamily="34" charset="-122"/>
                <a:cs typeface="Calibri" pitchFamily="34" charset="-120"/>
              </a:rPr>
              <a:t>24BDS1156</a:t>
            </a:r>
            <a:endParaRPr lang="en-US" sz="1000" dirty="0"/>
          </a:p>
        </p:txBody>
      </p:sp>
      <p:sp>
        <p:nvSpPr>
          <p:cNvPr id="12" name="Shape 9"/>
          <p:cNvSpPr/>
          <p:nvPr/>
        </p:nvSpPr>
        <p:spPr>
          <a:xfrm>
            <a:off x="4471416" y="4892040"/>
            <a:ext cx="3246120" cy="658368"/>
          </a:xfrm>
          <a:prstGeom prst="roundRect">
            <a:avLst>
              <a:gd name="adj" fmla="val 13889"/>
            </a:avLst>
          </a:prstGeom>
          <a:solidFill>
            <a:srgbClr val="112A4E"/>
          </a:solidFill>
          <a:ln w="12700">
            <a:solidFill>
              <a:srgbClr val="244268"/>
            </a:solidFill>
            <a:prstDash val="solid"/>
          </a:ln>
        </p:spPr>
      </p:sp>
      <p:sp>
        <p:nvSpPr>
          <p:cNvPr id="13" name="Text 10"/>
          <p:cNvSpPr/>
          <p:nvPr/>
        </p:nvSpPr>
        <p:spPr>
          <a:xfrm>
            <a:off x="4471416" y="4937760"/>
            <a:ext cx="32461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Ritabrata Dey</a:t>
            </a:r>
            <a:endParaRPr lang="en-US" sz="1250" dirty="0"/>
          </a:p>
        </p:txBody>
      </p:sp>
      <p:sp>
        <p:nvSpPr>
          <p:cNvPr id="14" name="Text 11"/>
          <p:cNvSpPr/>
          <p:nvPr/>
        </p:nvSpPr>
        <p:spPr>
          <a:xfrm>
            <a:off x="4471416" y="5230368"/>
            <a:ext cx="3246120" cy="274320"/>
          </a:xfrm>
          <a:prstGeom prst="rect">
            <a:avLst/>
          </a:prstGeom>
          <a:noFill/>
          <a:ln/>
        </p:spPr>
        <p:txBody>
          <a:bodyPr wrap="square" lIns="0" tIns="0" rIns="0" bIns="0" rtlCol="0" anchor="ctr"/>
          <a:lstStyle/>
          <a:p>
            <a:pPr algn="ctr" indent="0" marL="0">
              <a:buNone/>
            </a:pPr>
            <a:r>
              <a:rPr lang="en-US" sz="1000" dirty="0">
                <a:solidFill>
                  <a:srgbClr val="92A6C2"/>
                </a:solidFill>
                <a:latin typeface="Calibri" pitchFamily="34" charset="0"/>
                <a:ea typeface="Calibri" pitchFamily="34" charset="-122"/>
                <a:cs typeface="Calibri" pitchFamily="34" charset="-120"/>
              </a:rPr>
              <a:t>24BDS1129</a:t>
            </a:r>
            <a:endParaRPr lang="en-US" sz="1000" dirty="0"/>
          </a:p>
        </p:txBody>
      </p:sp>
      <p:sp>
        <p:nvSpPr>
          <p:cNvPr id="15" name="Shape 12"/>
          <p:cNvSpPr/>
          <p:nvPr/>
        </p:nvSpPr>
        <p:spPr>
          <a:xfrm>
            <a:off x="7946136" y="4892040"/>
            <a:ext cx="3246120" cy="658368"/>
          </a:xfrm>
          <a:prstGeom prst="roundRect">
            <a:avLst>
              <a:gd name="adj" fmla="val 13889"/>
            </a:avLst>
          </a:prstGeom>
          <a:solidFill>
            <a:srgbClr val="112A4E"/>
          </a:solidFill>
          <a:ln w="12700">
            <a:solidFill>
              <a:srgbClr val="244268"/>
            </a:solidFill>
            <a:prstDash val="solid"/>
          </a:ln>
        </p:spPr>
      </p:sp>
      <p:sp>
        <p:nvSpPr>
          <p:cNvPr id="16" name="Text 13"/>
          <p:cNvSpPr/>
          <p:nvPr/>
        </p:nvSpPr>
        <p:spPr>
          <a:xfrm>
            <a:off x="7946136" y="4937760"/>
            <a:ext cx="32461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Chetan Pareek</a:t>
            </a:r>
            <a:endParaRPr lang="en-US" sz="1250" dirty="0"/>
          </a:p>
        </p:txBody>
      </p:sp>
      <p:sp>
        <p:nvSpPr>
          <p:cNvPr id="17" name="Text 14"/>
          <p:cNvSpPr/>
          <p:nvPr/>
        </p:nvSpPr>
        <p:spPr>
          <a:xfrm>
            <a:off x="7946136" y="5230368"/>
            <a:ext cx="3246120" cy="274320"/>
          </a:xfrm>
          <a:prstGeom prst="rect">
            <a:avLst/>
          </a:prstGeom>
          <a:noFill/>
          <a:ln/>
        </p:spPr>
        <p:txBody>
          <a:bodyPr wrap="square" lIns="0" tIns="0" rIns="0" bIns="0" rtlCol="0" anchor="ctr"/>
          <a:lstStyle/>
          <a:p>
            <a:pPr algn="ctr" indent="0" marL="0">
              <a:buNone/>
            </a:pPr>
            <a:r>
              <a:rPr lang="en-US" sz="1000" dirty="0">
                <a:solidFill>
                  <a:srgbClr val="92A6C2"/>
                </a:solidFill>
                <a:latin typeface="Calibri" pitchFamily="34" charset="0"/>
                <a:ea typeface="Calibri" pitchFamily="34" charset="-122"/>
                <a:cs typeface="Calibri" pitchFamily="34" charset="-120"/>
              </a:rPr>
              <a:t>24BDS1125</a:t>
            </a:r>
            <a:endParaRPr lang="en-US" sz="1000" dirty="0"/>
          </a:p>
        </p:txBody>
      </p:sp>
      <p:sp>
        <p:nvSpPr>
          <p:cNvPr id="18" name="Text 15"/>
          <p:cNvSpPr/>
          <p:nvPr/>
        </p:nvSpPr>
        <p:spPr>
          <a:xfrm>
            <a:off x="914400" y="6080760"/>
            <a:ext cx="10360152" cy="365760"/>
          </a:xfrm>
          <a:prstGeom prst="rect">
            <a:avLst/>
          </a:prstGeom>
          <a:noFill/>
          <a:ln/>
        </p:spPr>
        <p:txBody>
          <a:bodyPr wrap="square" lIns="0" tIns="0" rIns="0" bIns="0" rtlCol="0" anchor="ctr"/>
          <a:lstStyle/>
          <a:p>
            <a:pPr algn="ctr" indent="0" marL="0">
              <a:buNone/>
            </a:pPr>
            <a:r>
              <a:rPr lang="en-US" sz="1150" dirty="0">
                <a:solidFill>
                  <a:srgbClr val="90A2BC"/>
                </a:solidFill>
                <a:latin typeface="Calibri" pitchFamily="34" charset="0"/>
                <a:ea typeface="Calibri" pitchFamily="34" charset="-122"/>
                <a:cs typeface="Calibri" pitchFamily="34" charset="-120"/>
              </a:rPr>
              <a:t>School of Computer Science and Engineering (SCOPE)  ·  Vellore Institute of Technology, Chennai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Table of Contents</a:t>
            </a:r>
            <a:endParaRPr lang="en-US" sz="3200" dirty="0"/>
          </a:p>
        </p:txBody>
      </p:sp>
      <p:sp>
        <p:nvSpPr>
          <p:cNvPr id="4" name="Text 2"/>
          <p:cNvSpPr/>
          <p:nvPr/>
        </p:nvSpPr>
        <p:spPr>
          <a:xfrm>
            <a:off x="594360" y="169164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01  Introduction</a:t>
            </a:r>
            <a:endParaRPr lang="en-US" sz="1400" dirty="0"/>
          </a:p>
        </p:txBody>
      </p:sp>
      <p:sp>
        <p:nvSpPr>
          <p:cNvPr id="5" name="Shape 3"/>
          <p:cNvSpPr/>
          <p:nvPr/>
        </p:nvSpPr>
        <p:spPr>
          <a:xfrm>
            <a:off x="594360" y="2130552"/>
            <a:ext cx="3566160" cy="0"/>
          </a:xfrm>
          <a:prstGeom prst="line">
            <a:avLst/>
          </a:prstGeom>
          <a:noFill/>
          <a:ln w="9525">
            <a:solidFill>
              <a:srgbClr val="22384F"/>
            </a:solidFill>
            <a:prstDash val="solid"/>
          </a:ln>
        </p:spPr>
      </p:sp>
      <p:sp>
        <p:nvSpPr>
          <p:cNvPr id="6" name="Text 4"/>
          <p:cNvSpPr/>
          <p:nvPr/>
        </p:nvSpPr>
        <p:spPr>
          <a:xfrm>
            <a:off x="594360" y="225856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02  Problem Statement</a:t>
            </a:r>
            <a:endParaRPr lang="en-US" sz="1400" dirty="0"/>
          </a:p>
        </p:txBody>
      </p:sp>
      <p:sp>
        <p:nvSpPr>
          <p:cNvPr id="7" name="Shape 5"/>
          <p:cNvSpPr/>
          <p:nvPr/>
        </p:nvSpPr>
        <p:spPr>
          <a:xfrm>
            <a:off x="594360" y="2697480"/>
            <a:ext cx="3566160" cy="0"/>
          </a:xfrm>
          <a:prstGeom prst="line">
            <a:avLst/>
          </a:prstGeom>
          <a:noFill/>
          <a:ln w="9525">
            <a:solidFill>
              <a:srgbClr val="22384F"/>
            </a:solidFill>
            <a:prstDash val="solid"/>
          </a:ln>
        </p:spPr>
      </p:sp>
      <p:sp>
        <p:nvSpPr>
          <p:cNvPr id="8" name="Text 6"/>
          <p:cNvSpPr/>
          <p:nvPr/>
        </p:nvSpPr>
        <p:spPr>
          <a:xfrm>
            <a:off x="594360" y="2825496"/>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03  Objectives</a:t>
            </a:r>
            <a:endParaRPr lang="en-US" sz="1400" dirty="0"/>
          </a:p>
        </p:txBody>
      </p:sp>
      <p:sp>
        <p:nvSpPr>
          <p:cNvPr id="9" name="Shape 7"/>
          <p:cNvSpPr/>
          <p:nvPr/>
        </p:nvSpPr>
        <p:spPr>
          <a:xfrm>
            <a:off x="594360" y="3264408"/>
            <a:ext cx="3566160" cy="0"/>
          </a:xfrm>
          <a:prstGeom prst="line">
            <a:avLst/>
          </a:prstGeom>
          <a:noFill/>
          <a:ln w="9525">
            <a:solidFill>
              <a:srgbClr val="22384F"/>
            </a:solidFill>
            <a:prstDash val="solid"/>
          </a:ln>
        </p:spPr>
      </p:sp>
      <p:sp>
        <p:nvSpPr>
          <p:cNvPr id="10" name="Text 8"/>
          <p:cNvSpPr/>
          <p:nvPr/>
        </p:nvSpPr>
        <p:spPr>
          <a:xfrm>
            <a:off x="594360" y="3392424"/>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04  Dataset Overview</a:t>
            </a:r>
            <a:endParaRPr lang="en-US" sz="1400" dirty="0"/>
          </a:p>
        </p:txBody>
      </p:sp>
      <p:sp>
        <p:nvSpPr>
          <p:cNvPr id="11" name="Shape 9"/>
          <p:cNvSpPr/>
          <p:nvPr/>
        </p:nvSpPr>
        <p:spPr>
          <a:xfrm>
            <a:off x="594360" y="3831336"/>
            <a:ext cx="3566160" cy="0"/>
          </a:xfrm>
          <a:prstGeom prst="line">
            <a:avLst/>
          </a:prstGeom>
          <a:noFill/>
          <a:ln w="9525">
            <a:solidFill>
              <a:srgbClr val="22384F"/>
            </a:solidFill>
            <a:prstDash val="solid"/>
          </a:ln>
        </p:spPr>
      </p:sp>
      <p:sp>
        <p:nvSpPr>
          <p:cNvPr id="12" name="Text 10"/>
          <p:cNvSpPr/>
          <p:nvPr/>
        </p:nvSpPr>
        <p:spPr>
          <a:xfrm>
            <a:off x="594360" y="3959352"/>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05  Dataset Justification</a:t>
            </a:r>
            <a:endParaRPr lang="en-US" sz="1400" dirty="0"/>
          </a:p>
        </p:txBody>
      </p:sp>
      <p:sp>
        <p:nvSpPr>
          <p:cNvPr id="13" name="Shape 11"/>
          <p:cNvSpPr/>
          <p:nvPr/>
        </p:nvSpPr>
        <p:spPr>
          <a:xfrm>
            <a:off x="594360" y="4398264"/>
            <a:ext cx="3566160" cy="0"/>
          </a:xfrm>
          <a:prstGeom prst="line">
            <a:avLst/>
          </a:prstGeom>
          <a:noFill/>
          <a:ln w="9525">
            <a:solidFill>
              <a:srgbClr val="22384F"/>
            </a:solidFill>
            <a:prstDash val="solid"/>
          </a:ln>
        </p:spPr>
      </p:sp>
      <p:sp>
        <p:nvSpPr>
          <p:cNvPr id="14" name="Text 12"/>
          <p:cNvSpPr/>
          <p:nvPr/>
        </p:nvSpPr>
        <p:spPr>
          <a:xfrm>
            <a:off x="594360" y="452628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06  Literature Review</a:t>
            </a:r>
            <a:endParaRPr lang="en-US" sz="1400" dirty="0"/>
          </a:p>
        </p:txBody>
      </p:sp>
      <p:sp>
        <p:nvSpPr>
          <p:cNvPr id="15" name="Shape 13"/>
          <p:cNvSpPr/>
          <p:nvPr/>
        </p:nvSpPr>
        <p:spPr>
          <a:xfrm>
            <a:off x="594360" y="4965192"/>
            <a:ext cx="3566160" cy="0"/>
          </a:xfrm>
          <a:prstGeom prst="line">
            <a:avLst/>
          </a:prstGeom>
          <a:noFill/>
          <a:ln w="9525">
            <a:solidFill>
              <a:srgbClr val="22384F"/>
            </a:solidFill>
            <a:prstDash val="solid"/>
          </a:ln>
        </p:spPr>
      </p:sp>
      <p:sp>
        <p:nvSpPr>
          <p:cNvPr id="16" name="Text 14"/>
          <p:cNvSpPr/>
          <p:nvPr/>
        </p:nvSpPr>
        <p:spPr>
          <a:xfrm>
            <a:off x="594360" y="509320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07  Research Gap</a:t>
            </a:r>
            <a:endParaRPr lang="en-US" sz="1400" dirty="0"/>
          </a:p>
        </p:txBody>
      </p:sp>
      <p:sp>
        <p:nvSpPr>
          <p:cNvPr id="17" name="Shape 15"/>
          <p:cNvSpPr/>
          <p:nvPr/>
        </p:nvSpPr>
        <p:spPr>
          <a:xfrm>
            <a:off x="594360" y="5532120"/>
            <a:ext cx="3566160" cy="0"/>
          </a:xfrm>
          <a:prstGeom prst="line">
            <a:avLst/>
          </a:prstGeom>
          <a:noFill/>
          <a:ln w="9525">
            <a:solidFill>
              <a:srgbClr val="22384F"/>
            </a:solidFill>
            <a:prstDash val="solid"/>
          </a:ln>
        </p:spPr>
      </p:sp>
      <p:sp>
        <p:nvSpPr>
          <p:cNvPr id="18" name="Text 16"/>
          <p:cNvSpPr/>
          <p:nvPr/>
        </p:nvSpPr>
        <p:spPr>
          <a:xfrm>
            <a:off x="4480560" y="169164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08  Dataset Understanding</a:t>
            </a:r>
            <a:endParaRPr lang="en-US" sz="1400" dirty="0"/>
          </a:p>
        </p:txBody>
      </p:sp>
      <p:sp>
        <p:nvSpPr>
          <p:cNvPr id="19" name="Shape 17"/>
          <p:cNvSpPr/>
          <p:nvPr/>
        </p:nvSpPr>
        <p:spPr>
          <a:xfrm>
            <a:off x="4480560" y="2130552"/>
            <a:ext cx="3566160" cy="0"/>
          </a:xfrm>
          <a:prstGeom prst="line">
            <a:avLst/>
          </a:prstGeom>
          <a:noFill/>
          <a:ln w="9525">
            <a:solidFill>
              <a:srgbClr val="22384F"/>
            </a:solidFill>
            <a:prstDash val="solid"/>
          </a:ln>
        </p:spPr>
      </p:sp>
      <p:sp>
        <p:nvSpPr>
          <p:cNvPr id="20" name="Text 18"/>
          <p:cNvSpPr/>
          <p:nvPr/>
        </p:nvSpPr>
        <p:spPr>
          <a:xfrm>
            <a:off x="4480560" y="225856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09  Preprocessing Workflow</a:t>
            </a:r>
            <a:endParaRPr lang="en-US" sz="1400" dirty="0"/>
          </a:p>
        </p:txBody>
      </p:sp>
      <p:sp>
        <p:nvSpPr>
          <p:cNvPr id="21" name="Shape 19"/>
          <p:cNvSpPr/>
          <p:nvPr/>
        </p:nvSpPr>
        <p:spPr>
          <a:xfrm>
            <a:off x="4480560" y="2697480"/>
            <a:ext cx="3566160" cy="0"/>
          </a:xfrm>
          <a:prstGeom prst="line">
            <a:avLst/>
          </a:prstGeom>
          <a:noFill/>
          <a:ln w="9525">
            <a:solidFill>
              <a:srgbClr val="22384F"/>
            </a:solidFill>
            <a:prstDash val="solid"/>
          </a:ln>
        </p:spPr>
      </p:sp>
      <p:sp>
        <p:nvSpPr>
          <p:cNvPr id="22" name="Text 20"/>
          <p:cNvSpPr/>
          <p:nvPr/>
        </p:nvSpPr>
        <p:spPr>
          <a:xfrm>
            <a:off x="4480560" y="2825496"/>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10  Missing Values</a:t>
            </a:r>
            <a:endParaRPr lang="en-US" sz="1400" dirty="0"/>
          </a:p>
        </p:txBody>
      </p:sp>
      <p:sp>
        <p:nvSpPr>
          <p:cNvPr id="23" name="Shape 21"/>
          <p:cNvSpPr/>
          <p:nvPr/>
        </p:nvSpPr>
        <p:spPr>
          <a:xfrm>
            <a:off x="4480560" y="3264408"/>
            <a:ext cx="3566160" cy="0"/>
          </a:xfrm>
          <a:prstGeom prst="line">
            <a:avLst/>
          </a:prstGeom>
          <a:noFill/>
          <a:ln w="9525">
            <a:solidFill>
              <a:srgbClr val="22384F"/>
            </a:solidFill>
            <a:prstDash val="solid"/>
          </a:ln>
        </p:spPr>
      </p:sp>
      <p:sp>
        <p:nvSpPr>
          <p:cNvPr id="24" name="Text 22"/>
          <p:cNvSpPr/>
          <p:nvPr/>
        </p:nvSpPr>
        <p:spPr>
          <a:xfrm>
            <a:off x="4480560" y="3392424"/>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11  Duplicate Analysis</a:t>
            </a:r>
            <a:endParaRPr lang="en-US" sz="1400" dirty="0"/>
          </a:p>
        </p:txBody>
      </p:sp>
      <p:sp>
        <p:nvSpPr>
          <p:cNvPr id="25" name="Shape 23"/>
          <p:cNvSpPr/>
          <p:nvPr/>
        </p:nvSpPr>
        <p:spPr>
          <a:xfrm>
            <a:off x="4480560" y="3831336"/>
            <a:ext cx="3566160" cy="0"/>
          </a:xfrm>
          <a:prstGeom prst="line">
            <a:avLst/>
          </a:prstGeom>
          <a:noFill/>
          <a:ln w="9525">
            <a:solidFill>
              <a:srgbClr val="22384F"/>
            </a:solidFill>
            <a:prstDash val="solid"/>
          </a:ln>
        </p:spPr>
      </p:sp>
      <p:sp>
        <p:nvSpPr>
          <p:cNvPr id="26" name="Text 24"/>
          <p:cNvSpPr/>
          <p:nvPr/>
        </p:nvSpPr>
        <p:spPr>
          <a:xfrm>
            <a:off x="4480560" y="3959352"/>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12  Feature Engineering</a:t>
            </a:r>
            <a:endParaRPr lang="en-US" sz="1400" dirty="0"/>
          </a:p>
        </p:txBody>
      </p:sp>
      <p:sp>
        <p:nvSpPr>
          <p:cNvPr id="27" name="Shape 25"/>
          <p:cNvSpPr/>
          <p:nvPr/>
        </p:nvSpPr>
        <p:spPr>
          <a:xfrm>
            <a:off x="4480560" y="4398264"/>
            <a:ext cx="3566160" cy="0"/>
          </a:xfrm>
          <a:prstGeom prst="line">
            <a:avLst/>
          </a:prstGeom>
          <a:noFill/>
          <a:ln w="9525">
            <a:solidFill>
              <a:srgbClr val="22384F"/>
            </a:solidFill>
            <a:prstDash val="solid"/>
          </a:ln>
        </p:spPr>
      </p:sp>
      <p:sp>
        <p:nvSpPr>
          <p:cNvPr id="28" name="Text 26"/>
          <p:cNvSpPr/>
          <p:nvPr/>
        </p:nvSpPr>
        <p:spPr>
          <a:xfrm>
            <a:off x="4480560" y="452628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13  Outlier Detection</a:t>
            </a:r>
            <a:endParaRPr lang="en-US" sz="1400" dirty="0"/>
          </a:p>
        </p:txBody>
      </p:sp>
      <p:sp>
        <p:nvSpPr>
          <p:cNvPr id="29" name="Shape 27"/>
          <p:cNvSpPr/>
          <p:nvPr/>
        </p:nvSpPr>
        <p:spPr>
          <a:xfrm>
            <a:off x="4480560" y="4965192"/>
            <a:ext cx="3566160" cy="0"/>
          </a:xfrm>
          <a:prstGeom prst="line">
            <a:avLst/>
          </a:prstGeom>
          <a:noFill/>
          <a:ln w="9525">
            <a:solidFill>
              <a:srgbClr val="22384F"/>
            </a:solidFill>
            <a:prstDash val="solid"/>
          </a:ln>
        </p:spPr>
      </p:sp>
      <p:sp>
        <p:nvSpPr>
          <p:cNvPr id="30" name="Text 28"/>
          <p:cNvSpPr/>
          <p:nvPr/>
        </p:nvSpPr>
        <p:spPr>
          <a:xfrm>
            <a:off x="4480560" y="509320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14  Encoding</a:t>
            </a:r>
            <a:endParaRPr lang="en-US" sz="1400" dirty="0"/>
          </a:p>
        </p:txBody>
      </p:sp>
      <p:sp>
        <p:nvSpPr>
          <p:cNvPr id="31" name="Shape 29"/>
          <p:cNvSpPr/>
          <p:nvPr/>
        </p:nvSpPr>
        <p:spPr>
          <a:xfrm>
            <a:off x="4480560" y="5532120"/>
            <a:ext cx="3566160" cy="0"/>
          </a:xfrm>
          <a:prstGeom prst="line">
            <a:avLst/>
          </a:prstGeom>
          <a:noFill/>
          <a:ln w="9525">
            <a:solidFill>
              <a:srgbClr val="22384F"/>
            </a:solidFill>
            <a:prstDash val="solid"/>
          </a:ln>
        </p:spPr>
      </p:sp>
      <p:sp>
        <p:nvSpPr>
          <p:cNvPr id="32" name="Text 30"/>
          <p:cNvSpPr/>
          <p:nvPr/>
        </p:nvSpPr>
        <p:spPr>
          <a:xfrm>
            <a:off x="8366760" y="169164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15  Scaling</a:t>
            </a:r>
            <a:endParaRPr lang="en-US" sz="1400" dirty="0"/>
          </a:p>
        </p:txBody>
      </p:sp>
      <p:sp>
        <p:nvSpPr>
          <p:cNvPr id="33" name="Shape 31"/>
          <p:cNvSpPr/>
          <p:nvPr/>
        </p:nvSpPr>
        <p:spPr>
          <a:xfrm>
            <a:off x="8366760" y="2130552"/>
            <a:ext cx="3566160" cy="0"/>
          </a:xfrm>
          <a:prstGeom prst="line">
            <a:avLst/>
          </a:prstGeom>
          <a:noFill/>
          <a:ln w="9525">
            <a:solidFill>
              <a:srgbClr val="22384F"/>
            </a:solidFill>
            <a:prstDash val="solid"/>
          </a:ln>
        </p:spPr>
      </p:sp>
      <p:sp>
        <p:nvSpPr>
          <p:cNvPr id="34" name="Text 32"/>
          <p:cNvSpPr/>
          <p:nvPr/>
        </p:nvSpPr>
        <p:spPr>
          <a:xfrm>
            <a:off x="8366760" y="225856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16  Exploratory Data Analysis</a:t>
            </a:r>
            <a:endParaRPr lang="en-US" sz="1400" dirty="0"/>
          </a:p>
        </p:txBody>
      </p:sp>
      <p:sp>
        <p:nvSpPr>
          <p:cNvPr id="35" name="Shape 33"/>
          <p:cNvSpPr/>
          <p:nvPr/>
        </p:nvSpPr>
        <p:spPr>
          <a:xfrm>
            <a:off x="8366760" y="2697480"/>
            <a:ext cx="3566160" cy="0"/>
          </a:xfrm>
          <a:prstGeom prst="line">
            <a:avLst/>
          </a:prstGeom>
          <a:noFill/>
          <a:ln w="9525">
            <a:solidFill>
              <a:srgbClr val="22384F"/>
            </a:solidFill>
            <a:prstDash val="solid"/>
          </a:ln>
        </p:spPr>
      </p:sp>
      <p:sp>
        <p:nvSpPr>
          <p:cNvPr id="36" name="Text 34"/>
          <p:cNvSpPr/>
          <p:nvPr/>
        </p:nvSpPr>
        <p:spPr>
          <a:xfrm>
            <a:off x="8366760" y="2825496"/>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17  Key Visualizations</a:t>
            </a:r>
            <a:endParaRPr lang="en-US" sz="1400" dirty="0"/>
          </a:p>
        </p:txBody>
      </p:sp>
      <p:sp>
        <p:nvSpPr>
          <p:cNvPr id="37" name="Shape 35"/>
          <p:cNvSpPr/>
          <p:nvPr/>
        </p:nvSpPr>
        <p:spPr>
          <a:xfrm>
            <a:off x="8366760" y="3264408"/>
            <a:ext cx="3566160" cy="0"/>
          </a:xfrm>
          <a:prstGeom prst="line">
            <a:avLst/>
          </a:prstGeom>
          <a:noFill/>
          <a:ln w="9525">
            <a:solidFill>
              <a:srgbClr val="22384F"/>
            </a:solidFill>
            <a:prstDash val="solid"/>
          </a:ln>
        </p:spPr>
      </p:sp>
      <p:sp>
        <p:nvSpPr>
          <p:cNvPr id="38" name="Text 36"/>
          <p:cNvSpPr/>
          <p:nvPr/>
        </p:nvSpPr>
        <p:spPr>
          <a:xfrm>
            <a:off x="8366760" y="3392424"/>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18  Major Findings</a:t>
            </a:r>
            <a:endParaRPr lang="en-US" sz="1400" dirty="0"/>
          </a:p>
        </p:txBody>
      </p:sp>
      <p:sp>
        <p:nvSpPr>
          <p:cNvPr id="39" name="Shape 37"/>
          <p:cNvSpPr/>
          <p:nvPr/>
        </p:nvSpPr>
        <p:spPr>
          <a:xfrm>
            <a:off x="8366760" y="3831336"/>
            <a:ext cx="3566160" cy="0"/>
          </a:xfrm>
          <a:prstGeom prst="line">
            <a:avLst/>
          </a:prstGeom>
          <a:noFill/>
          <a:ln w="9525">
            <a:solidFill>
              <a:srgbClr val="22384F"/>
            </a:solidFill>
            <a:prstDash val="solid"/>
          </a:ln>
        </p:spPr>
      </p:sp>
      <p:sp>
        <p:nvSpPr>
          <p:cNvPr id="40" name="Text 38"/>
          <p:cNvSpPr/>
          <p:nvPr/>
        </p:nvSpPr>
        <p:spPr>
          <a:xfrm>
            <a:off x="8366760" y="3959352"/>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19  Conclusion</a:t>
            </a:r>
            <a:endParaRPr lang="en-US" sz="1400" dirty="0"/>
          </a:p>
        </p:txBody>
      </p:sp>
      <p:sp>
        <p:nvSpPr>
          <p:cNvPr id="41" name="Shape 39"/>
          <p:cNvSpPr/>
          <p:nvPr/>
        </p:nvSpPr>
        <p:spPr>
          <a:xfrm>
            <a:off x="8366760" y="4398264"/>
            <a:ext cx="3566160" cy="0"/>
          </a:xfrm>
          <a:prstGeom prst="line">
            <a:avLst/>
          </a:prstGeom>
          <a:noFill/>
          <a:ln w="9525">
            <a:solidFill>
              <a:srgbClr val="22384F"/>
            </a:solidFill>
            <a:prstDash val="solid"/>
          </a:ln>
        </p:spPr>
      </p:sp>
      <p:sp>
        <p:nvSpPr>
          <p:cNvPr id="42" name="Text 40"/>
          <p:cNvSpPr/>
          <p:nvPr/>
        </p:nvSpPr>
        <p:spPr>
          <a:xfrm>
            <a:off x="8366760" y="4526280"/>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20  Future Scope</a:t>
            </a:r>
            <a:endParaRPr lang="en-US" sz="1400" dirty="0"/>
          </a:p>
        </p:txBody>
      </p:sp>
      <p:sp>
        <p:nvSpPr>
          <p:cNvPr id="43" name="Shape 41"/>
          <p:cNvSpPr/>
          <p:nvPr/>
        </p:nvSpPr>
        <p:spPr>
          <a:xfrm>
            <a:off x="8366760" y="4965192"/>
            <a:ext cx="3566160" cy="0"/>
          </a:xfrm>
          <a:prstGeom prst="line">
            <a:avLst/>
          </a:prstGeom>
          <a:noFill/>
          <a:ln w="9525">
            <a:solidFill>
              <a:srgbClr val="22384F"/>
            </a:solidFill>
            <a:prstDash val="solid"/>
          </a:ln>
        </p:spPr>
      </p:sp>
      <p:sp>
        <p:nvSpPr>
          <p:cNvPr id="44" name="Text 42"/>
          <p:cNvSpPr/>
          <p:nvPr/>
        </p:nvSpPr>
        <p:spPr>
          <a:xfrm>
            <a:off x="8366760" y="5093208"/>
            <a:ext cx="356616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21  References</a:t>
            </a:r>
            <a:endParaRPr lang="en-US" sz="1400" dirty="0"/>
          </a:p>
        </p:txBody>
      </p:sp>
      <p:sp>
        <p:nvSpPr>
          <p:cNvPr id="45" name="Shape 43"/>
          <p:cNvSpPr/>
          <p:nvPr/>
        </p:nvSpPr>
        <p:spPr>
          <a:xfrm>
            <a:off x="8366760" y="5532120"/>
            <a:ext cx="3566160" cy="0"/>
          </a:xfrm>
          <a:prstGeom prst="line">
            <a:avLst/>
          </a:prstGeom>
          <a:noFill/>
          <a:ln w="9525">
            <a:solidFill>
              <a:srgbClr val="22384F"/>
            </a:solidFill>
            <a:prstDash val="solid"/>
          </a:ln>
        </p:spPr>
      </p:sp>
      <p:sp>
        <p:nvSpPr>
          <p:cNvPr id="46" name="Text 4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6E86A6"/>
                </a:solidFill>
                <a:latin typeface="Calibri" pitchFamily="34" charset="0"/>
                <a:ea typeface="Calibri" pitchFamily="34" charset="-122"/>
                <a:cs typeface="Calibri" pitchFamily="34" charset="-120"/>
              </a:rPr>
              <a:t>DA1  ·  EMPLOYEE ATTRITION PREDICTION</a:t>
            </a:r>
            <a:endParaRPr lang="en-US" sz="850" dirty="0"/>
          </a:p>
        </p:txBody>
      </p:sp>
      <p:sp>
        <p:nvSpPr>
          <p:cNvPr id="47" name="Text 45"/>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6E86A6"/>
                </a:solidFill>
                <a:latin typeface="Calibri" pitchFamily="34" charset="0"/>
                <a:ea typeface="Calibri" pitchFamily="34" charset="-122"/>
                <a:cs typeface="Calibri" pitchFamily="34" charset="-120"/>
              </a:rPr>
              <a:t>02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01</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Introduction</a:t>
            </a:r>
            <a:endParaRPr lang="en-US" sz="3200" dirty="0"/>
          </a:p>
        </p:txBody>
      </p:sp>
      <p:sp>
        <p:nvSpPr>
          <p:cNvPr id="4" name="Shape 2"/>
          <p:cNvSpPr/>
          <p:nvPr/>
        </p:nvSpPr>
        <p:spPr>
          <a:xfrm>
            <a:off x="594360" y="1828800"/>
            <a:ext cx="310896" cy="310896"/>
          </a:xfrm>
          <a:prstGeom prst="ellipse">
            <a:avLst/>
          </a:prstGeom>
          <a:solidFill>
            <a:srgbClr val="0E7490"/>
          </a:solidFill>
          <a:ln/>
        </p:spPr>
      </p:sp>
      <p:sp>
        <p:nvSpPr>
          <p:cNvPr id="5" name="Text 3"/>
          <p:cNvSpPr/>
          <p:nvPr/>
        </p:nvSpPr>
        <p:spPr>
          <a:xfrm>
            <a:off x="594360" y="18288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51560" y="1709928"/>
            <a:ext cx="6035040" cy="731520"/>
          </a:xfrm>
          <a:prstGeom prst="rect">
            <a:avLst/>
          </a:prstGeom>
          <a:noFill/>
          <a:ln/>
        </p:spPr>
        <p:txBody>
          <a:bodyPr wrap="square" lIns="0" tIns="0" rIns="0" bIns="0" rtlCol="0" anchor="t"/>
          <a:lstStyle/>
          <a:p>
            <a:pPr algn="l" indent="0" marL="0">
              <a:lnSpc>
                <a:spcPct val="115000"/>
              </a:lnSpc>
              <a:buNone/>
            </a:pPr>
            <a:r>
              <a:rPr lang="en-US" sz="1350" dirty="0">
                <a:solidFill>
                  <a:srgbClr val="0B1F3A"/>
                </a:solidFill>
                <a:latin typeface="Calibri" pitchFamily="34" charset="0"/>
                <a:ea typeface="Calibri" pitchFamily="34" charset="-122"/>
                <a:cs typeface="Calibri" pitchFamily="34" charset="-120"/>
              </a:rPr>
              <a:t>Employee attrition is one of the most closely monitored HR metrics in large manufacturing organizations.</a:t>
            </a:r>
            <a:endParaRPr lang="en-US" sz="1350" dirty="0"/>
          </a:p>
        </p:txBody>
      </p:sp>
      <p:sp>
        <p:nvSpPr>
          <p:cNvPr id="7" name="Shape 5"/>
          <p:cNvSpPr/>
          <p:nvPr/>
        </p:nvSpPr>
        <p:spPr>
          <a:xfrm>
            <a:off x="594360" y="2670048"/>
            <a:ext cx="310896" cy="310896"/>
          </a:xfrm>
          <a:prstGeom prst="ellipse">
            <a:avLst/>
          </a:prstGeom>
          <a:solidFill>
            <a:srgbClr val="0E7490"/>
          </a:solidFill>
          <a:ln/>
        </p:spPr>
      </p:sp>
      <p:sp>
        <p:nvSpPr>
          <p:cNvPr id="8" name="Text 6"/>
          <p:cNvSpPr/>
          <p:nvPr/>
        </p:nvSpPr>
        <p:spPr>
          <a:xfrm>
            <a:off x="594360" y="2670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051560" y="2551176"/>
            <a:ext cx="6035040" cy="731520"/>
          </a:xfrm>
          <a:prstGeom prst="rect">
            <a:avLst/>
          </a:prstGeom>
          <a:noFill/>
          <a:ln/>
        </p:spPr>
        <p:txBody>
          <a:bodyPr wrap="square" lIns="0" tIns="0" rIns="0" bIns="0" rtlCol="0" anchor="t"/>
          <a:lstStyle/>
          <a:p>
            <a:pPr algn="l" indent="0" marL="0">
              <a:lnSpc>
                <a:spcPct val="115000"/>
              </a:lnSpc>
              <a:buNone/>
            </a:pPr>
            <a:r>
              <a:rPr lang="en-US" sz="1350" dirty="0">
                <a:solidFill>
                  <a:srgbClr val="0B1F3A"/>
                </a:solidFill>
                <a:latin typeface="Calibri" pitchFamily="34" charset="0"/>
                <a:ea typeface="Calibri" pitchFamily="34" charset="-122"/>
                <a:cs typeface="Calibri" pitchFamily="34" charset="-120"/>
              </a:rPr>
              <a:t>Multi-plant organizations face attrition patterns that vary by department, shift, role, and location.</a:t>
            </a:r>
            <a:endParaRPr lang="en-US" sz="1350" dirty="0"/>
          </a:p>
        </p:txBody>
      </p:sp>
      <p:sp>
        <p:nvSpPr>
          <p:cNvPr id="10" name="Shape 8"/>
          <p:cNvSpPr/>
          <p:nvPr/>
        </p:nvSpPr>
        <p:spPr>
          <a:xfrm>
            <a:off x="594360" y="3511296"/>
            <a:ext cx="310896" cy="310896"/>
          </a:xfrm>
          <a:prstGeom prst="ellipse">
            <a:avLst/>
          </a:prstGeom>
          <a:solidFill>
            <a:srgbClr val="0E7490"/>
          </a:solidFill>
          <a:ln/>
        </p:spPr>
      </p:sp>
      <p:sp>
        <p:nvSpPr>
          <p:cNvPr id="11" name="Text 9"/>
          <p:cNvSpPr/>
          <p:nvPr/>
        </p:nvSpPr>
        <p:spPr>
          <a:xfrm>
            <a:off x="594360" y="3511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051560" y="3392424"/>
            <a:ext cx="6035040" cy="731520"/>
          </a:xfrm>
          <a:prstGeom prst="rect">
            <a:avLst/>
          </a:prstGeom>
          <a:noFill/>
          <a:ln/>
        </p:spPr>
        <p:txBody>
          <a:bodyPr wrap="square" lIns="0" tIns="0" rIns="0" bIns="0" rtlCol="0" anchor="t"/>
          <a:lstStyle/>
          <a:p>
            <a:pPr algn="l" indent="0" marL="0">
              <a:lnSpc>
                <a:spcPct val="115000"/>
              </a:lnSpc>
              <a:buNone/>
            </a:pPr>
            <a:r>
              <a:rPr lang="en-US" sz="1350" dirty="0">
                <a:solidFill>
                  <a:srgbClr val="0B1F3A"/>
                </a:solidFill>
                <a:latin typeface="Calibri" pitchFamily="34" charset="0"/>
                <a:ea typeface="Calibri" pitchFamily="34" charset="-122"/>
                <a:cs typeface="Calibri" pitchFamily="34" charset="-120"/>
              </a:rPr>
              <a:t>Manual identification of at-risk employees becomes impractical as workforce size grows.</a:t>
            </a:r>
            <a:endParaRPr lang="en-US" sz="1350" dirty="0"/>
          </a:p>
        </p:txBody>
      </p:sp>
      <p:sp>
        <p:nvSpPr>
          <p:cNvPr id="13" name="Shape 11"/>
          <p:cNvSpPr/>
          <p:nvPr/>
        </p:nvSpPr>
        <p:spPr>
          <a:xfrm>
            <a:off x="594360" y="4352544"/>
            <a:ext cx="310896" cy="310896"/>
          </a:xfrm>
          <a:prstGeom prst="ellipse">
            <a:avLst/>
          </a:prstGeom>
          <a:solidFill>
            <a:srgbClr val="0E7490"/>
          </a:solidFill>
          <a:ln/>
        </p:spPr>
      </p:sp>
      <p:sp>
        <p:nvSpPr>
          <p:cNvPr id="14" name="Text 12"/>
          <p:cNvSpPr/>
          <p:nvPr/>
        </p:nvSpPr>
        <p:spPr>
          <a:xfrm>
            <a:off x="594360" y="4352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051560" y="4233672"/>
            <a:ext cx="6035040" cy="731520"/>
          </a:xfrm>
          <a:prstGeom prst="rect">
            <a:avLst/>
          </a:prstGeom>
          <a:noFill/>
          <a:ln/>
        </p:spPr>
        <p:txBody>
          <a:bodyPr wrap="square" lIns="0" tIns="0" rIns="0" bIns="0" rtlCol="0" anchor="t"/>
          <a:lstStyle/>
          <a:p>
            <a:pPr algn="l" indent="0" marL="0">
              <a:lnSpc>
                <a:spcPct val="115000"/>
              </a:lnSpc>
              <a:buNone/>
            </a:pPr>
            <a:r>
              <a:rPr lang="en-US" sz="1350" dirty="0">
                <a:solidFill>
                  <a:srgbClr val="0B1F3A"/>
                </a:solidFill>
                <a:latin typeface="Calibri" pitchFamily="34" charset="0"/>
                <a:ea typeface="Calibri" pitchFamily="34" charset="-122"/>
                <a:cs typeface="Calibri" pitchFamily="34" charset="-120"/>
              </a:rPr>
              <a:t>Machine learning enables a shift from reactive HR intervention to proactive workforce planning.</a:t>
            </a:r>
            <a:endParaRPr lang="en-US" sz="1350" dirty="0"/>
          </a:p>
        </p:txBody>
      </p:sp>
      <p:sp>
        <p:nvSpPr>
          <p:cNvPr id="16" name="Shape 14"/>
          <p:cNvSpPr/>
          <p:nvPr/>
        </p:nvSpPr>
        <p:spPr>
          <a:xfrm>
            <a:off x="594360" y="5193792"/>
            <a:ext cx="310896" cy="310896"/>
          </a:xfrm>
          <a:prstGeom prst="ellipse">
            <a:avLst/>
          </a:prstGeom>
          <a:solidFill>
            <a:srgbClr val="0E7490"/>
          </a:solidFill>
          <a:ln/>
        </p:spPr>
      </p:sp>
      <p:sp>
        <p:nvSpPr>
          <p:cNvPr id="17" name="Text 15"/>
          <p:cNvSpPr/>
          <p:nvPr/>
        </p:nvSpPr>
        <p:spPr>
          <a:xfrm>
            <a:off x="594360" y="5193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051560" y="5074920"/>
            <a:ext cx="6035040" cy="731520"/>
          </a:xfrm>
          <a:prstGeom prst="rect">
            <a:avLst/>
          </a:prstGeom>
          <a:noFill/>
          <a:ln/>
        </p:spPr>
        <p:txBody>
          <a:bodyPr wrap="square" lIns="0" tIns="0" rIns="0" bIns="0" rtlCol="0" anchor="t"/>
          <a:lstStyle/>
          <a:p>
            <a:pPr algn="l" indent="0" marL="0">
              <a:lnSpc>
                <a:spcPct val="115000"/>
              </a:lnSpc>
              <a:buNone/>
            </a:pPr>
            <a:r>
              <a:rPr lang="en-US" sz="1350" dirty="0">
                <a:solidFill>
                  <a:srgbClr val="0B1F3A"/>
                </a:solidFill>
                <a:latin typeface="Calibri" pitchFamily="34" charset="0"/>
                <a:ea typeface="Calibri" pitchFamily="34" charset="-122"/>
                <a:cs typeface="Calibri" pitchFamily="34" charset="-120"/>
              </a:rPr>
              <a:t>This report covers Phase 1: dataset preparation and exploratory analysis.</a:t>
            </a:r>
            <a:endParaRPr lang="en-US" sz="1350" dirty="0"/>
          </a:p>
        </p:txBody>
      </p:sp>
      <p:sp>
        <p:nvSpPr>
          <p:cNvPr id="19" name="Shape 17"/>
          <p:cNvSpPr/>
          <p:nvPr/>
        </p:nvSpPr>
        <p:spPr>
          <a:xfrm>
            <a:off x="7452360" y="1783080"/>
            <a:ext cx="4160520" cy="4160520"/>
          </a:xfrm>
          <a:prstGeom prst="roundRect">
            <a:avLst>
              <a:gd name="adj" fmla="val 1758"/>
            </a:avLst>
          </a:prstGeom>
          <a:solidFill>
            <a:srgbClr val="0B1F3A"/>
          </a:solidFill>
          <a:ln/>
          <a:effectLst>
            <a:outerShdw sx="100000" sy="100000" kx="0" ky="0" algn="bl" rotWithShape="0" blurRad="152400" dist="38100" dir="5400000">
              <a:srgbClr val="000000">
                <a:alpha val="25000"/>
              </a:srgbClr>
            </a:outerShdw>
          </a:effectLst>
        </p:spPr>
      </p:sp>
      <p:sp>
        <p:nvSpPr>
          <p:cNvPr id="20" name="Shape 18"/>
          <p:cNvSpPr/>
          <p:nvPr/>
        </p:nvSpPr>
        <p:spPr>
          <a:xfrm>
            <a:off x="9002268" y="2308860"/>
            <a:ext cx="1051560" cy="1051560"/>
          </a:xfrm>
          <a:prstGeom prst="ellipse">
            <a:avLst/>
          </a:prstGeom>
          <a:solidFill>
            <a:srgbClr val="22D3EE"/>
          </a:solidFill>
          <a:ln/>
        </p:spPr>
      </p:sp>
      <p:pic>
        <p:nvPicPr>
          <p:cNvPr id="21" name="Image 0" descr="/home/claude/pptx_build/icons/intro.png">    </p:cNvPr>
          <p:cNvPicPr>
            <a:picLocks noChangeAspect="1"/>
          </p:cNvPicPr>
          <p:nvPr/>
        </p:nvPicPr>
        <p:blipFill>
          <a:blip r:embed="rId1"/>
          <a:stretch>
            <a:fillRect/>
          </a:stretch>
        </p:blipFill>
        <p:spPr>
          <a:xfrm>
            <a:off x="9265158" y="2571750"/>
            <a:ext cx="525780" cy="525780"/>
          </a:xfrm>
          <a:prstGeom prst="rect">
            <a:avLst/>
          </a:prstGeom>
        </p:spPr>
      </p:pic>
      <p:sp>
        <p:nvSpPr>
          <p:cNvPr id="22" name="Text 19"/>
          <p:cNvSpPr/>
          <p:nvPr/>
        </p:nvSpPr>
        <p:spPr>
          <a:xfrm>
            <a:off x="7680960" y="3611880"/>
            <a:ext cx="370332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16.56%</a:t>
            </a:r>
            <a:endParaRPr lang="en-US" sz="3400" dirty="0"/>
          </a:p>
        </p:txBody>
      </p:sp>
      <p:sp>
        <p:nvSpPr>
          <p:cNvPr id="23" name="Text 20"/>
          <p:cNvSpPr/>
          <p:nvPr/>
        </p:nvSpPr>
        <p:spPr>
          <a:xfrm>
            <a:off x="7818120" y="4251960"/>
            <a:ext cx="3429000" cy="640080"/>
          </a:xfrm>
          <a:prstGeom prst="rect">
            <a:avLst/>
          </a:prstGeom>
          <a:noFill/>
          <a:ln/>
        </p:spPr>
        <p:txBody>
          <a:bodyPr wrap="square" lIns="0" tIns="0" rIns="0" bIns="0" rtlCol="0" anchor="ctr"/>
          <a:lstStyle/>
          <a:p>
            <a:pPr algn="ctr" indent="0" marL="0">
              <a:lnSpc>
                <a:spcPct val="115000"/>
              </a:lnSpc>
              <a:buNone/>
            </a:pPr>
            <a:r>
              <a:rPr lang="en-US" sz="1200" dirty="0">
                <a:solidFill>
                  <a:srgbClr val="B9C6D9"/>
                </a:solidFill>
                <a:latin typeface="Calibri" pitchFamily="34" charset="0"/>
                <a:ea typeface="Calibri" pitchFamily="34" charset="-122"/>
                <a:cs typeface="Calibri" pitchFamily="34" charset="-120"/>
              </a:rPr>
              <a:t>of employees in the studied dataset left the organization</a:t>
            </a:r>
            <a:endParaRPr lang="en-US" sz="1200" dirty="0"/>
          </a:p>
        </p:txBody>
      </p:sp>
      <p:sp>
        <p:nvSpPr>
          <p:cNvPr id="24" name="Shape 21"/>
          <p:cNvSpPr/>
          <p:nvPr/>
        </p:nvSpPr>
        <p:spPr>
          <a:xfrm>
            <a:off x="7909560" y="4983480"/>
            <a:ext cx="3246120" cy="0"/>
          </a:xfrm>
          <a:prstGeom prst="line">
            <a:avLst/>
          </a:prstGeom>
          <a:noFill/>
          <a:ln w="12700">
            <a:solidFill>
              <a:srgbClr val="22384F"/>
            </a:solidFill>
            <a:prstDash val="solid"/>
          </a:ln>
        </p:spPr>
      </p:sp>
      <p:sp>
        <p:nvSpPr>
          <p:cNvPr id="25" name="Text 22"/>
          <p:cNvSpPr/>
          <p:nvPr/>
        </p:nvSpPr>
        <p:spPr>
          <a:xfrm>
            <a:off x="7818120" y="5120640"/>
            <a:ext cx="3429000" cy="685800"/>
          </a:xfrm>
          <a:prstGeom prst="rect">
            <a:avLst/>
          </a:prstGeom>
          <a:noFill/>
          <a:ln/>
        </p:spPr>
        <p:txBody>
          <a:bodyPr wrap="square" lIns="0" tIns="0" rIns="0" bIns="0" rtlCol="0" anchor="ctr"/>
          <a:lstStyle/>
          <a:p>
            <a:pPr algn="ctr" indent="0" marL="0">
              <a:lnSpc>
                <a:spcPct val="115000"/>
              </a:lnSpc>
              <a:buNone/>
            </a:pPr>
            <a:r>
              <a:rPr lang="en-US" sz="1100" i="1" dirty="0">
                <a:solidFill>
                  <a:srgbClr val="8FA3BE"/>
                </a:solidFill>
                <a:latin typeface="Calibri" pitchFamily="34" charset="0"/>
                <a:ea typeface="Calibri" pitchFamily="34" charset="-122"/>
                <a:cs typeface="Calibri" pitchFamily="34" charset="-120"/>
              </a:rPr>
              <a:t>a scale that makes manual, case-by-case retention review impractical</a:t>
            </a:r>
            <a:endParaRPr lang="en-US" sz="1100" dirty="0"/>
          </a:p>
        </p:txBody>
      </p:sp>
      <p:sp>
        <p:nvSpPr>
          <p:cNvPr id="26" name="Text 2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7" name="Text 24"/>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02</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94360" y="1737360"/>
            <a:ext cx="10972800" cy="1417320"/>
          </a:xfrm>
          <a:prstGeom prst="roundRect">
            <a:avLst>
              <a:gd name="adj" fmla="val 5161"/>
            </a:avLst>
          </a:prstGeom>
          <a:solidFill>
            <a:srgbClr val="F3F5F8"/>
          </a:solidFill>
          <a:ln w="12700">
            <a:solidFill>
              <a:srgbClr val="E2E6EC"/>
            </a:solidFill>
            <a:prstDash val="solid"/>
          </a:ln>
        </p:spPr>
      </p:sp>
      <p:sp>
        <p:nvSpPr>
          <p:cNvPr id="5" name="Shape 3"/>
          <p:cNvSpPr/>
          <p:nvPr/>
        </p:nvSpPr>
        <p:spPr>
          <a:xfrm>
            <a:off x="1074420" y="2016252"/>
            <a:ext cx="868680" cy="868680"/>
          </a:xfrm>
          <a:prstGeom prst="ellipse">
            <a:avLst/>
          </a:prstGeom>
          <a:solidFill>
            <a:srgbClr val="0E7490"/>
          </a:solidFill>
          <a:ln/>
        </p:spPr>
      </p:sp>
      <p:pic>
        <p:nvPicPr>
          <p:cNvPr id="6" name="Image 0" descr="/home/claude/pptx_build/icons/problem.png">    </p:cNvPr>
          <p:cNvPicPr>
            <a:picLocks noChangeAspect="1"/>
          </p:cNvPicPr>
          <p:nvPr/>
        </p:nvPicPr>
        <p:blipFill>
          <a:blip r:embed="rId1"/>
          <a:stretch>
            <a:fillRect/>
          </a:stretch>
        </p:blipFill>
        <p:spPr>
          <a:xfrm>
            <a:off x="1291590" y="2233422"/>
            <a:ext cx="434340" cy="434340"/>
          </a:xfrm>
          <a:prstGeom prst="rect">
            <a:avLst/>
          </a:prstGeom>
        </p:spPr>
      </p:pic>
      <p:sp>
        <p:nvSpPr>
          <p:cNvPr id="7" name="Text 4"/>
          <p:cNvSpPr/>
          <p:nvPr/>
        </p:nvSpPr>
        <p:spPr>
          <a:xfrm>
            <a:off x="2148840" y="1874520"/>
            <a:ext cx="9052560" cy="1143000"/>
          </a:xfrm>
          <a:prstGeom prst="rect">
            <a:avLst/>
          </a:prstGeom>
          <a:noFill/>
          <a:ln/>
        </p:spPr>
        <p:txBody>
          <a:bodyPr wrap="square" lIns="0" tIns="0" rIns="0" bIns="0" rtlCol="0" anchor="ctr"/>
          <a:lstStyle/>
          <a:p>
            <a:pPr algn="l" indent="0" marL="0">
              <a:lnSpc>
                <a:spcPct val="120000"/>
              </a:lnSpc>
              <a:buNone/>
            </a:pPr>
            <a:r>
              <a:rPr lang="en-US" sz="1650" b="1" i="1" dirty="0">
                <a:solidFill>
                  <a:srgbClr val="0B1F3A"/>
                </a:solidFill>
                <a:latin typeface="Cambria" pitchFamily="34" charset="0"/>
                <a:ea typeface="Cambria" pitchFamily="34" charset="-122"/>
                <a:cs typeface="Cambria" pitchFamily="34" charset="-120"/>
              </a:rPr>
              <a:t>"Attrition is typically discovered only after an employee resigns — by which point the opportunity for intervention has already passed."</a:t>
            </a:r>
            <a:endParaRPr lang="en-US" sz="1650" dirty="0"/>
          </a:p>
        </p:txBody>
      </p:sp>
      <p:sp>
        <p:nvSpPr>
          <p:cNvPr id="8" name="Shape 5"/>
          <p:cNvSpPr/>
          <p:nvPr/>
        </p:nvSpPr>
        <p:spPr>
          <a:xfrm>
            <a:off x="594360" y="3520440"/>
            <a:ext cx="3520440" cy="2331720"/>
          </a:xfrm>
          <a:prstGeom prst="roundRect">
            <a:avLst>
              <a:gd name="adj" fmla="val 3137"/>
            </a:avLst>
          </a:prstGeom>
          <a:solidFill>
            <a:srgbClr val="FFFFFF"/>
          </a:solidFill>
          <a:ln w="12700">
            <a:solidFill>
              <a:srgbClr val="E2E6EC"/>
            </a:solidFill>
            <a:prstDash val="solid"/>
          </a:ln>
          <a:effectLst>
            <a:outerShdw sx="100000" sy="100000" kx="0" ky="0" algn="bl" rotWithShape="0" blurRad="101600" dist="25400" dir="5400000">
              <a:srgbClr val="9AA6B4">
                <a:alpha val="25000"/>
              </a:srgbClr>
            </a:outerShdw>
          </a:effectLst>
        </p:spPr>
      </p:sp>
      <p:sp>
        <p:nvSpPr>
          <p:cNvPr id="9" name="Shape 6"/>
          <p:cNvSpPr/>
          <p:nvPr/>
        </p:nvSpPr>
        <p:spPr>
          <a:xfrm>
            <a:off x="850392" y="3776472"/>
            <a:ext cx="502920" cy="502920"/>
          </a:xfrm>
          <a:prstGeom prst="roundRect">
            <a:avLst>
              <a:gd name="adj" fmla="val 50909"/>
            </a:avLst>
          </a:prstGeom>
          <a:solidFill>
            <a:srgbClr val="0B1F3A"/>
          </a:solidFill>
          <a:ln/>
        </p:spPr>
      </p:sp>
      <p:sp>
        <p:nvSpPr>
          <p:cNvPr id="10" name="Text 7"/>
          <p:cNvSpPr/>
          <p:nvPr/>
        </p:nvSpPr>
        <p:spPr>
          <a:xfrm>
            <a:off x="850392" y="3776472"/>
            <a:ext cx="502920" cy="502920"/>
          </a:xfrm>
          <a:prstGeom prst="rect">
            <a:avLst/>
          </a:prstGeom>
          <a:noFill/>
          <a:ln/>
        </p:spPr>
        <p:txBody>
          <a:bodyPr wrap="square" lIns="0" tIns="0" rIns="0" bIns="0" rtlCol="0" anchor="ctr"/>
          <a:lstStyle/>
          <a:p>
            <a:pPr algn="ctr" indent="0" marL="0">
              <a:buNone/>
            </a:pPr>
            <a:r>
              <a:rPr lang="en-US" sz="1500" b="1" dirty="0">
                <a:solidFill>
                  <a:srgbClr val="22D3EE"/>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850392" y="4416552"/>
            <a:ext cx="3008376" cy="365760"/>
          </a:xfrm>
          <a:prstGeom prst="rect">
            <a:avLst/>
          </a:prstGeom>
          <a:noFill/>
          <a:ln/>
        </p:spPr>
        <p:txBody>
          <a:bodyPr wrap="square" lIns="0" tIns="0" rIns="0" bIns="0" rtlCol="0" anchor="ctr"/>
          <a:lstStyle/>
          <a:p>
            <a:pPr algn="l" indent="0" marL="0">
              <a:buNone/>
            </a:pPr>
            <a:r>
              <a:rPr lang="en-US" sz="1500" b="1" dirty="0">
                <a:solidFill>
                  <a:srgbClr val="0B1F3A"/>
                </a:solidFill>
                <a:latin typeface="Cambria" pitchFamily="34" charset="0"/>
                <a:ea typeface="Cambria" pitchFamily="34" charset="-122"/>
                <a:cs typeface="Cambria" pitchFamily="34" charset="-120"/>
              </a:rPr>
              <a:t>Large Data, No System</a:t>
            </a:r>
            <a:endParaRPr lang="en-US" sz="1500" dirty="0"/>
          </a:p>
        </p:txBody>
      </p:sp>
      <p:sp>
        <p:nvSpPr>
          <p:cNvPr id="12" name="Text 9"/>
          <p:cNvSpPr/>
          <p:nvPr/>
        </p:nvSpPr>
        <p:spPr>
          <a:xfrm>
            <a:off x="850392" y="4800600"/>
            <a:ext cx="3008376" cy="960120"/>
          </a:xfrm>
          <a:prstGeom prst="rect">
            <a:avLst/>
          </a:prstGeom>
          <a:noFill/>
          <a:ln/>
        </p:spPr>
        <p:txBody>
          <a:bodyPr wrap="square" lIns="0" tIns="0" rIns="0" bIns="0" rtlCol="0" anchor="ctr"/>
          <a:lstStyle/>
          <a:p>
            <a:pPr algn="l" indent="0" marL="0">
              <a:lnSpc>
                <a:spcPct val="120000"/>
              </a:lnSpc>
              <a:buNone/>
            </a:pPr>
            <a:r>
              <a:rPr lang="en-US" sz="1150" dirty="0">
                <a:solidFill>
                  <a:srgbClr val="5B6B7F"/>
                </a:solidFill>
                <a:latin typeface="Calibri" pitchFamily="34" charset="0"/>
                <a:ea typeface="Calibri" pitchFamily="34" charset="-122"/>
                <a:cs typeface="Calibri" pitchFamily="34" charset="-120"/>
              </a:rPr>
              <a:t>Multi-plant organizations generate large volumes of HR data but lack systematic tools to convert it into retention insight.</a:t>
            </a:r>
            <a:endParaRPr lang="en-US" sz="1150" dirty="0"/>
          </a:p>
        </p:txBody>
      </p:sp>
      <p:sp>
        <p:nvSpPr>
          <p:cNvPr id="13" name="Shape 10"/>
          <p:cNvSpPr/>
          <p:nvPr/>
        </p:nvSpPr>
        <p:spPr>
          <a:xfrm>
            <a:off x="4315968" y="3520440"/>
            <a:ext cx="3520440" cy="2331720"/>
          </a:xfrm>
          <a:prstGeom prst="roundRect">
            <a:avLst>
              <a:gd name="adj" fmla="val 3137"/>
            </a:avLst>
          </a:prstGeom>
          <a:solidFill>
            <a:srgbClr val="FFFFFF"/>
          </a:solidFill>
          <a:ln w="12700">
            <a:solidFill>
              <a:srgbClr val="E2E6EC"/>
            </a:solidFill>
            <a:prstDash val="solid"/>
          </a:ln>
          <a:effectLst>
            <a:outerShdw sx="100000" sy="100000" kx="0" ky="0" algn="bl" rotWithShape="0" blurRad="101600" dist="25400" dir="5400000">
              <a:srgbClr val="9AA6B4">
                <a:alpha val="25000"/>
              </a:srgbClr>
            </a:outerShdw>
          </a:effectLst>
        </p:spPr>
      </p:sp>
      <p:sp>
        <p:nvSpPr>
          <p:cNvPr id="14" name="Shape 11"/>
          <p:cNvSpPr/>
          <p:nvPr/>
        </p:nvSpPr>
        <p:spPr>
          <a:xfrm>
            <a:off x="4572000" y="3776472"/>
            <a:ext cx="502920" cy="502920"/>
          </a:xfrm>
          <a:prstGeom prst="roundRect">
            <a:avLst>
              <a:gd name="adj" fmla="val 50909"/>
            </a:avLst>
          </a:prstGeom>
          <a:solidFill>
            <a:srgbClr val="0B1F3A"/>
          </a:solidFill>
          <a:ln/>
        </p:spPr>
      </p:sp>
      <p:sp>
        <p:nvSpPr>
          <p:cNvPr id="15" name="Text 12"/>
          <p:cNvSpPr/>
          <p:nvPr/>
        </p:nvSpPr>
        <p:spPr>
          <a:xfrm>
            <a:off x="4572000" y="3776472"/>
            <a:ext cx="502920" cy="502920"/>
          </a:xfrm>
          <a:prstGeom prst="rect">
            <a:avLst/>
          </a:prstGeom>
          <a:noFill/>
          <a:ln/>
        </p:spPr>
        <p:txBody>
          <a:bodyPr wrap="square" lIns="0" tIns="0" rIns="0" bIns="0" rtlCol="0" anchor="ctr"/>
          <a:lstStyle/>
          <a:p>
            <a:pPr algn="ctr" indent="0" marL="0">
              <a:buNone/>
            </a:pPr>
            <a:r>
              <a:rPr lang="en-US" sz="1500" b="1" dirty="0">
                <a:solidFill>
                  <a:srgbClr val="22D3EE"/>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4572000" y="4416552"/>
            <a:ext cx="3008376" cy="365760"/>
          </a:xfrm>
          <a:prstGeom prst="rect">
            <a:avLst/>
          </a:prstGeom>
          <a:noFill/>
          <a:ln/>
        </p:spPr>
        <p:txBody>
          <a:bodyPr wrap="square" lIns="0" tIns="0" rIns="0" bIns="0" rtlCol="0" anchor="ctr"/>
          <a:lstStyle/>
          <a:p>
            <a:pPr algn="l" indent="0" marL="0">
              <a:buNone/>
            </a:pPr>
            <a:r>
              <a:rPr lang="en-US" sz="1500" b="1" dirty="0">
                <a:solidFill>
                  <a:srgbClr val="0B1F3A"/>
                </a:solidFill>
                <a:latin typeface="Cambria" pitchFamily="34" charset="0"/>
                <a:ea typeface="Cambria" pitchFamily="34" charset="-122"/>
                <a:cs typeface="Cambria" pitchFamily="34" charset="-120"/>
              </a:rPr>
              <a:t>Reactive, Not Proactive</a:t>
            </a:r>
            <a:endParaRPr lang="en-US" sz="1500" dirty="0"/>
          </a:p>
        </p:txBody>
      </p:sp>
      <p:sp>
        <p:nvSpPr>
          <p:cNvPr id="17" name="Text 14"/>
          <p:cNvSpPr/>
          <p:nvPr/>
        </p:nvSpPr>
        <p:spPr>
          <a:xfrm>
            <a:off x="4572000" y="4800600"/>
            <a:ext cx="3008376" cy="960120"/>
          </a:xfrm>
          <a:prstGeom prst="rect">
            <a:avLst/>
          </a:prstGeom>
          <a:noFill/>
          <a:ln/>
        </p:spPr>
        <p:txBody>
          <a:bodyPr wrap="square" lIns="0" tIns="0" rIns="0" bIns="0" rtlCol="0" anchor="ctr"/>
          <a:lstStyle/>
          <a:p>
            <a:pPr algn="l" indent="0" marL="0">
              <a:lnSpc>
                <a:spcPct val="120000"/>
              </a:lnSpc>
              <a:buNone/>
            </a:pPr>
            <a:r>
              <a:rPr lang="en-US" sz="1150" dirty="0">
                <a:solidFill>
                  <a:srgbClr val="5B6B7F"/>
                </a:solidFill>
                <a:latin typeface="Calibri" pitchFamily="34" charset="0"/>
                <a:ea typeface="Calibri" pitchFamily="34" charset="-122"/>
                <a:cs typeface="Calibri" pitchFamily="34" charset="-120"/>
              </a:rPr>
              <a:t>Organizations rely on exit interviews after the fact, rather than evidence-based, data-driven retention strategy.</a:t>
            </a:r>
            <a:endParaRPr lang="en-US" sz="1150" dirty="0"/>
          </a:p>
        </p:txBody>
      </p:sp>
      <p:sp>
        <p:nvSpPr>
          <p:cNvPr id="18" name="Shape 15"/>
          <p:cNvSpPr/>
          <p:nvPr/>
        </p:nvSpPr>
        <p:spPr>
          <a:xfrm>
            <a:off x="8037576" y="3520440"/>
            <a:ext cx="3520440" cy="2331720"/>
          </a:xfrm>
          <a:prstGeom prst="roundRect">
            <a:avLst>
              <a:gd name="adj" fmla="val 3137"/>
            </a:avLst>
          </a:prstGeom>
          <a:solidFill>
            <a:srgbClr val="FFFFFF"/>
          </a:solidFill>
          <a:ln w="12700">
            <a:solidFill>
              <a:srgbClr val="E2E6EC"/>
            </a:solidFill>
            <a:prstDash val="solid"/>
          </a:ln>
          <a:effectLst>
            <a:outerShdw sx="100000" sy="100000" kx="0" ky="0" algn="bl" rotWithShape="0" blurRad="101600" dist="25400" dir="5400000">
              <a:srgbClr val="9AA6B4">
                <a:alpha val="25000"/>
              </a:srgbClr>
            </a:outerShdw>
          </a:effectLst>
        </p:spPr>
      </p:sp>
      <p:sp>
        <p:nvSpPr>
          <p:cNvPr id="19" name="Shape 16"/>
          <p:cNvSpPr/>
          <p:nvPr/>
        </p:nvSpPr>
        <p:spPr>
          <a:xfrm>
            <a:off x="8293608" y="3776472"/>
            <a:ext cx="502920" cy="502920"/>
          </a:xfrm>
          <a:prstGeom prst="roundRect">
            <a:avLst>
              <a:gd name="adj" fmla="val 50909"/>
            </a:avLst>
          </a:prstGeom>
          <a:solidFill>
            <a:srgbClr val="0B1F3A"/>
          </a:solidFill>
          <a:ln/>
        </p:spPr>
      </p:sp>
      <p:sp>
        <p:nvSpPr>
          <p:cNvPr id="20" name="Text 17"/>
          <p:cNvSpPr/>
          <p:nvPr/>
        </p:nvSpPr>
        <p:spPr>
          <a:xfrm>
            <a:off x="8293608" y="3776472"/>
            <a:ext cx="502920" cy="502920"/>
          </a:xfrm>
          <a:prstGeom prst="rect">
            <a:avLst/>
          </a:prstGeom>
          <a:noFill/>
          <a:ln/>
        </p:spPr>
        <p:txBody>
          <a:bodyPr wrap="square" lIns="0" tIns="0" rIns="0" bIns="0" rtlCol="0" anchor="ctr"/>
          <a:lstStyle/>
          <a:p>
            <a:pPr algn="ctr" indent="0" marL="0">
              <a:buNone/>
            </a:pPr>
            <a:r>
              <a:rPr lang="en-US" sz="1500" b="1" dirty="0">
                <a:solidFill>
                  <a:srgbClr val="22D3EE"/>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8293608" y="4416552"/>
            <a:ext cx="3008376" cy="365760"/>
          </a:xfrm>
          <a:prstGeom prst="rect">
            <a:avLst/>
          </a:prstGeom>
          <a:noFill/>
          <a:ln/>
        </p:spPr>
        <p:txBody>
          <a:bodyPr wrap="square" lIns="0" tIns="0" rIns="0" bIns="0" rtlCol="0" anchor="ctr"/>
          <a:lstStyle/>
          <a:p>
            <a:pPr algn="l" indent="0" marL="0">
              <a:buNone/>
            </a:pPr>
            <a:r>
              <a:rPr lang="en-US" sz="1500" b="1" dirty="0">
                <a:solidFill>
                  <a:srgbClr val="0B1F3A"/>
                </a:solidFill>
                <a:latin typeface="Cambria" pitchFamily="34" charset="0"/>
                <a:ea typeface="Cambria" pitchFamily="34" charset="-122"/>
                <a:cs typeface="Cambria" pitchFamily="34" charset="-120"/>
              </a:rPr>
              <a:t>A Foundational Gap</a:t>
            </a:r>
            <a:endParaRPr lang="en-US" sz="1500" dirty="0"/>
          </a:p>
        </p:txBody>
      </p:sp>
      <p:sp>
        <p:nvSpPr>
          <p:cNvPr id="22" name="Text 19"/>
          <p:cNvSpPr/>
          <p:nvPr/>
        </p:nvSpPr>
        <p:spPr>
          <a:xfrm>
            <a:off x="8293608" y="4800600"/>
            <a:ext cx="3008376" cy="960120"/>
          </a:xfrm>
          <a:prstGeom prst="rect">
            <a:avLst/>
          </a:prstGeom>
          <a:noFill/>
          <a:ln/>
        </p:spPr>
        <p:txBody>
          <a:bodyPr wrap="square" lIns="0" tIns="0" rIns="0" bIns="0" rtlCol="0" anchor="ctr"/>
          <a:lstStyle/>
          <a:p>
            <a:pPr algn="l" indent="0" marL="0">
              <a:lnSpc>
                <a:spcPct val="120000"/>
              </a:lnSpc>
              <a:buNone/>
            </a:pPr>
            <a:r>
              <a:rPr lang="en-US" sz="1150" dirty="0">
                <a:solidFill>
                  <a:srgbClr val="5B6B7F"/>
                </a:solidFill>
                <a:latin typeface="Calibri" pitchFamily="34" charset="0"/>
                <a:ea typeface="Calibri" pitchFamily="34" charset="-122"/>
                <a:cs typeface="Calibri" pitchFamily="34" charset="-120"/>
              </a:rPr>
              <a:t>A structured method to identify attrition-linked factors from historical records is still missing for industrial HR teams.</a:t>
            </a:r>
            <a:endParaRPr lang="en-US" sz="1150" dirty="0"/>
          </a:p>
        </p:txBody>
      </p:sp>
      <p:sp>
        <p:nvSpPr>
          <p:cNvPr id="23" name="Text 20"/>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4" name="Text 21"/>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03</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94360" y="1737360"/>
            <a:ext cx="3566160" cy="1965960"/>
          </a:xfrm>
          <a:prstGeom prst="roundRect">
            <a:avLst>
              <a:gd name="adj" fmla="val 3721"/>
            </a:avLst>
          </a:prstGeom>
          <a:solidFill>
            <a:srgbClr val="F3F5F8"/>
          </a:solidFill>
          <a:ln w="12700">
            <a:solidFill>
              <a:srgbClr val="E2E6EC"/>
            </a:solidFill>
            <a:prstDash val="solid"/>
          </a:ln>
        </p:spPr>
      </p:sp>
      <p:sp>
        <p:nvSpPr>
          <p:cNvPr id="5" name="Shape 3"/>
          <p:cNvSpPr/>
          <p:nvPr/>
        </p:nvSpPr>
        <p:spPr>
          <a:xfrm>
            <a:off x="832104" y="1975104"/>
            <a:ext cx="658368" cy="658368"/>
          </a:xfrm>
          <a:prstGeom prst="ellipse">
            <a:avLst/>
          </a:prstGeom>
          <a:solidFill>
            <a:srgbClr val="0E7490"/>
          </a:solidFill>
          <a:ln/>
        </p:spPr>
      </p:sp>
      <p:pic>
        <p:nvPicPr>
          <p:cNvPr id="6" name="Image 0" descr="/home/claude/pptx_build/icons/target.png">    </p:cNvPr>
          <p:cNvPicPr>
            <a:picLocks noChangeAspect="1"/>
          </p:cNvPicPr>
          <p:nvPr/>
        </p:nvPicPr>
        <p:blipFill>
          <a:blip r:embed="rId1"/>
          <a:stretch>
            <a:fillRect/>
          </a:stretch>
        </p:blipFill>
        <p:spPr>
          <a:xfrm>
            <a:off x="996696" y="2139696"/>
            <a:ext cx="329184" cy="329184"/>
          </a:xfrm>
          <a:prstGeom prst="rect">
            <a:avLst/>
          </a:prstGeom>
        </p:spPr>
      </p:pic>
      <p:sp>
        <p:nvSpPr>
          <p:cNvPr id="7" name="Text 4"/>
          <p:cNvSpPr/>
          <p:nvPr/>
        </p:nvSpPr>
        <p:spPr>
          <a:xfrm>
            <a:off x="1645920" y="193852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Identify &amp; Justify Dataset</a:t>
            </a:r>
            <a:endParaRPr lang="en-US" sz="1350" dirty="0"/>
          </a:p>
        </p:txBody>
      </p:sp>
      <p:sp>
        <p:nvSpPr>
          <p:cNvPr id="8" name="Text 5"/>
          <p:cNvSpPr/>
          <p:nvPr/>
        </p:nvSpPr>
        <p:spPr>
          <a:xfrm>
            <a:off x="850392" y="269748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Select an anonymized, multi-plant HR dataset suitable for studying attrition.</a:t>
            </a:r>
            <a:endParaRPr lang="en-US" sz="1100" dirty="0"/>
          </a:p>
        </p:txBody>
      </p:sp>
      <p:sp>
        <p:nvSpPr>
          <p:cNvPr id="9" name="Shape 6"/>
          <p:cNvSpPr/>
          <p:nvPr/>
        </p:nvSpPr>
        <p:spPr>
          <a:xfrm>
            <a:off x="4389120" y="1737360"/>
            <a:ext cx="3566160" cy="1965960"/>
          </a:xfrm>
          <a:prstGeom prst="roundRect">
            <a:avLst>
              <a:gd name="adj" fmla="val 3721"/>
            </a:avLst>
          </a:prstGeom>
          <a:solidFill>
            <a:srgbClr val="F3F5F8"/>
          </a:solidFill>
          <a:ln w="12700">
            <a:solidFill>
              <a:srgbClr val="E2E6EC"/>
            </a:solidFill>
            <a:prstDash val="solid"/>
          </a:ln>
        </p:spPr>
      </p:sp>
      <p:sp>
        <p:nvSpPr>
          <p:cNvPr id="10" name="Shape 7"/>
          <p:cNvSpPr/>
          <p:nvPr/>
        </p:nvSpPr>
        <p:spPr>
          <a:xfrm>
            <a:off x="4626864" y="1975104"/>
            <a:ext cx="658368" cy="658368"/>
          </a:xfrm>
          <a:prstGeom prst="ellipse">
            <a:avLst/>
          </a:prstGeom>
          <a:solidFill>
            <a:srgbClr val="0E7490"/>
          </a:solidFill>
          <a:ln/>
        </p:spPr>
      </p:sp>
      <p:pic>
        <p:nvPicPr>
          <p:cNvPr id="11" name="Image 1" descr="/home/claude/pptx_build/icons/understanding.png">    </p:cNvPr>
          <p:cNvPicPr>
            <a:picLocks noChangeAspect="1"/>
          </p:cNvPicPr>
          <p:nvPr/>
        </p:nvPicPr>
        <p:blipFill>
          <a:blip r:embed="rId2"/>
          <a:stretch>
            <a:fillRect/>
          </a:stretch>
        </p:blipFill>
        <p:spPr>
          <a:xfrm>
            <a:off x="4791456" y="2139696"/>
            <a:ext cx="329184" cy="329184"/>
          </a:xfrm>
          <a:prstGeom prst="rect">
            <a:avLst/>
          </a:prstGeom>
        </p:spPr>
      </p:pic>
      <p:sp>
        <p:nvSpPr>
          <p:cNvPr id="12" name="Text 8"/>
          <p:cNvSpPr/>
          <p:nvPr/>
        </p:nvSpPr>
        <p:spPr>
          <a:xfrm>
            <a:off x="5440680" y="193852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Understand the Structure</a:t>
            </a:r>
            <a:endParaRPr lang="en-US" sz="1350" dirty="0"/>
          </a:p>
        </p:txBody>
      </p:sp>
      <p:sp>
        <p:nvSpPr>
          <p:cNvPr id="13" name="Text 9"/>
          <p:cNvSpPr/>
          <p:nvPr/>
        </p:nvSpPr>
        <p:spPr>
          <a:xfrm>
            <a:off x="4645152" y="269748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Analyze features, data types, and scale of the 50,000-record dataset.</a:t>
            </a:r>
            <a:endParaRPr lang="en-US" sz="1100" dirty="0"/>
          </a:p>
        </p:txBody>
      </p:sp>
      <p:sp>
        <p:nvSpPr>
          <p:cNvPr id="14" name="Shape 10"/>
          <p:cNvSpPr/>
          <p:nvPr/>
        </p:nvSpPr>
        <p:spPr>
          <a:xfrm>
            <a:off x="8183880" y="1737360"/>
            <a:ext cx="3566160" cy="1965960"/>
          </a:xfrm>
          <a:prstGeom prst="roundRect">
            <a:avLst>
              <a:gd name="adj" fmla="val 3721"/>
            </a:avLst>
          </a:prstGeom>
          <a:solidFill>
            <a:srgbClr val="F3F5F8"/>
          </a:solidFill>
          <a:ln w="12700">
            <a:solidFill>
              <a:srgbClr val="E2E6EC"/>
            </a:solidFill>
            <a:prstDash val="solid"/>
          </a:ln>
        </p:spPr>
      </p:sp>
      <p:sp>
        <p:nvSpPr>
          <p:cNvPr id="15" name="Shape 11"/>
          <p:cNvSpPr/>
          <p:nvPr/>
        </p:nvSpPr>
        <p:spPr>
          <a:xfrm>
            <a:off x="8421624" y="1975104"/>
            <a:ext cx="658368" cy="658368"/>
          </a:xfrm>
          <a:prstGeom prst="ellipse">
            <a:avLst/>
          </a:prstGeom>
          <a:solidFill>
            <a:srgbClr val="0E7490"/>
          </a:solidFill>
          <a:ln/>
        </p:spPr>
      </p:sp>
      <p:pic>
        <p:nvPicPr>
          <p:cNvPr id="16" name="Image 2" descr="/home/claude/pptx_build/icons/feature.png">    </p:cNvPr>
          <p:cNvPicPr>
            <a:picLocks noChangeAspect="1"/>
          </p:cNvPicPr>
          <p:nvPr/>
        </p:nvPicPr>
        <p:blipFill>
          <a:blip r:embed="rId3"/>
          <a:stretch>
            <a:fillRect/>
          </a:stretch>
        </p:blipFill>
        <p:spPr>
          <a:xfrm>
            <a:off x="8586216" y="2139696"/>
            <a:ext cx="329184" cy="329184"/>
          </a:xfrm>
          <a:prstGeom prst="rect">
            <a:avLst/>
          </a:prstGeom>
        </p:spPr>
      </p:pic>
      <p:sp>
        <p:nvSpPr>
          <p:cNvPr id="17" name="Text 12"/>
          <p:cNvSpPr/>
          <p:nvPr/>
        </p:nvSpPr>
        <p:spPr>
          <a:xfrm>
            <a:off x="9235440" y="193852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Preprocess the Data</a:t>
            </a:r>
            <a:endParaRPr lang="en-US" sz="1350" dirty="0"/>
          </a:p>
        </p:txBody>
      </p:sp>
      <p:sp>
        <p:nvSpPr>
          <p:cNvPr id="18" name="Text 13"/>
          <p:cNvSpPr/>
          <p:nvPr/>
        </p:nvSpPr>
        <p:spPr>
          <a:xfrm>
            <a:off x="8439912" y="269748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Handle missing values, duplicates, encoding, and feature transformation.</a:t>
            </a:r>
            <a:endParaRPr lang="en-US" sz="1100" dirty="0"/>
          </a:p>
        </p:txBody>
      </p:sp>
      <p:sp>
        <p:nvSpPr>
          <p:cNvPr id="19" name="Shape 14"/>
          <p:cNvSpPr/>
          <p:nvPr/>
        </p:nvSpPr>
        <p:spPr>
          <a:xfrm>
            <a:off x="594360" y="3931920"/>
            <a:ext cx="3566160" cy="1965960"/>
          </a:xfrm>
          <a:prstGeom prst="roundRect">
            <a:avLst>
              <a:gd name="adj" fmla="val 3721"/>
            </a:avLst>
          </a:prstGeom>
          <a:solidFill>
            <a:srgbClr val="F3F5F8"/>
          </a:solidFill>
          <a:ln w="12700">
            <a:solidFill>
              <a:srgbClr val="E2E6EC"/>
            </a:solidFill>
            <a:prstDash val="solid"/>
          </a:ln>
        </p:spPr>
      </p:sp>
      <p:sp>
        <p:nvSpPr>
          <p:cNvPr id="20" name="Shape 15"/>
          <p:cNvSpPr/>
          <p:nvPr/>
        </p:nvSpPr>
        <p:spPr>
          <a:xfrm>
            <a:off x="832104" y="4169664"/>
            <a:ext cx="658368" cy="658368"/>
          </a:xfrm>
          <a:prstGeom prst="ellipse">
            <a:avLst/>
          </a:prstGeom>
          <a:solidFill>
            <a:srgbClr val="0E7490"/>
          </a:solidFill>
          <a:ln/>
        </p:spPr>
      </p:sp>
      <p:pic>
        <p:nvPicPr>
          <p:cNvPr id="21" name="Image 3" descr="/home/claude/pptx_build/icons/eda.png">    </p:cNvPr>
          <p:cNvPicPr>
            <a:picLocks noChangeAspect="1"/>
          </p:cNvPicPr>
          <p:nvPr/>
        </p:nvPicPr>
        <p:blipFill>
          <a:blip r:embed="rId4"/>
          <a:stretch>
            <a:fillRect/>
          </a:stretch>
        </p:blipFill>
        <p:spPr>
          <a:xfrm>
            <a:off x="996696" y="4334256"/>
            <a:ext cx="329184" cy="329184"/>
          </a:xfrm>
          <a:prstGeom prst="rect">
            <a:avLst/>
          </a:prstGeom>
        </p:spPr>
      </p:pic>
      <p:sp>
        <p:nvSpPr>
          <p:cNvPr id="22" name="Text 16"/>
          <p:cNvSpPr/>
          <p:nvPr/>
        </p:nvSpPr>
        <p:spPr>
          <a:xfrm>
            <a:off x="1645920" y="413308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Visualize in R</a:t>
            </a:r>
            <a:endParaRPr lang="en-US" sz="1350" dirty="0"/>
          </a:p>
        </p:txBody>
      </p:sp>
      <p:sp>
        <p:nvSpPr>
          <p:cNvPr id="23" name="Text 17"/>
          <p:cNvSpPr/>
          <p:nvPr/>
        </p:nvSpPr>
        <p:spPr>
          <a:xfrm>
            <a:off x="850392" y="489204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Generate informative visualizations of employee characteristics and patterns.</a:t>
            </a:r>
            <a:endParaRPr lang="en-US" sz="1100" dirty="0"/>
          </a:p>
        </p:txBody>
      </p:sp>
      <p:sp>
        <p:nvSpPr>
          <p:cNvPr id="24" name="Shape 18"/>
          <p:cNvSpPr/>
          <p:nvPr/>
        </p:nvSpPr>
        <p:spPr>
          <a:xfrm>
            <a:off x="4389120" y="3931920"/>
            <a:ext cx="3566160" cy="1965960"/>
          </a:xfrm>
          <a:prstGeom prst="roundRect">
            <a:avLst>
              <a:gd name="adj" fmla="val 3721"/>
            </a:avLst>
          </a:prstGeom>
          <a:solidFill>
            <a:srgbClr val="F3F5F8"/>
          </a:solidFill>
          <a:ln w="12700">
            <a:solidFill>
              <a:srgbClr val="E2E6EC"/>
            </a:solidFill>
            <a:prstDash val="solid"/>
          </a:ln>
        </p:spPr>
      </p:sp>
      <p:sp>
        <p:nvSpPr>
          <p:cNvPr id="25" name="Shape 19"/>
          <p:cNvSpPr/>
          <p:nvPr/>
        </p:nvSpPr>
        <p:spPr>
          <a:xfrm>
            <a:off x="4626864" y="4169664"/>
            <a:ext cx="658368" cy="658368"/>
          </a:xfrm>
          <a:prstGeom prst="ellipse">
            <a:avLst/>
          </a:prstGeom>
          <a:solidFill>
            <a:srgbClr val="0E7490"/>
          </a:solidFill>
          <a:ln/>
        </p:spPr>
      </p:sp>
      <p:pic>
        <p:nvPicPr>
          <p:cNvPr id="26" name="Image 4" descr="/home/claude/pptx_build/icons/findings.png">    </p:cNvPr>
          <p:cNvPicPr>
            <a:picLocks noChangeAspect="1"/>
          </p:cNvPicPr>
          <p:nvPr/>
        </p:nvPicPr>
        <p:blipFill>
          <a:blip r:embed="rId5"/>
          <a:stretch>
            <a:fillRect/>
          </a:stretch>
        </p:blipFill>
        <p:spPr>
          <a:xfrm>
            <a:off x="4791456" y="4334256"/>
            <a:ext cx="329184" cy="329184"/>
          </a:xfrm>
          <a:prstGeom prst="rect">
            <a:avLst/>
          </a:prstGeom>
        </p:spPr>
      </p:pic>
      <p:sp>
        <p:nvSpPr>
          <p:cNvPr id="27" name="Text 20"/>
          <p:cNvSpPr/>
          <p:nvPr/>
        </p:nvSpPr>
        <p:spPr>
          <a:xfrm>
            <a:off x="5440680" y="413308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Summarize Insights</a:t>
            </a:r>
            <a:endParaRPr lang="en-US" sz="1350" dirty="0"/>
          </a:p>
        </p:txBody>
      </p:sp>
      <p:sp>
        <p:nvSpPr>
          <p:cNvPr id="28" name="Text 21"/>
          <p:cNvSpPr/>
          <p:nvPr/>
        </p:nvSpPr>
        <p:spPr>
          <a:xfrm>
            <a:off x="4645152" y="489204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Distill EDA findings into preliminary attrition-linked attributes.</a:t>
            </a:r>
            <a:endParaRPr lang="en-US" sz="1100" dirty="0"/>
          </a:p>
        </p:txBody>
      </p:sp>
      <p:sp>
        <p:nvSpPr>
          <p:cNvPr id="29" name="Shape 22"/>
          <p:cNvSpPr/>
          <p:nvPr/>
        </p:nvSpPr>
        <p:spPr>
          <a:xfrm>
            <a:off x="8183880" y="3931920"/>
            <a:ext cx="3566160" cy="1965960"/>
          </a:xfrm>
          <a:prstGeom prst="roundRect">
            <a:avLst>
              <a:gd name="adj" fmla="val 3721"/>
            </a:avLst>
          </a:prstGeom>
          <a:solidFill>
            <a:srgbClr val="F3F5F8"/>
          </a:solidFill>
          <a:ln w="12700">
            <a:solidFill>
              <a:srgbClr val="E2E6EC"/>
            </a:solidFill>
            <a:prstDash val="solid"/>
          </a:ln>
        </p:spPr>
      </p:sp>
      <p:sp>
        <p:nvSpPr>
          <p:cNvPr id="30" name="Shape 23"/>
          <p:cNvSpPr/>
          <p:nvPr/>
        </p:nvSpPr>
        <p:spPr>
          <a:xfrm>
            <a:off x="8421624" y="4169664"/>
            <a:ext cx="658368" cy="658368"/>
          </a:xfrm>
          <a:prstGeom prst="ellipse">
            <a:avLst/>
          </a:prstGeom>
          <a:solidFill>
            <a:srgbClr val="0E7490"/>
          </a:solidFill>
          <a:ln/>
        </p:spPr>
      </p:sp>
      <p:pic>
        <p:nvPicPr>
          <p:cNvPr id="31" name="Image 5" descr="/home/claude/pptx_build/icons/workflow.png">    </p:cNvPr>
          <p:cNvPicPr>
            <a:picLocks noChangeAspect="1"/>
          </p:cNvPicPr>
          <p:nvPr/>
        </p:nvPicPr>
        <p:blipFill>
          <a:blip r:embed="rId6"/>
          <a:stretch>
            <a:fillRect/>
          </a:stretch>
        </p:blipFill>
        <p:spPr>
          <a:xfrm>
            <a:off x="8586216" y="4334256"/>
            <a:ext cx="329184" cy="329184"/>
          </a:xfrm>
          <a:prstGeom prst="rect">
            <a:avLst/>
          </a:prstGeom>
        </p:spPr>
      </p:pic>
      <p:sp>
        <p:nvSpPr>
          <p:cNvPr id="32" name="Text 24"/>
          <p:cNvSpPr/>
          <p:nvPr/>
        </p:nvSpPr>
        <p:spPr>
          <a:xfrm>
            <a:off x="9235440" y="4133088"/>
            <a:ext cx="2331720" cy="685800"/>
          </a:xfrm>
          <a:prstGeom prst="rect">
            <a:avLst/>
          </a:prstGeom>
          <a:noFill/>
          <a:ln/>
        </p:spPr>
        <p:txBody>
          <a:bodyPr wrap="square" lIns="0" tIns="0" rIns="0" bIns="0" rtlCol="0" anchor="t"/>
          <a:lstStyle/>
          <a:p>
            <a:pPr algn="l" indent="0" marL="0">
              <a:lnSpc>
                <a:spcPct val="105000"/>
              </a:lnSpc>
              <a:buNone/>
            </a:pPr>
            <a:r>
              <a:rPr lang="en-US" sz="1350" b="1" dirty="0">
                <a:solidFill>
                  <a:srgbClr val="0B1F3A"/>
                </a:solidFill>
                <a:latin typeface="Cambria" pitchFamily="34" charset="0"/>
                <a:ea typeface="Cambria" pitchFamily="34" charset="-122"/>
                <a:cs typeface="Cambria" pitchFamily="34" charset="-120"/>
              </a:rPr>
              <a:t>Build the Foundation</a:t>
            </a:r>
            <a:endParaRPr lang="en-US" sz="1350" dirty="0"/>
          </a:p>
        </p:txBody>
      </p:sp>
      <p:sp>
        <p:nvSpPr>
          <p:cNvPr id="33" name="Text 25"/>
          <p:cNvSpPr/>
          <p:nvPr/>
        </p:nvSpPr>
        <p:spPr>
          <a:xfrm>
            <a:off x="8439912" y="4892040"/>
            <a:ext cx="3054096" cy="914400"/>
          </a:xfrm>
          <a:prstGeom prst="rect">
            <a:avLst/>
          </a:prstGeom>
          <a:noFill/>
          <a:ln/>
        </p:spPr>
        <p:txBody>
          <a:bodyPr wrap="square" lIns="0" tIns="0" rIns="0" bIns="0" rtlCol="0" anchor="ctr"/>
          <a:lstStyle/>
          <a:p>
            <a:pPr algn="l" indent="0" marL="0">
              <a:lnSpc>
                <a:spcPct val="120000"/>
              </a:lnSpc>
              <a:buNone/>
            </a:pPr>
            <a:r>
              <a:rPr lang="en-US" sz="1100" dirty="0">
                <a:solidFill>
                  <a:srgbClr val="5B6B7F"/>
                </a:solidFill>
                <a:latin typeface="Calibri" pitchFamily="34" charset="0"/>
                <a:ea typeface="Calibri" pitchFamily="34" charset="-122"/>
                <a:cs typeface="Calibri" pitchFamily="34" charset="-120"/>
              </a:rPr>
              <a:t>Establish a clean, well-understood dataset for the next analysis phase.</a:t>
            </a:r>
            <a:endParaRPr lang="en-US" sz="1100" dirty="0"/>
          </a:p>
        </p:txBody>
      </p:sp>
      <p:sp>
        <p:nvSpPr>
          <p:cNvPr id="34" name="Text 2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35" name="Text 27"/>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04</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Dataset Overview</a:t>
            </a:r>
            <a:endParaRPr lang="en-US" sz="3200" dirty="0"/>
          </a:p>
        </p:txBody>
      </p:sp>
      <p:sp>
        <p:nvSpPr>
          <p:cNvPr id="4" name="Shape 2"/>
          <p:cNvSpPr/>
          <p:nvPr/>
        </p:nvSpPr>
        <p:spPr>
          <a:xfrm>
            <a:off x="594360" y="1783080"/>
            <a:ext cx="2606040" cy="1691640"/>
          </a:xfrm>
          <a:prstGeom prst="roundRect">
            <a:avLst>
              <a:gd name="adj" fmla="val 4324"/>
            </a:avLst>
          </a:prstGeom>
          <a:solidFill>
            <a:srgbClr val="0B1F3A"/>
          </a:solidFill>
          <a:ln/>
        </p:spPr>
      </p:sp>
      <p:sp>
        <p:nvSpPr>
          <p:cNvPr id="5" name="Text 3"/>
          <p:cNvSpPr/>
          <p:nvPr/>
        </p:nvSpPr>
        <p:spPr>
          <a:xfrm>
            <a:off x="594360" y="1984248"/>
            <a:ext cx="2606040" cy="777240"/>
          </a:xfrm>
          <a:prstGeom prst="rect">
            <a:avLst/>
          </a:prstGeom>
          <a:noFill/>
          <a:ln/>
        </p:spPr>
        <p:txBody>
          <a:bodyPr wrap="square" lIns="0" tIns="0" rIns="0" bIns="0" rtlCol="0" anchor="ctr"/>
          <a:lstStyle/>
          <a:p>
            <a:pPr algn="ctr" indent="0" marL="0">
              <a:buNone/>
            </a:pPr>
            <a:r>
              <a:rPr lang="en-US" sz="3000" b="1" dirty="0">
                <a:solidFill>
                  <a:srgbClr val="22D3EE"/>
                </a:solidFill>
                <a:latin typeface="Cambria" pitchFamily="34" charset="0"/>
                <a:ea typeface="Cambria" pitchFamily="34" charset="-122"/>
                <a:cs typeface="Cambria" pitchFamily="34" charset="-120"/>
              </a:rPr>
              <a:t>50,000</a:t>
            </a:r>
            <a:endParaRPr lang="en-US" sz="3000" dirty="0"/>
          </a:p>
        </p:txBody>
      </p:sp>
      <p:sp>
        <p:nvSpPr>
          <p:cNvPr id="6" name="Text 4"/>
          <p:cNvSpPr/>
          <p:nvPr/>
        </p:nvSpPr>
        <p:spPr>
          <a:xfrm>
            <a:off x="594360" y="2807208"/>
            <a:ext cx="2606040" cy="502920"/>
          </a:xfrm>
          <a:prstGeom prst="rect">
            <a:avLst/>
          </a:prstGeom>
          <a:noFill/>
          <a:ln/>
        </p:spPr>
        <p:txBody>
          <a:bodyPr wrap="square" lIns="0" tIns="0" rIns="0" bIns="0" rtlCol="0" anchor="ctr"/>
          <a:lstStyle/>
          <a:p>
            <a:pPr algn="ctr" indent="0" marL="0">
              <a:lnSpc>
                <a:spcPct val="110000"/>
              </a:lnSpc>
              <a:buNone/>
            </a:pPr>
            <a:r>
              <a:rPr lang="en-US" sz="1200" dirty="0">
                <a:solidFill>
                  <a:srgbClr val="C7D3E3"/>
                </a:solidFill>
                <a:latin typeface="Calibri" pitchFamily="34" charset="0"/>
                <a:ea typeface="Calibri" pitchFamily="34" charset="-122"/>
                <a:cs typeface="Calibri" pitchFamily="34" charset="-120"/>
              </a:rPr>
              <a:t>Employee Records</a:t>
            </a:r>
            <a:endParaRPr lang="en-US" sz="1200" dirty="0"/>
          </a:p>
        </p:txBody>
      </p:sp>
      <p:sp>
        <p:nvSpPr>
          <p:cNvPr id="7" name="Shape 5"/>
          <p:cNvSpPr/>
          <p:nvPr/>
        </p:nvSpPr>
        <p:spPr>
          <a:xfrm>
            <a:off x="3419856" y="1783080"/>
            <a:ext cx="2606040" cy="1691640"/>
          </a:xfrm>
          <a:prstGeom prst="roundRect">
            <a:avLst>
              <a:gd name="adj" fmla="val 4324"/>
            </a:avLst>
          </a:prstGeom>
          <a:solidFill>
            <a:srgbClr val="0B1F3A"/>
          </a:solidFill>
          <a:ln/>
        </p:spPr>
      </p:sp>
      <p:sp>
        <p:nvSpPr>
          <p:cNvPr id="8" name="Text 6"/>
          <p:cNvSpPr/>
          <p:nvPr/>
        </p:nvSpPr>
        <p:spPr>
          <a:xfrm>
            <a:off x="3419856" y="1984248"/>
            <a:ext cx="2606040" cy="777240"/>
          </a:xfrm>
          <a:prstGeom prst="rect">
            <a:avLst/>
          </a:prstGeom>
          <a:noFill/>
          <a:ln/>
        </p:spPr>
        <p:txBody>
          <a:bodyPr wrap="square" lIns="0" tIns="0" rIns="0" bIns="0" rtlCol="0" anchor="ctr"/>
          <a:lstStyle/>
          <a:p>
            <a:pPr algn="ctr" indent="0" marL="0">
              <a:buNone/>
            </a:pPr>
            <a:r>
              <a:rPr lang="en-US" sz="3000" b="1" dirty="0">
                <a:solidFill>
                  <a:srgbClr val="22D3EE"/>
                </a:solidFill>
                <a:latin typeface="Cambria" pitchFamily="34" charset="0"/>
                <a:ea typeface="Cambria" pitchFamily="34" charset="-122"/>
                <a:cs typeface="Cambria" pitchFamily="34" charset="-120"/>
              </a:rPr>
              <a:t>21</a:t>
            </a:r>
            <a:endParaRPr lang="en-US" sz="3000" dirty="0"/>
          </a:p>
        </p:txBody>
      </p:sp>
      <p:sp>
        <p:nvSpPr>
          <p:cNvPr id="9" name="Text 7"/>
          <p:cNvSpPr/>
          <p:nvPr/>
        </p:nvSpPr>
        <p:spPr>
          <a:xfrm>
            <a:off x="3419856" y="2807208"/>
            <a:ext cx="2606040" cy="502920"/>
          </a:xfrm>
          <a:prstGeom prst="rect">
            <a:avLst/>
          </a:prstGeom>
          <a:noFill/>
          <a:ln/>
        </p:spPr>
        <p:txBody>
          <a:bodyPr wrap="square" lIns="0" tIns="0" rIns="0" bIns="0" rtlCol="0" anchor="ctr"/>
          <a:lstStyle/>
          <a:p>
            <a:pPr algn="ctr" indent="0" marL="0">
              <a:lnSpc>
                <a:spcPct val="110000"/>
              </a:lnSpc>
              <a:buNone/>
            </a:pPr>
            <a:r>
              <a:rPr lang="en-US" sz="1200" dirty="0">
                <a:solidFill>
                  <a:srgbClr val="C7D3E3"/>
                </a:solidFill>
                <a:latin typeface="Calibri" pitchFamily="34" charset="0"/>
                <a:ea typeface="Calibri" pitchFamily="34" charset="-122"/>
                <a:cs typeface="Calibri" pitchFamily="34" charset="-120"/>
              </a:rPr>
              <a:t>Features</a:t>
            </a:r>
            <a:endParaRPr lang="en-US" sz="1200" dirty="0"/>
          </a:p>
        </p:txBody>
      </p:sp>
      <p:sp>
        <p:nvSpPr>
          <p:cNvPr id="10" name="Shape 8"/>
          <p:cNvSpPr/>
          <p:nvPr/>
        </p:nvSpPr>
        <p:spPr>
          <a:xfrm>
            <a:off x="6245352" y="1783080"/>
            <a:ext cx="2606040" cy="1691640"/>
          </a:xfrm>
          <a:prstGeom prst="roundRect">
            <a:avLst>
              <a:gd name="adj" fmla="val 4324"/>
            </a:avLst>
          </a:prstGeom>
          <a:solidFill>
            <a:srgbClr val="0B1F3A"/>
          </a:solidFill>
          <a:ln/>
        </p:spPr>
      </p:sp>
      <p:sp>
        <p:nvSpPr>
          <p:cNvPr id="11" name="Text 9"/>
          <p:cNvSpPr/>
          <p:nvPr/>
        </p:nvSpPr>
        <p:spPr>
          <a:xfrm>
            <a:off x="6245352" y="1984248"/>
            <a:ext cx="2606040" cy="777240"/>
          </a:xfrm>
          <a:prstGeom prst="rect">
            <a:avLst/>
          </a:prstGeom>
          <a:noFill/>
          <a:ln/>
        </p:spPr>
        <p:txBody>
          <a:bodyPr wrap="square" lIns="0" tIns="0" rIns="0" bIns="0" rtlCol="0" anchor="ctr"/>
          <a:lstStyle/>
          <a:p>
            <a:pPr algn="ctr" indent="0" marL="0">
              <a:buNone/>
            </a:pPr>
            <a:r>
              <a:rPr lang="en-US" sz="3000" b="1" dirty="0">
                <a:solidFill>
                  <a:srgbClr val="22D3EE"/>
                </a:solidFill>
                <a:latin typeface="Cambria" pitchFamily="34" charset="0"/>
                <a:ea typeface="Cambria" pitchFamily="34" charset="-122"/>
                <a:cs typeface="Cambria" pitchFamily="34" charset="-120"/>
              </a:rPr>
              <a:t>6</a:t>
            </a:r>
            <a:endParaRPr lang="en-US" sz="3000" dirty="0"/>
          </a:p>
        </p:txBody>
      </p:sp>
      <p:sp>
        <p:nvSpPr>
          <p:cNvPr id="12" name="Text 10"/>
          <p:cNvSpPr/>
          <p:nvPr/>
        </p:nvSpPr>
        <p:spPr>
          <a:xfrm>
            <a:off x="6245352" y="2807208"/>
            <a:ext cx="2606040" cy="502920"/>
          </a:xfrm>
          <a:prstGeom prst="rect">
            <a:avLst/>
          </a:prstGeom>
          <a:noFill/>
          <a:ln/>
        </p:spPr>
        <p:txBody>
          <a:bodyPr wrap="square" lIns="0" tIns="0" rIns="0" bIns="0" rtlCol="0" anchor="ctr"/>
          <a:lstStyle/>
          <a:p>
            <a:pPr algn="ctr" indent="0" marL="0">
              <a:lnSpc>
                <a:spcPct val="110000"/>
              </a:lnSpc>
              <a:buNone/>
            </a:pPr>
            <a:r>
              <a:rPr lang="en-US" sz="1200" dirty="0">
                <a:solidFill>
                  <a:srgbClr val="C7D3E3"/>
                </a:solidFill>
                <a:latin typeface="Calibri" pitchFamily="34" charset="0"/>
                <a:ea typeface="Calibri" pitchFamily="34" charset="-122"/>
                <a:cs typeface="Calibri" pitchFamily="34" charset="-120"/>
              </a:rPr>
              <a:t>Manufacturing Plants</a:t>
            </a:r>
            <a:endParaRPr lang="en-US" sz="1200" dirty="0"/>
          </a:p>
        </p:txBody>
      </p:sp>
      <p:sp>
        <p:nvSpPr>
          <p:cNvPr id="13" name="Shape 11"/>
          <p:cNvSpPr/>
          <p:nvPr/>
        </p:nvSpPr>
        <p:spPr>
          <a:xfrm>
            <a:off x="9070848" y="1783080"/>
            <a:ext cx="2606040" cy="1691640"/>
          </a:xfrm>
          <a:prstGeom prst="roundRect">
            <a:avLst>
              <a:gd name="adj" fmla="val 4324"/>
            </a:avLst>
          </a:prstGeom>
          <a:solidFill>
            <a:srgbClr val="0B1F3A"/>
          </a:solidFill>
          <a:ln/>
        </p:spPr>
      </p:sp>
      <p:sp>
        <p:nvSpPr>
          <p:cNvPr id="14" name="Text 12"/>
          <p:cNvSpPr/>
          <p:nvPr/>
        </p:nvSpPr>
        <p:spPr>
          <a:xfrm>
            <a:off x="9070848" y="1984248"/>
            <a:ext cx="2606040" cy="777240"/>
          </a:xfrm>
          <a:prstGeom prst="rect">
            <a:avLst/>
          </a:prstGeom>
          <a:noFill/>
          <a:ln/>
        </p:spPr>
        <p:txBody>
          <a:bodyPr wrap="square" lIns="0" tIns="0" rIns="0" bIns="0" rtlCol="0" anchor="ctr"/>
          <a:lstStyle/>
          <a:p>
            <a:pPr algn="ctr" indent="0" marL="0">
              <a:buNone/>
            </a:pPr>
            <a:r>
              <a:rPr lang="en-US" sz="3000" b="1" dirty="0">
                <a:solidFill>
                  <a:srgbClr val="22D3EE"/>
                </a:solidFill>
                <a:latin typeface="Cambria" pitchFamily="34" charset="0"/>
                <a:ea typeface="Cambria" pitchFamily="34" charset="-122"/>
                <a:cs typeface="Cambria" pitchFamily="34" charset="-120"/>
              </a:rPr>
              <a:t>16.56%</a:t>
            </a:r>
            <a:endParaRPr lang="en-US" sz="3000" dirty="0"/>
          </a:p>
        </p:txBody>
      </p:sp>
      <p:sp>
        <p:nvSpPr>
          <p:cNvPr id="15" name="Text 13"/>
          <p:cNvSpPr/>
          <p:nvPr/>
        </p:nvSpPr>
        <p:spPr>
          <a:xfrm>
            <a:off x="9070848" y="2807208"/>
            <a:ext cx="2606040" cy="502920"/>
          </a:xfrm>
          <a:prstGeom prst="rect">
            <a:avLst/>
          </a:prstGeom>
          <a:noFill/>
          <a:ln/>
        </p:spPr>
        <p:txBody>
          <a:bodyPr wrap="square" lIns="0" tIns="0" rIns="0" bIns="0" rtlCol="0" anchor="ctr"/>
          <a:lstStyle/>
          <a:p>
            <a:pPr algn="ctr" indent="0" marL="0">
              <a:lnSpc>
                <a:spcPct val="110000"/>
              </a:lnSpc>
              <a:buNone/>
            </a:pPr>
            <a:r>
              <a:rPr lang="en-US" sz="1200" dirty="0">
                <a:solidFill>
                  <a:srgbClr val="C7D3E3"/>
                </a:solidFill>
                <a:latin typeface="Calibri" pitchFamily="34" charset="0"/>
                <a:ea typeface="Calibri" pitchFamily="34" charset="-122"/>
                <a:cs typeface="Calibri" pitchFamily="34" charset="-120"/>
              </a:rPr>
              <a:t>Attrition Rate</a:t>
            </a:r>
            <a:endParaRPr lang="en-US" sz="1200" dirty="0"/>
          </a:p>
        </p:txBody>
      </p:sp>
      <p:sp>
        <p:nvSpPr>
          <p:cNvPr id="16" name="Shape 14"/>
          <p:cNvSpPr/>
          <p:nvPr/>
        </p:nvSpPr>
        <p:spPr>
          <a:xfrm>
            <a:off x="594360" y="3794760"/>
            <a:ext cx="10972800" cy="2148840"/>
          </a:xfrm>
          <a:prstGeom prst="roundRect">
            <a:avLst>
              <a:gd name="adj" fmla="val 3404"/>
            </a:avLst>
          </a:prstGeom>
          <a:solidFill>
            <a:srgbClr val="F3F5F8"/>
          </a:solidFill>
          <a:ln w="12700">
            <a:solidFill>
              <a:srgbClr val="E2E6EC"/>
            </a:solidFill>
            <a:prstDash val="solid"/>
          </a:ln>
        </p:spPr>
      </p:sp>
      <p:sp>
        <p:nvSpPr>
          <p:cNvPr id="17" name="Text 15"/>
          <p:cNvSpPr/>
          <p:nvPr/>
        </p:nvSpPr>
        <p:spPr>
          <a:xfrm>
            <a:off x="914400" y="4023360"/>
            <a:ext cx="2926080" cy="411480"/>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Target Variable</a:t>
            </a:r>
            <a:endParaRPr lang="en-US" sz="1250" dirty="0"/>
          </a:p>
        </p:txBody>
      </p:sp>
      <p:sp>
        <p:nvSpPr>
          <p:cNvPr id="18" name="Text 16"/>
          <p:cNvSpPr/>
          <p:nvPr/>
        </p:nvSpPr>
        <p:spPr>
          <a:xfrm>
            <a:off x="3931920" y="4023360"/>
            <a:ext cx="7315200" cy="411480"/>
          </a:xfrm>
          <a:prstGeom prst="rect">
            <a:avLst/>
          </a:prstGeom>
          <a:noFill/>
          <a:ln/>
        </p:spPr>
        <p:txBody>
          <a:bodyPr wrap="square" lIns="0" tIns="0" rIns="0" bIns="0" rtlCol="0" anchor="ctr"/>
          <a:lstStyle/>
          <a:p>
            <a:pPr algn="l" indent="0" marL="0">
              <a:buNone/>
            </a:pPr>
            <a:r>
              <a:rPr lang="en-US" sz="1250" dirty="0">
                <a:solidFill>
                  <a:srgbClr val="5B6B7F"/>
                </a:solidFill>
                <a:latin typeface="Calibri" pitchFamily="34" charset="0"/>
                <a:ea typeface="Calibri" pitchFamily="34" charset="-122"/>
                <a:cs typeface="Calibri" pitchFamily="34" charset="-120"/>
              </a:rPr>
              <a:t>AttritionFlag  (Yes / No)</a:t>
            </a:r>
            <a:endParaRPr lang="en-US" sz="1250" dirty="0"/>
          </a:p>
        </p:txBody>
      </p:sp>
      <p:sp>
        <p:nvSpPr>
          <p:cNvPr id="19" name="Text 17"/>
          <p:cNvSpPr/>
          <p:nvPr/>
        </p:nvSpPr>
        <p:spPr>
          <a:xfrm>
            <a:off x="914400" y="4480560"/>
            <a:ext cx="2926080" cy="411480"/>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Data Granularity</a:t>
            </a:r>
            <a:endParaRPr lang="en-US" sz="1250" dirty="0"/>
          </a:p>
        </p:txBody>
      </p:sp>
      <p:sp>
        <p:nvSpPr>
          <p:cNvPr id="20" name="Text 18"/>
          <p:cNvSpPr/>
          <p:nvPr/>
        </p:nvSpPr>
        <p:spPr>
          <a:xfrm>
            <a:off x="3931920" y="4480560"/>
            <a:ext cx="7315200" cy="411480"/>
          </a:xfrm>
          <a:prstGeom prst="rect">
            <a:avLst/>
          </a:prstGeom>
          <a:noFill/>
          <a:ln/>
        </p:spPr>
        <p:txBody>
          <a:bodyPr wrap="square" lIns="0" tIns="0" rIns="0" bIns="0" rtlCol="0" anchor="ctr"/>
          <a:lstStyle/>
          <a:p>
            <a:pPr algn="l" indent="0" marL="0">
              <a:buNone/>
            </a:pPr>
            <a:r>
              <a:rPr lang="en-US" sz="1250" dirty="0">
                <a:solidFill>
                  <a:srgbClr val="5B6B7F"/>
                </a:solidFill>
                <a:latin typeface="Calibri" pitchFamily="34" charset="0"/>
                <a:ea typeface="Calibri" pitchFamily="34" charset="-122"/>
                <a:cs typeface="Calibri" pitchFamily="34" charset="-120"/>
              </a:rPr>
              <a:t>One row per employee</a:t>
            </a:r>
            <a:endParaRPr lang="en-US" sz="1250" dirty="0"/>
          </a:p>
        </p:txBody>
      </p:sp>
      <p:sp>
        <p:nvSpPr>
          <p:cNvPr id="21" name="Text 19"/>
          <p:cNvSpPr/>
          <p:nvPr/>
        </p:nvSpPr>
        <p:spPr>
          <a:xfrm>
            <a:off x="914400" y="4937760"/>
            <a:ext cx="2926080" cy="411480"/>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Scope</a:t>
            </a:r>
            <a:endParaRPr lang="en-US" sz="1250" dirty="0"/>
          </a:p>
        </p:txBody>
      </p:sp>
      <p:sp>
        <p:nvSpPr>
          <p:cNvPr id="22" name="Text 20"/>
          <p:cNvSpPr/>
          <p:nvPr/>
        </p:nvSpPr>
        <p:spPr>
          <a:xfrm>
            <a:off x="3931920" y="4937760"/>
            <a:ext cx="7315200" cy="411480"/>
          </a:xfrm>
          <a:prstGeom prst="rect">
            <a:avLst/>
          </a:prstGeom>
          <a:noFill/>
          <a:ln/>
        </p:spPr>
        <p:txBody>
          <a:bodyPr wrap="square" lIns="0" tIns="0" rIns="0" bIns="0" rtlCol="0" anchor="ctr"/>
          <a:lstStyle/>
          <a:p>
            <a:pPr algn="l" indent="0" marL="0">
              <a:buNone/>
            </a:pPr>
            <a:r>
              <a:rPr lang="en-US" sz="1250" dirty="0">
                <a:solidFill>
                  <a:srgbClr val="5B6B7F"/>
                </a:solidFill>
                <a:latin typeface="Calibri" pitchFamily="34" charset="0"/>
                <a:ea typeface="Calibri" pitchFamily="34" charset="-122"/>
                <a:cs typeface="Calibri" pitchFamily="34" charset="-120"/>
              </a:rPr>
              <a:t>Multiple manufacturing plants, departments, and shifts</a:t>
            </a:r>
            <a:endParaRPr lang="en-US" sz="1250" dirty="0"/>
          </a:p>
        </p:txBody>
      </p:sp>
      <p:sp>
        <p:nvSpPr>
          <p:cNvPr id="23" name="Text 21"/>
          <p:cNvSpPr/>
          <p:nvPr/>
        </p:nvSpPr>
        <p:spPr>
          <a:xfrm>
            <a:off x="914400" y="5394960"/>
            <a:ext cx="2926080" cy="411480"/>
          </a:xfrm>
          <a:prstGeom prst="rect">
            <a:avLst/>
          </a:prstGeom>
          <a:noFill/>
          <a:ln/>
        </p:spPr>
        <p:txBody>
          <a:bodyPr wrap="square" lIns="0" tIns="0" rIns="0" bIns="0" rtlCol="0" anchor="ctr"/>
          <a:lstStyle/>
          <a:p>
            <a:pPr algn="l" indent="0" marL="0">
              <a:buNone/>
            </a:pPr>
            <a:r>
              <a:rPr lang="en-US" sz="1250" b="1" dirty="0">
                <a:solidFill>
                  <a:srgbClr val="0B1F3A"/>
                </a:solidFill>
                <a:latin typeface="Calibri" pitchFamily="34" charset="0"/>
                <a:ea typeface="Calibri" pitchFamily="34" charset="-122"/>
                <a:cs typeface="Calibri" pitchFamily="34" charset="-120"/>
              </a:rPr>
              <a:t>File Format</a:t>
            </a:r>
            <a:endParaRPr lang="en-US" sz="1250" dirty="0"/>
          </a:p>
        </p:txBody>
      </p:sp>
      <p:sp>
        <p:nvSpPr>
          <p:cNvPr id="24" name="Text 22"/>
          <p:cNvSpPr/>
          <p:nvPr/>
        </p:nvSpPr>
        <p:spPr>
          <a:xfrm>
            <a:off x="3931920" y="5394960"/>
            <a:ext cx="7315200" cy="411480"/>
          </a:xfrm>
          <a:prstGeom prst="rect">
            <a:avLst/>
          </a:prstGeom>
          <a:noFill/>
          <a:ln/>
        </p:spPr>
        <p:txBody>
          <a:bodyPr wrap="square" lIns="0" tIns="0" rIns="0" bIns="0" rtlCol="0" anchor="ctr"/>
          <a:lstStyle/>
          <a:p>
            <a:pPr algn="l" indent="0" marL="0">
              <a:buNone/>
            </a:pPr>
            <a:r>
              <a:rPr lang="en-US" sz="1250" dirty="0">
                <a:solidFill>
                  <a:srgbClr val="5B6B7F"/>
                </a:solidFill>
                <a:latin typeface="Calibri" pitchFamily="34" charset="0"/>
                <a:ea typeface="Calibri" pitchFamily="34" charset="-122"/>
                <a:cs typeface="Calibri" pitchFamily="34" charset="-120"/>
              </a:rPr>
              <a:t>Excel (.xlsx)  ·  Anonymized prior to analysis</a:t>
            </a:r>
            <a:endParaRPr lang="en-US" sz="1250" dirty="0"/>
          </a:p>
        </p:txBody>
      </p:sp>
      <p:sp>
        <p:nvSpPr>
          <p:cNvPr id="25" name="Text 2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6" name="Text 24"/>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05</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Dataset Justification</a:t>
            </a:r>
            <a:endParaRPr lang="en-US" sz="3200" dirty="0"/>
          </a:p>
        </p:txBody>
      </p:sp>
      <p:sp>
        <p:nvSpPr>
          <p:cNvPr id="4" name="Shape 2"/>
          <p:cNvSpPr/>
          <p:nvPr/>
        </p:nvSpPr>
        <p:spPr>
          <a:xfrm>
            <a:off x="594360" y="1783080"/>
            <a:ext cx="5074920" cy="4160520"/>
          </a:xfrm>
          <a:prstGeom prst="roundRect">
            <a:avLst>
              <a:gd name="adj" fmla="val 1758"/>
            </a:avLst>
          </a:prstGeom>
          <a:solidFill>
            <a:srgbClr val="F3F5F8"/>
          </a:solidFill>
          <a:ln w="12700">
            <a:solidFill>
              <a:srgbClr val="E2E6EC"/>
            </a:solidFill>
            <a:prstDash val="solid"/>
          </a:ln>
        </p:spPr>
      </p:sp>
      <p:sp>
        <p:nvSpPr>
          <p:cNvPr id="5" name="Text 3"/>
          <p:cNvSpPr/>
          <p:nvPr/>
        </p:nvSpPr>
        <p:spPr>
          <a:xfrm>
            <a:off x="914400" y="2057400"/>
            <a:ext cx="4434840" cy="320040"/>
          </a:xfrm>
          <a:prstGeom prst="rect">
            <a:avLst/>
          </a:prstGeom>
          <a:noFill/>
          <a:ln/>
        </p:spPr>
        <p:txBody>
          <a:bodyPr wrap="square" lIns="0" tIns="0" rIns="0" bIns="0" rtlCol="0" anchor="ctr"/>
          <a:lstStyle/>
          <a:p>
            <a:pPr indent="0" marL="0">
              <a:buNone/>
            </a:pPr>
            <a:r>
              <a:rPr lang="en-US" sz="1200" b="1" spc="150" kern="0" dirty="0">
                <a:solidFill>
                  <a:srgbClr val="5B6B7F"/>
                </a:solidFill>
                <a:latin typeface="Calibri" pitchFamily="34" charset="0"/>
                <a:ea typeface="Calibri" pitchFamily="34" charset="-122"/>
                <a:cs typeface="Calibri" pitchFamily="34" charset="-120"/>
              </a:rPr>
              <a:t>TYPICAL BENCHMARK DATASET</a:t>
            </a:r>
            <a:endParaRPr lang="en-US" sz="1200" dirty="0"/>
          </a:p>
        </p:txBody>
      </p:sp>
      <p:sp>
        <p:nvSpPr>
          <p:cNvPr id="6" name="Text 4"/>
          <p:cNvSpPr/>
          <p:nvPr/>
        </p:nvSpPr>
        <p:spPr>
          <a:xfrm>
            <a:off x="914400" y="2377440"/>
            <a:ext cx="4434840" cy="685800"/>
          </a:xfrm>
          <a:prstGeom prst="rect">
            <a:avLst/>
          </a:prstGeom>
          <a:noFill/>
          <a:ln/>
        </p:spPr>
        <p:txBody>
          <a:bodyPr wrap="square" lIns="0" tIns="0" rIns="0" bIns="0" rtlCol="0" anchor="ctr"/>
          <a:lstStyle/>
          <a:p>
            <a:pPr indent="0" marL="0">
              <a:buNone/>
            </a:pPr>
            <a:r>
              <a:rPr lang="en-US" sz="4000" b="1" dirty="0">
                <a:solidFill>
                  <a:srgbClr val="6B7684"/>
                </a:solidFill>
                <a:latin typeface="Cambria" pitchFamily="34" charset="0"/>
                <a:ea typeface="Cambria" pitchFamily="34" charset="-122"/>
                <a:cs typeface="Cambria" pitchFamily="34" charset="-120"/>
              </a:rPr>
              <a:t>~1,470</a:t>
            </a:r>
            <a:endParaRPr lang="en-US" sz="4000" dirty="0"/>
          </a:p>
        </p:txBody>
      </p:sp>
      <p:sp>
        <p:nvSpPr>
          <p:cNvPr id="7" name="Text 5"/>
          <p:cNvSpPr/>
          <p:nvPr/>
        </p:nvSpPr>
        <p:spPr>
          <a:xfrm>
            <a:off x="914400" y="3063240"/>
            <a:ext cx="4434840" cy="32004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employee records</a:t>
            </a:r>
            <a:endParaRPr lang="en-US" sz="1200" dirty="0"/>
          </a:p>
        </p:txBody>
      </p:sp>
      <p:sp>
        <p:nvSpPr>
          <p:cNvPr id="8" name="Shape 6"/>
          <p:cNvSpPr/>
          <p:nvPr/>
        </p:nvSpPr>
        <p:spPr>
          <a:xfrm>
            <a:off x="914400" y="3730752"/>
            <a:ext cx="128016" cy="128016"/>
          </a:xfrm>
          <a:prstGeom prst="ellipse">
            <a:avLst/>
          </a:prstGeom>
          <a:solidFill>
            <a:srgbClr val="6B7684"/>
          </a:solidFill>
          <a:ln/>
        </p:spPr>
      </p:sp>
      <p:sp>
        <p:nvSpPr>
          <p:cNvPr id="9" name="Text 7"/>
          <p:cNvSpPr/>
          <p:nvPr/>
        </p:nvSpPr>
        <p:spPr>
          <a:xfrm>
            <a:off x="1188720" y="35661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0B1F3A"/>
                </a:solidFill>
                <a:latin typeface="Calibri" pitchFamily="34" charset="0"/>
                <a:ea typeface="Calibri" pitchFamily="34" charset="-122"/>
                <a:cs typeface="Calibri" pitchFamily="34" charset="-120"/>
              </a:rPr>
              <a:t>Single organizational site</a:t>
            </a:r>
            <a:endParaRPr lang="en-US" sz="1200" dirty="0"/>
          </a:p>
        </p:txBody>
      </p:sp>
      <p:sp>
        <p:nvSpPr>
          <p:cNvPr id="10" name="Shape 8"/>
          <p:cNvSpPr/>
          <p:nvPr/>
        </p:nvSpPr>
        <p:spPr>
          <a:xfrm>
            <a:off x="914400" y="4416552"/>
            <a:ext cx="128016" cy="128016"/>
          </a:xfrm>
          <a:prstGeom prst="ellipse">
            <a:avLst/>
          </a:prstGeom>
          <a:solidFill>
            <a:srgbClr val="6B7684"/>
          </a:solidFill>
          <a:ln/>
        </p:spPr>
      </p:sp>
      <p:sp>
        <p:nvSpPr>
          <p:cNvPr id="11" name="Text 9"/>
          <p:cNvSpPr/>
          <p:nvPr/>
        </p:nvSpPr>
        <p:spPr>
          <a:xfrm>
            <a:off x="1188720" y="42519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0B1F3A"/>
                </a:solidFill>
                <a:latin typeface="Calibri" pitchFamily="34" charset="0"/>
                <a:ea typeface="Calibri" pitchFamily="34" charset="-122"/>
                <a:cs typeface="Calibri" pitchFamily="34" charset="-120"/>
              </a:rPr>
              <a:t>Used across nearly all prior published studies (Section 6)</a:t>
            </a:r>
            <a:endParaRPr lang="en-US" sz="1200" dirty="0"/>
          </a:p>
        </p:txBody>
      </p:sp>
      <p:sp>
        <p:nvSpPr>
          <p:cNvPr id="12" name="Shape 10"/>
          <p:cNvSpPr/>
          <p:nvPr/>
        </p:nvSpPr>
        <p:spPr>
          <a:xfrm>
            <a:off x="914400" y="5102352"/>
            <a:ext cx="128016" cy="128016"/>
          </a:xfrm>
          <a:prstGeom prst="ellipse">
            <a:avLst/>
          </a:prstGeom>
          <a:solidFill>
            <a:srgbClr val="6B7684"/>
          </a:solidFill>
          <a:ln/>
        </p:spPr>
      </p:sp>
      <p:sp>
        <p:nvSpPr>
          <p:cNvPr id="13" name="Text 11"/>
          <p:cNvSpPr/>
          <p:nvPr/>
        </p:nvSpPr>
        <p:spPr>
          <a:xfrm>
            <a:off x="1188720" y="49377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0B1F3A"/>
                </a:solidFill>
                <a:latin typeface="Calibri" pitchFamily="34" charset="0"/>
                <a:ea typeface="Calibri" pitchFamily="34" charset="-122"/>
                <a:cs typeface="Calibri" pitchFamily="34" charset="-120"/>
              </a:rPr>
              <a:t>Narrow feature set — no engagement or safety variables</a:t>
            </a:r>
            <a:endParaRPr lang="en-US" sz="1200" dirty="0"/>
          </a:p>
        </p:txBody>
      </p:sp>
      <p:sp>
        <p:nvSpPr>
          <p:cNvPr id="14" name="Shape 12"/>
          <p:cNvSpPr/>
          <p:nvPr/>
        </p:nvSpPr>
        <p:spPr>
          <a:xfrm>
            <a:off x="6492240" y="1783080"/>
            <a:ext cx="5074920" cy="4160520"/>
          </a:xfrm>
          <a:prstGeom prst="roundRect">
            <a:avLst>
              <a:gd name="adj" fmla="val 1758"/>
            </a:avLst>
          </a:prstGeom>
          <a:solidFill>
            <a:srgbClr val="0B1F3A"/>
          </a:solidFill>
          <a:ln/>
          <a:effectLst>
            <a:outerShdw sx="100000" sy="100000" kx="0" ky="0" algn="bl" rotWithShape="0" blurRad="127000" dist="38100" dir="5400000">
              <a:srgbClr val="000000">
                <a:alpha val="20000"/>
              </a:srgbClr>
            </a:outerShdw>
          </a:effectLst>
        </p:spPr>
      </p:sp>
      <p:sp>
        <p:nvSpPr>
          <p:cNvPr id="15" name="Text 13"/>
          <p:cNvSpPr/>
          <p:nvPr/>
        </p:nvSpPr>
        <p:spPr>
          <a:xfrm>
            <a:off x="6812280" y="2057400"/>
            <a:ext cx="4434840" cy="320040"/>
          </a:xfrm>
          <a:prstGeom prst="rect">
            <a:avLst/>
          </a:prstGeom>
          <a:noFill/>
          <a:ln/>
        </p:spPr>
        <p:txBody>
          <a:bodyPr wrap="square" lIns="0" tIns="0" rIns="0" bIns="0" rtlCol="0" anchor="ctr"/>
          <a:lstStyle/>
          <a:p>
            <a:pPr indent="0" marL="0">
              <a:buNone/>
            </a:pPr>
            <a:r>
              <a:rPr lang="en-US" sz="1200" b="1" spc="150" kern="0" dirty="0">
                <a:solidFill>
                  <a:srgbClr val="22D3EE"/>
                </a:solidFill>
                <a:latin typeface="Calibri" pitchFamily="34" charset="0"/>
                <a:ea typeface="Calibri" pitchFamily="34" charset="-122"/>
                <a:cs typeface="Calibri" pitchFamily="34" charset="-120"/>
              </a:rPr>
              <a:t>THIS DATASET</a:t>
            </a:r>
            <a:endParaRPr lang="en-US" sz="1200" dirty="0"/>
          </a:p>
        </p:txBody>
      </p:sp>
      <p:sp>
        <p:nvSpPr>
          <p:cNvPr id="16" name="Text 14"/>
          <p:cNvSpPr/>
          <p:nvPr/>
        </p:nvSpPr>
        <p:spPr>
          <a:xfrm>
            <a:off x="6812280" y="2377440"/>
            <a:ext cx="44348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50,000</a:t>
            </a:r>
            <a:endParaRPr lang="en-US" sz="4000" dirty="0"/>
          </a:p>
        </p:txBody>
      </p:sp>
      <p:sp>
        <p:nvSpPr>
          <p:cNvPr id="17" name="Text 15"/>
          <p:cNvSpPr/>
          <p:nvPr/>
        </p:nvSpPr>
        <p:spPr>
          <a:xfrm>
            <a:off x="6812280" y="3063240"/>
            <a:ext cx="4434840" cy="320040"/>
          </a:xfrm>
          <a:prstGeom prst="rect">
            <a:avLst/>
          </a:prstGeom>
          <a:noFill/>
          <a:ln/>
        </p:spPr>
        <p:txBody>
          <a:bodyPr wrap="square" lIns="0" tIns="0" rIns="0" bIns="0" rtlCol="0" anchor="ctr"/>
          <a:lstStyle/>
          <a:p>
            <a:pPr indent="0" marL="0">
              <a:buNone/>
            </a:pPr>
            <a:r>
              <a:rPr lang="en-US" sz="1200" dirty="0">
                <a:solidFill>
                  <a:srgbClr val="B9C6D9"/>
                </a:solidFill>
                <a:latin typeface="Calibri" pitchFamily="34" charset="0"/>
                <a:ea typeface="Calibri" pitchFamily="34" charset="-122"/>
                <a:cs typeface="Calibri" pitchFamily="34" charset="-120"/>
              </a:rPr>
              <a:t>employee records</a:t>
            </a:r>
            <a:endParaRPr lang="en-US" sz="1200" dirty="0"/>
          </a:p>
        </p:txBody>
      </p:sp>
      <p:sp>
        <p:nvSpPr>
          <p:cNvPr id="18" name="Shape 16"/>
          <p:cNvSpPr/>
          <p:nvPr/>
        </p:nvSpPr>
        <p:spPr>
          <a:xfrm>
            <a:off x="6812280" y="3730752"/>
            <a:ext cx="128016" cy="128016"/>
          </a:xfrm>
          <a:prstGeom prst="ellipse">
            <a:avLst/>
          </a:prstGeom>
          <a:solidFill>
            <a:srgbClr val="22D3EE"/>
          </a:solidFill>
          <a:ln/>
        </p:spPr>
      </p:sp>
      <p:sp>
        <p:nvSpPr>
          <p:cNvPr id="19" name="Text 17"/>
          <p:cNvSpPr/>
          <p:nvPr/>
        </p:nvSpPr>
        <p:spPr>
          <a:xfrm>
            <a:off x="7086600" y="35661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Multiple plants, departments &amp; shifts</a:t>
            </a:r>
            <a:endParaRPr lang="en-US" sz="1200" dirty="0"/>
          </a:p>
        </p:txBody>
      </p:sp>
      <p:sp>
        <p:nvSpPr>
          <p:cNvPr id="20" name="Shape 18"/>
          <p:cNvSpPr/>
          <p:nvPr/>
        </p:nvSpPr>
        <p:spPr>
          <a:xfrm>
            <a:off x="6812280" y="4416552"/>
            <a:ext cx="128016" cy="128016"/>
          </a:xfrm>
          <a:prstGeom prst="ellipse">
            <a:avLst/>
          </a:prstGeom>
          <a:solidFill>
            <a:srgbClr val="22D3EE"/>
          </a:solidFill>
          <a:ln/>
        </p:spPr>
      </p:sp>
      <p:sp>
        <p:nvSpPr>
          <p:cNvPr id="21" name="Text 19"/>
          <p:cNvSpPr/>
          <p:nvPr/>
        </p:nvSpPr>
        <p:spPr>
          <a:xfrm>
            <a:off x="7086600" y="42519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Demographic + compensation + workplace + engagement variables</a:t>
            </a:r>
            <a:endParaRPr lang="en-US" sz="1200" dirty="0"/>
          </a:p>
        </p:txBody>
      </p:sp>
      <p:sp>
        <p:nvSpPr>
          <p:cNvPr id="22" name="Shape 20"/>
          <p:cNvSpPr/>
          <p:nvPr/>
        </p:nvSpPr>
        <p:spPr>
          <a:xfrm>
            <a:off x="6812280" y="5102352"/>
            <a:ext cx="128016" cy="128016"/>
          </a:xfrm>
          <a:prstGeom prst="ellipse">
            <a:avLst/>
          </a:prstGeom>
          <a:solidFill>
            <a:srgbClr val="22D3EE"/>
          </a:solidFill>
          <a:ln/>
        </p:spPr>
      </p:sp>
      <p:sp>
        <p:nvSpPr>
          <p:cNvPr id="23" name="Text 21"/>
          <p:cNvSpPr/>
          <p:nvPr/>
        </p:nvSpPr>
        <p:spPr>
          <a:xfrm>
            <a:off x="7086600" y="4937760"/>
            <a:ext cx="4160520" cy="594360"/>
          </a:xfrm>
          <a:prstGeom prst="rect">
            <a:avLst/>
          </a:prstGeom>
          <a:noFill/>
          <a:ln/>
        </p:spPr>
        <p:txBody>
          <a:bodyPr wrap="square" lIns="0" tIns="0" rIns="0" bIns="0"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Reflects realistic industrial HR scenarios, suited to the full data-science pipeline</a:t>
            </a:r>
            <a:endParaRPr lang="en-US" sz="1200" dirty="0"/>
          </a:p>
        </p:txBody>
      </p:sp>
      <p:sp>
        <p:nvSpPr>
          <p:cNvPr id="24" name="Text 22"/>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5" name="Text 23"/>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06</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Literature Review</a:t>
            </a:r>
            <a:endParaRPr lang="en-US" sz="3200" dirty="0"/>
          </a:p>
        </p:txBody>
      </p:sp>
      <p:sp>
        <p:nvSpPr>
          <p:cNvPr id="4" name="Text 2"/>
          <p:cNvSpPr/>
          <p:nvPr/>
        </p:nvSpPr>
        <p:spPr>
          <a:xfrm>
            <a:off x="594360" y="1371600"/>
            <a:ext cx="10972800" cy="365760"/>
          </a:xfrm>
          <a:prstGeom prst="rect">
            <a:avLst/>
          </a:prstGeom>
          <a:noFill/>
          <a:ln/>
        </p:spPr>
        <p:txBody>
          <a:bodyPr wrap="square" lIns="0" tIns="0" rIns="0" bIns="0"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Five peer-reviewed studies (2022–2024) were reviewed and compared against this project's approach.</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965960"/>
          <a:ext cx="10972800" cy="3840480"/>
        </p:xfrm>
        <a:graphic>
          <a:graphicData uri="http://schemas.openxmlformats.org/drawingml/2006/table">
            <a:tbl>
              <a:tblPr/>
              <a:tblGrid>
                <a:gridCol w="1920240"/>
                <a:gridCol w="731520"/>
                <a:gridCol w="2834640"/>
                <a:gridCol w="2377440"/>
                <a:gridCol w="3108960"/>
              </a:tblGrid>
              <a:tr h="6400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Study</a:t>
                      </a:r>
                      <a:endParaRPr lang="en-US" sz="115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Best Result</a:t>
                      </a:r>
                      <a:endParaRPr lang="en-US" sz="115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Key Limitation</a:t>
                      </a:r>
                      <a:endParaRPr lang="en-US" sz="115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r>
              <a:tr h="640080">
                <a:tc>
                  <a:txBody>
                    <a:bodyPr/>
                    <a:lstStyle/>
                    <a:p>
                      <a:pPr algn="l" indent="0" marL="0">
                        <a:buNone/>
                      </a:pPr>
                      <a:r>
                        <a:rPr lang="en-US" sz="1100" b="1" dirty="0">
                          <a:solidFill>
                            <a:srgbClr val="0B1F3A"/>
                          </a:solidFill>
                          <a:latin typeface="Calibri" pitchFamily="34" charset="0"/>
                          <a:ea typeface="Calibri" pitchFamily="34" charset="-122"/>
                          <a:cs typeface="Calibri" pitchFamily="34" charset="-120"/>
                        </a:rPr>
                        <a:t>Raza et al.</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Extra Trees Classifier</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93% accuracy</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Small, single-source dataset</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640080">
                <a:tc>
                  <a:txBody>
                    <a:bodyPr/>
                    <a:lstStyle/>
                    <a:p>
                      <a:pPr algn="l" indent="0" marL="0">
                        <a:buNone/>
                      </a:pPr>
                      <a:r>
                        <a:rPr lang="en-US" sz="1100" b="1" dirty="0">
                          <a:solidFill>
                            <a:srgbClr val="0B1F3A"/>
                          </a:solidFill>
                          <a:latin typeface="Calibri" pitchFamily="34" charset="0"/>
                          <a:ea typeface="Calibri" pitchFamily="34" charset="-122"/>
                          <a:cs typeface="Calibri" pitchFamily="34" charset="-120"/>
                        </a:rPr>
                        <a:t>Guerranti &amp; Dimitri</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2023</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88% acc., 85% AUC-ROC</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No ensemble/deep learning comparison</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r h="640080">
                <a:tc>
                  <a:txBody>
                    <a:bodyPr/>
                    <a:lstStyle/>
                    <a:p>
                      <a:pPr algn="l" indent="0" marL="0">
                        <a:buNone/>
                      </a:pPr>
                      <a:r>
                        <a:rPr lang="en-US" sz="1100" b="1" dirty="0">
                          <a:solidFill>
                            <a:srgbClr val="0B1F3A"/>
                          </a:solidFill>
                          <a:latin typeface="Calibri" pitchFamily="34" charset="0"/>
                          <a:ea typeface="Calibri" pitchFamily="34" charset="-122"/>
                          <a:cs typeface="Calibri" pitchFamily="34" charset="-120"/>
                        </a:rPr>
                        <a:t>Li</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2023</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Transformer (deep learning)</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Outperformed baselines</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Low interpretability, small dataset</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640080">
                <a:tc>
                  <a:txBody>
                    <a:bodyPr/>
                    <a:lstStyle/>
                    <a:p>
                      <a:pPr algn="l" indent="0" marL="0">
                        <a:buNone/>
                      </a:pPr>
                      <a:r>
                        <a:rPr lang="en-US" sz="1100" b="1" dirty="0">
                          <a:solidFill>
                            <a:srgbClr val="0B1F3A"/>
                          </a:solidFill>
                          <a:latin typeface="Calibri" pitchFamily="34" charset="0"/>
                          <a:ea typeface="Calibri" pitchFamily="34" charset="-122"/>
                          <a:cs typeface="Calibri" pitchFamily="34" charset="-120"/>
                        </a:rPr>
                        <a:t>Al Akasheh et al.</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Knowledge Graph + L-SVM + XAI</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92.5% accuracy</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Untested at industrial scale</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r h="640080">
                <a:tc>
                  <a:txBody>
                    <a:bodyPr/>
                    <a:lstStyle/>
                    <a:p>
                      <a:pPr algn="l" indent="0" marL="0">
                        <a:buNone/>
                      </a:pPr>
                      <a:r>
                        <a:rPr lang="en-US" sz="1100" b="1" dirty="0">
                          <a:solidFill>
                            <a:srgbClr val="0B1F3A"/>
                          </a:solidFill>
                          <a:latin typeface="Calibri" pitchFamily="34" charset="0"/>
                          <a:ea typeface="Calibri" pitchFamily="34" charset="-122"/>
                          <a:cs typeface="Calibri" pitchFamily="34" charset="-120"/>
                        </a:rPr>
                        <a:t>Nawaz et al.</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Sequential Pattern Mining</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Outperformed SOTA</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1F3A"/>
                          </a:solidFill>
                          <a:latin typeface="Calibri" pitchFamily="34" charset="0"/>
                          <a:ea typeface="Calibri" pitchFamily="34" charset="-122"/>
                          <a:cs typeface="Calibri" pitchFamily="34" charset="-120"/>
                        </a:rPr>
                        <a:t>Requires sequential data structure</a:t>
                      </a:r>
                      <a:endParaRPr lang="en-US" sz="1100" dirty="0">
                        <a:latin typeface="Calibri" charset="0"/>
                        <a:ea typeface="Calibri" charset="0"/>
                        <a:cs typeface="Calibri" charset="0"/>
                      </a:endParaRPr>
                    </a:p>
                  </a:txBody>
                  <a:tcPr marL="73152" marR="73152" marT="73152" marB="73152"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7" name="Text 4"/>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07</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Research Gap</a:t>
            </a:r>
            <a:endParaRPr lang="en-US" sz="3200" dirty="0"/>
          </a:p>
        </p:txBody>
      </p:sp>
      <p:sp>
        <p:nvSpPr>
          <p:cNvPr id="4" name="Shape 2"/>
          <p:cNvSpPr/>
          <p:nvPr/>
        </p:nvSpPr>
        <p:spPr>
          <a:xfrm>
            <a:off x="594360" y="1783080"/>
            <a:ext cx="3520440" cy="2148840"/>
          </a:xfrm>
          <a:prstGeom prst="roundRect">
            <a:avLst>
              <a:gd name="adj" fmla="val 3404"/>
            </a:avLst>
          </a:prstGeom>
          <a:solidFill>
            <a:srgbClr val="F3F5F8"/>
          </a:solidFill>
          <a:ln w="12700">
            <a:solidFill>
              <a:srgbClr val="E2E6EC"/>
            </a:solidFill>
            <a:prstDash val="solid"/>
          </a:ln>
        </p:spPr>
      </p:sp>
      <p:sp>
        <p:nvSpPr>
          <p:cNvPr id="5" name="Shape 3"/>
          <p:cNvSpPr/>
          <p:nvPr/>
        </p:nvSpPr>
        <p:spPr>
          <a:xfrm>
            <a:off x="864108" y="2034540"/>
            <a:ext cx="594360" cy="594360"/>
          </a:xfrm>
          <a:prstGeom prst="ellipse">
            <a:avLst/>
          </a:prstGeom>
          <a:solidFill>
            <a:srgbClr val="0E7490"/>
          </a:solidFill>
          <a:ln/>
        </p:spPr>
      </p:sp>
      <p:pic>
        <p:nvPicPr>
          <p:cNvPr id="6" name="Image 0" descr="/home/claude/pptx_build/icons/gap.png">    </p:cNvPr>
          <p:cNvPicPr>
            <a:picLocks noChangeAspect="1"/>
          </p:cNvPicPr>
          <p:nvPr/>
        </p:nvPicPr>
        <p:blipFill>
          <a:blip r:embed="rId1"/>
          <a:stretch>
            <a:fillRect/>
          </a:stretch>
        </p:blipFill>
        <p:spPr>
          <a:xfrm>
            <a:off x="1012698" y="2183130"/>
            <a:ext cx="297180" cy="297180"/>
          </a:xfrm>
          <a:prstGeom prst="rect">
            <a:avLst/>
          </a:prstGeom>
        </p:spPr>
      </p:pic>
      <p:sp>
        <p:nvSpPr>
          <p:cNvPr id="7" name="Text 4"/>
          <p:cNvSpPr/>
          <p:nvPr/>
        </p:nvSpPr>
        <p:spPr>
          <a:xfrm>
            <a:off x="850392" y="2697480"/>
            <a:ext cx="3008376" cy="36576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Same Small Benchmark</a:t>
            </a:r>
            <a:endParaRPr lang="en-US" sz="1400" dirty="0"/>
          </a:p>
        </p:txBody>
      </p:sp>
      <p:sp>
        <p:nvSpPr>
          <p:cNvPr id="8" name="Text 5"/>
          <p:cNvSpPr/>
          <p:nvPr/>
        </p:nvSpPr>
        <p:spPr>
          <a:xfrm>
            <a:off x="850392" y="3081528"/>
            <a:ext cx="3008376" cy="777240"/>
          </a:xfrm>
          <a:prstGeom prst="rect">
            <a:avLst/>
          </a:prstGeom>
          <a:noFill/>
          <a:ln/>
        </p:spPr>
        <p:txBody>
          <a:bodyPr wrap="square" lIns="0" tIns="0" rIns="0" bIns="0" rtlCol="0" anchor="ctr"/>
          <a:lstStyle/>
          <a:p>
            <a:pPr indent="0" marL="0">
              <a:lnSpc>
                <a:spcPct val="120000"/>
              </a:lnSpc>
              <a:buNone/>
            </a:pPr>
            <a:r>
              <a:rPr lang="en-US" sz="1100" dirty="0">
                <a:solidFill>
                  <a:srgbClr val="5B6B7F"/>
                </a:solidFill>
                <a:latin typeface="Calibri" pitchFamily="34" charset="0"/>
                <a:ea typeface="Calibri" pitchFamily="34" charset="-122"/>
                <a:cs typeface="Calibri" pitchFamily="34" charset="-120"/>
              </a:rPr>
              <a:t>Nearly all prior studies rely on the same ~1,470-record, single-site public dataset.</a:t>
            </a:r>
            <a:endParaRPr lang="en-US" sz="1100" dirty="0"/>
          </a:p>
        </p:txBody>
      </p:sp>
      <p:sp>
        <p:nvSpPr>
          <p:cNvPr id="9" name="Shape 6"/>
          <p:cNvSpPr/>
          <p:nvPr/>
        </p:nvSpPr>
        <p:spPr>
          <a:xfrm>
            <a:off x="4315968" y="1783080"/>
            <a:ext cx="3520440" cy="2148840"/>
          </a:xfrm>
          <a:prstGeom prst="roundRect">
            <a:avLst>
              <a:gd name="adj" fmla="val 3404"/>
            </a:avLst>
          </a:prstGeom>
          <a:solidFill>
            <a:srgbClr val="F3F5F8"/>
          </a:solidFill>
          <a:ln w="12700">
            <a:solidFill>
              <a:srgbClr val="E2E6EC"/>
            </a:solidFill>
            <a:prstDash val="solid"/>
          </a:ln>
        </p:spPr>
      </p:sp>
      <p:sp>
        <p:nvSpPr>
          <p:cNvPr id="10" name="Shape 7"/>
          <p:cNvSpPr/>
          <p:nvPr/>
        </p:nvSpPr>
        <p:spPr>
          <a:xfrm>
            <a:off x="4585716" y="2034540"/>
            <a:ext cx="594360" cy="594360"/>
          </a:xfrm>
          <a:prstGeom prst="ellipse">
            <a:avLst/>
          </a:prstGeom>
          <a:solidFill>
            <a:srgbClr val="0E7490"/>
          </a:solidFill>
          <a:ln/>
        </p:spPr>
      </p:sp>
      <p:pic>
        <p:nvPicPr>
          <p:cNvPr id="11" name="Image 1" descr="/home/claude/pptx_build/icons/shield.png">    </p:cNvPr>
          <p:cNvPicPr>
            <a:picLocks noChangeAspect="1"/>
          </p:cNvPicPr>
          <p:nvPr/>
        </p:nvPicPr>
        <p:blipFill>
          <a:blip r:embed="rId2"/>
          <a:stretch>
            <a:fillRect/>
          </a:stretch>
        </p:blipFill>
        <p:spPr>
          <a:xfrm>
            <a:off x="4734306" y="2183130"/>
            <a:ext cx="297180" cy="297180"/>
          </a:xfrm>
          <a:prstGeom prst="rect">
            <a:avLst/>
          </a:prstGeom>
        </p:spPr>
      </p:pic>
      <p:sp>
        <p:nvSpPr>
          <p:cNvPr id="12" name="Text 8"/>
          <p:cNvSpPr/>
          <p:nvPr/>
        </p:nvSpPr>
        <p:spPr>
          <a:xfrm>
            <a:off x="4572000" y="2697480"/>
            <a:ext cx="3008376" cy="36576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Missing Variables</a:t>
            </a:r>
            <a:endParaRPr lang="en-US" sz="1400" dirty="0"/>
          </a:p>
        </p:txBody>
      </p:sp>
      <p:sp>
        <p:nvSpPr>
          <p:cNvPr id="13" name="Text 9"/>
          <p:cNvSpPr/>
          <p:nvPr/>
        </p:nvSpPr>
        <p:spPr>
          <a:xfrm>
            <a:off x="4572000" y="3081528"/>
            <a:ext cx="3008376" cy="777240"/>
          </a:xfrm>
          <a:prstGeom prst="rect">
            <a:avLst/>
          </a:prstGeom>
          <a:noFill/>
          <a:ln/>
        </p:spPr>
        <p:txBody>
          <a:bodyPr wrap="square" lIns="0" tIns="0" rIns="0" bIns="0" rtlCol="0" anchor="ctr"/>
          <a:lstStyle/>
          <a:p>
            <a:pPr indent="0" marL="0">
              <a:lnSpc>
                <a:spcPct val="120000"/>
              </a:lnSpc>
              <a:buNone/>
            </a:pPr>
            <a:r>
              <a:rPr lang="en-US" sz="1100" dirty="0">
                <a:solidFill>
                  <a:srgbClr val="5B6B7F"/>
                </a:solidFill>
                <a:latin typeface="Calibri" pitchFamily="34" charset="0"/>
                <a:ea typeface="Calibri" pitchFamily="34" charset="-122"/>
                <a:cs typeface="Calibri" pitchFamily="34" charset="-120"/>
              </a:rPr>
              <a:t>Engagement and safety-related workplace variables are rarely available in these public datasets.</a:t>
            </a:r>
            <a:endParaRPr lang="en-US" sz="1100" dirty="0"/>
          </a:p>
        </p:txBody>
      </p:sp>
      <p:sp>
        <p:nvSpPr>
          <p:cNvPr id="14" name="Shape 10"/>
          <p:cNvSpPr/>
          <p:nvPr/>
        </p:nvSpPr>
        <p:spPr>
          <a:xfrm>
            <a:off x="8037576" y="1783080"/>
            <a:ext cx="3520440" cy="2148840"/>
          </a:xfrm>
          <a:prstGeom prst="roundRect">
            <a:avLst>
              <a:gd name="adj" fmla="val 3404"/>
            </a:avLst>
          </a:prstGeom>
          <a:solidFill>
            <a:srgbClr val="F3F5F8"/>
          </a:solidFill>
          <a:ln w="12700">
            <a:solidFill>
              <a:srgbClr val="E2E6EC"/>
            </a:solidFill>
            <a:prstDash val="solid"/>
          </a:ln>
        </p:spPr>
      </p:sp>
      <p:sp>
        <p:nvSpPr>
          <p:cNvPr id="15" name="Shape 11"/>
          <p:cNvSpPr/>
          <p:nvPr/>
        </p:nvSpPr>
        <p:spPr>
          <a:xfrm>
            <a:off x="8307324" y="2034540"/>
            <a:ext cx="594360" cy="594360"/>
          </a:xfrm>
          <a:prstGeom prst="ellipse">
            <a:avLst/>
          </a:prstGeom>
          <a:solidFill>
            <a:srgbClr val="0E7490"/>
          </a:solidFill>
          <a:ln/>
        </p:spPr>
      </p:sp>
      <p:pic>
        <p:nvPicPr>
          <p:cNvPr id="16" name="Image 2" descr="/home/claude/pptx_build/icons/findings.png">    </p:cNvPr>
          <p:cNvPicPr>
            <a:picLocks noChangeAspect="1"/>
          </p:cNvPicPr>
          <p:nvPr/>
        </p:nvPicPr>
        <p:blipFill>
          <a:blip r:embed="rId3"/>
          <a:stretch>
            <a:fillRect/>
          </a:stretch>
        </p:blipFill>
        <p:spPr>
          <a:xfrm>
            <a:off x="8455914" y="2183130"/>
            <a:ext cx="297180" cy="297180"/>
          </a:xfrm>
          <a:prstGeom prst="rect">
            <a:avLst/>
          </a:prstGeom>
        </p:spPr>
      </p:pic>
      <p:sp>
        <p:nvSpPr>
          <p:cNvPr id="17" name="Text 12"/>
          <p:cNvSpPr/>
          <p:nvPr/>
        </p:nvSpPr>
        <p:spPr>
          <a:xfrm>
            <a:off x="8293608" y="2697480"/>
            <a:ext cx="3008376" cy="36576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Performance Over Process</a:t>
            </a:r>
            <a:endParaRPr lang="en-US" sz="1400" dirty="0"/>
          </a:p>
        </p:txBody>
      </p:sp>
      <p:sp>
        <p:nvSpPr>
          <p:cNvPr id="18" name="Text 13"/>
          <p:cNvSpPr/>
          <p:nvPr/>
        </p:nvSpPr>
        <p:spPr>
          <a:xfrm>
            <a:off x="8293608" y="3081528"/>
            <a:ext cx="3008376" cy="777240"/>
          </a:xfrm>
          <a:prstGeom prst="rect">
            <a:avLst/>
          </a:prstGeom>
          <a:noFill/>
          <a:ln/>
        </p:spPr>
        <p:txBody>
          <a:bodyPr wrap="square" lIns="0" tIns="0" rIns="0" bIns="0" rtlCol="0" anchor="ctr"/>
          <a:lstStyle/>
          <a:p>
            <a:pPr indent="0" marL="0">
              <a:lnSpc>
                <a:spcPct val="120000"/>
              </a:lnSpc>
              <a:buNone/>
            </a:pPr>
            <a:r>
              <a:rPr lang="en-US" sz="1100" dirty="0">
                <a:solidFill>
                  <a:srgbClr val="5B6B7F"/>
                </a:solidFill>
                <a:latin typeface="Calibri" pitchFamily="34" charset="0"/>
                <a:ea typeface="Calibri" pitchFamily="34" charset="-122"/>
                <a:cs typeface="Calibri" pitchFamily="34" charset="-120"/>
              </a:rPr>
              <a:t>Most studies emphasize predictive performance over comprehensive EDA and data preparation.</a:t>
            </a:r>
            <a:endParaRPr lang="en-US" sz="1100" dirty="0"/>
          </a:p>
        </p:txBody>
      </p:sp>
      <p:sp>
        <p:nvSpPr>
          <p:cNvPr id="19" name="Shape 14"/>
          <p:cNvSpPr/>
          <p:nvPr/>
        </p:nvSpPr>
        <p:spPr>
          <a:xfrm>
            <a:off x="594360" y="4206240"/>
            <a:ext cx="10972800" cy="1645920"/>
          </a:xfrm>
          <a:prstGeom prst="roundRect">
            <a:avLst>
              <a:gd name="adj" fmla="val 4444"/>
            </a:avLst>
          </a:prstGeom>
          <a:solidFill>
            <a:srgbClr val="0B1F3A"/>
          </a:solidFill>
          <a:ln/>
        </p:spPr>
      </p:sp>
      <p:sp>
        <p:nvSpPr>
          <p:cNvPr id="20" name="Shape 15"/>
          <p:cNvSpPr/>
          <p:nvPr/>
        </p:nvSpPr>
        <p:spPr>
          <a:xfrm>
            <a:off x="1097280" y="4617720"/>
            <a:ext cx="822960" cy="822960"/>
          </a:xfrm>
          <a:prstGeom prst="ellipse">
            <a:avLst/>
          </a:prstGeom>
          <a:solidFill>
            <a:srgbClr val="22D3EE"/>
          </a:solidFill>
          <a:ln/>
        </p:spPr>
      </p:sp>
      <p:pic>
        <p:nvPicPr>
          <p:cNvPr id="21" name="Image 3" descr="/home/claude/pptx_build/icons/target.png">    </p:cNvPr>
          <p:cNvPicPr>
            <a:picLocks noChangeAspect="1"/>
          </p:cNvPicPr>
          <p:nvPr/>
        </p:nvPicPr>
        <p:blipFill>
          <a:blip r:embed="rId4"/>
          <a:stretch>
            <a:fillRect/>
          </a:stretch>
        </p:blipFill>
        <p:spPr>
          <a:xfrm>
            <a:off x="1303020" y="4823460"/>
            <a:ext cx="411480" cy="411480"/>
          </a:xfrm>
          <a:prstGeom prst="rect">
            <a:avLst/>
          </a:prstGeom>
        </p:spPr>
      </p:pic>
      <p:sp>
        <p:nvSpPr>
          <p:cNvPr id="22" name="Text 16"/>
          <p:cNvSpPr/>
          <p:nvPr/>
        </p:nvSpPr>
        <p:spPr>
          <a:xfrm>
            <a:off x="2148840" y="4434840"/>
            <a:ext cx="9052560" cy="1051560"/>
          </a:xfrm>
          <a:prstGeom prst="rect">
            <a:avLst/>
          </a:prstGeom>
          <a:noFill/>
          <a:ln/>
        </p:spPr>
        <p:txBody>
          <a:bodyPr wrap="square" lIns="0" tIns="0" rIns="0" bIns="0" rtlCol="0" anchor="ctr"/>
          <a:lstStyle/>
          <a:p>
            <a:pPr algn="l" indent="0" marL="0">
              <a:lnSpc>
                <a:spcPct val="125000"/>
              </a:lnSpc>
              <a:buNone/>
            </a:pPr>
            <a:r>
              <a:rPr lang="en-US" sz="1350" i="1" dirty="0">
                <a:solidFill>
                  <a:srgbClr val="FFFFFF"/>
                </a:solidFill>
                <a:latin typeface="Calibri" pitchFamily="34" charset="0"/>
                <a:ea typeface="Calibri" pitchFamily="34" charset="-122"/>
                <a:cs typeface="Calibri" pitchFamily="34" charset="-120"/>
              </a:rPr>
              <a:t>This project addresses the gap by applying systematic preprocessing and exploratory analysis to a 50,000-record multi-plant dataset — with engagement and safety attributes absent from prior benchmark studies — before any predictive modelling is attempted.</a:t>
            </a:r>
            <a:endParaRPr lang="en-US" sz="1350" dirty="0"/>
          </a:p>
        </p:txBody>
      </p:sp>
      <p:sp>
        <p:nvSpPr>
          <p:cNvPr id="23" name="Text 1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4" name="Text 18"/>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09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08</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Dataset Understanding</a:t>
            </a:r>
            <a:endParaRPr lang="en-US" sz="3200" dirty="0"/>
          </a:p>
        </p:txBody>
      </p:sp>
      <p:graphicFrame>
        <p:nvGraphicFramePr>
          <p:cNvPr id="4" name="Chart 0" descr=""/>
          <p:cNvGraphicFramePr/>
          <p:nvPr/>
        </p:nvGraphicFramePr>
        <p:xfrm>
          <a:off x="457200" y="169164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874520"/>
            <a:ext cx="5532120" cy="1097280"/>
          </a:xfrm>
          <a:prstGeom prst="roundRect">
            <a:avLst>
              <a:gd name="adj" fmla="val 6667"/>
            </a:avLst>
          </a:prstGeom>
          <a:solidFill>
            <a:srgbClr val="F3F5F8"/>
          </a:solidFill>
          <a:ln w="12700">
            <a:solidFill>
              <a:srgbClr val="E2E6EC"/>
            </a:solidFill>
            <a:prstDash val="solid"/>
          </a:ln>
        </p:spPr>
      </p:sp>
      <p:sp>
        <p:nvSpPr>
          <p:cNvPr id="6" name="Text 3"/>
          <p:cNvSpPr/>
          <p:nvPr/>
        </p:nvSpPr>
        <p:spPr>
          <a:xfrm>
            <a:off x="6309360" y="1984248"/>
            <a:ext cx="2194560" cy="868680"/>
          </a:xfrm>
          <a:prstGeom prst="rect">
            <a:avLst/>
          </a:prstGeom>
          <a:noFill/>
          <a:ln/>
        </p:spPr>
        <p:txBody>
          <a:bodyPr wrap="square" lIns="0" tIns="0" rIns="0" bIns="0" rtlCol="0" anchor="ctr"/>
          <a:lstStyle/>
          <a:p>
            <a:pPr algn="l" indent="0" marL="0">
              <a:buNone/>
            </a:pPr>
            <a:r>
              <a:rPr lang="en-US" sz="2200" b="1" dirty="0">
                <a:solidFill>
                  <a:srgbClr val="0E7490"/>
                </a:solidFill>
                <a:latin typeface="Cambria" pitchFamily="34" charset="0"/>
                <a:ea typeface="Cambria" pitchFamily="34" charset="-122"/>
                <a:cs typeface="Cambria" pitchFamily="34" charset="-120"/>
              </a:rPr>
              <a:t>0</a:t>
            </a:r>
            <a:endParaRPr lang="en-US" sz="2200" dirty="0"/>
          </a:p>
        </p:txBody>
      </p:sp>
      <p:sp>
        <p:nvSpPr>
          <p:cNvPr id="7" name="Text 4"/>
          <p:cNvSpPr/>
          <p:nvPr/>
        </p:nvSpPr>
        <p:spPr>
          <a:xfrm>
            <a:off x="8503920" y="1874520"/>
            <a:ext cx="2880360" cy="1097280"/>
          </a:xfrm>
          <a:prstGeom prst="rect">
            <a:avLst/>
          </a:prstGeom>
          <a:noFill/>
          <a:ln/>
        </p:spPr>
        <p:txBody>
          <a:bodyPr wrap="square" lIns="0" tIns="0" rIns="0" bIns="0" rtlCol="0" anchor="ctr"/>
          <a:lstStyle/>
          <a:p>
            <a:pPr algn="l" indent="0" marL="0">
              <a:lnSpc>
                <a:spcPct val="115000"/>
              </a:lnSpc>
              <a:buNone/>
            </a:pPr>
            <a:r>
              <a:rPr lang="en-US" sz="1200" dirty="0">
                <a:solidFill>
                  <a:srgbClr val="0B1F3A"/>
                </a:solidFill>
                <a:latin typeface="Calibri" pitchFamily="34" charset="0"/>
                <a:ea typeface="Calibri" pitchFamily="34" charset="-122"/>
                <a:cs typeface="Calibri" pitchFamily="34" charset="-120"/>
              </a:rPr>
              <a:t>Missing Values (of 50,000 × 21)</a:t>
            </a:r>
            <a:endParaRPr lang="en-US" sz="1200" dirty="0"/>
          </a:p>
        </p:txBody>
      </p:sp>
      <p:sp>
        <p:nvSpPr>
          <p:cNvPr id="8" name="Shape 5"/>
          <p:cNvSpPr/>
          <p:nvPr/>
        </p:nvSpPr>
        <p:spPr>
          <a:xfrm>
            <a:off x="6035040" y="3246120"/>
            <a:ext cx="5532120" cy="1097280"/>
          </a:xfrm>
          <a:prstGeom prst="roundRect">
            <a:avLst>
              <a:gd name="adj" fmla="val 6667"/>
            </a:avLst>
          </a:prstGeom>
          <a:solidFill>
            <a:srgbClr val="F3F5F8"/>
          </a:solidFill>
          <a:ln w="12700">
            <a:solidFill>
              <a:srgbClr val="E2E6EC"/>
            </a:solidFill>
            <a:prstDash val="solid"/>
          </a:ln>
        </p:spPr>
      </p:sp>
      <p:sp>
        <p:nvSpPr>
          <p:cNvPr id="9" name="Text 6"/>
          <p:cNvSpPr/>
          <p:nvPr/>
        </p:nvSpPr>
        <p:spPr>
          <a:xfrm>
            <a:off x="6309360" y="3355848"/>
            <a:ext cx="2194560" cy="868680"/>
          </a:xfrm>
          <a:prstGeom prst="rect">
            <a:avLst/>
          </a:prstGeom>
          <a:noFill/>
          <a:ln/>
        </p:spPr>
        <p:txBody>
          <a:bodyPr wrap="square" lIns="0" tIns="0" rIns="0" bIns="0" rtlCol="0" anchor="ctr"/>
          <a:lstStyle/>
          <a:p>
            <a:pPr algn="l" indent="0" marL="0">
              <a:buNone/>
            </a:pPr>
            <a:r>
              <a:rPr lang="en-US" sz="2200" b="1" dirty="0">
                <a:solidFill>
                  <a:srgbClr val="0E7490"/>
                </a:solidFill>
                <a:latin typeface="Cambria" pitchFamily="34" charset="0"/>
                <a:ea typeface="Cambria" pitchFamily="34" charset="-122"/>
                <a:cs typeface="Cambria" pitchFamily="34" charset="-120"/>
              </a:rPr>
              <a:t>0</a:t>
            </a:r>
            <a:endParaRPr lang="en-US" sz="2200" dirty="0"/>
          </a:p>
        </p:txBody>
      </p:sp>
      <p:sp>
        <p:nvSpPr>
          <p:cNvPr id="10" name="Text 7"/>
          <p:cNvSpPr/>
          <p:nvPr/>
        </p:nvSpPr>
        <p:spPr>
          <a:xfrm>
            <a:off x="8503920" y="3246120"/>
            <a:ext cx="2880360" cy="1097280"/>
          </a:xfrm>
          <a:prstGeom prst="rect">
            <a:avLst/>
          </a:prstGeom>
          <a:noFill/>
          <a:ln/>
        </p:spPr>
        <p:txBody>
          <a:bodyPr wrap="square" lIns="0" tIns="0" rIns="0" bIns="0" rtlCol="0" anchor="ctr"/>
          <a:lstStyle/>
          <a:p>
            <a:pPr algn="l" indent="0" marL="0">
              <a:lnSpc>
                <a:spcPct val="115000"/>
              </a:lnSpc>
              <a:buNone/>
            </a:pPr>
            <a:r>
              <a:rPr lang="en-US" sz="1200" dirty="0">
                <a:solidFill>
                  <a:srgbClr val="0B1F3A"/>
                </a:solidFill>
                <a:latin typeface="Calibri" pitchFamily="34" charset="0"/>
                <a:ea typeface="Calibri" pitchFamily="34" charset="-122"/>
                <a:cs typeface="Calibri" pitchFamily="34" charset="-120"/>
              </a:rPr>
              <a:t>Duplicate Rows</a:t>
            </a:r>
            <a:endParaRPr lang="en-US" sz="1200" dirty="0"/>
          </a:p>
        </p:txBody>
      </p:sp>
      <p:sp>
        <p:nvSpPr>
          <p:cNvPr id="11" name="Shape 8"/>
          <p:cNvSpPr/>
          <p:nvPr/>
        </p:nvSpPr>
        <p:spPr>
          <a:xfrm>
            <a:off x="6035040" y="4617720"/>
            <a:ext cx="5532120" cy="1097280"/>
          </a:xfrm>
          <a:prstGeom prst="roundRect">
            <a:avLst>
              <a:gd name="adj" fmla="val 6667"/>
            </a:avLst>
          </a:prstGeom>
          <a:solidFill>
            <a:srgbClr val="F3F5F8"/>
          </a:solidFill>
          <a:ln w="12700">
            <a:solidFill>
              <a:srgbClr val="E2E6EC"/>
            </a:solidFill>
            <a:prstDash val="solid"/>
          </a:ln>
        </p:spPr>
      </p:sp>
      <p:sp>
        <p:nvSpPr>
          <p:cNvPr id="12" name="Text 9"/>
          <p:cNvSpPr/>
          <p:nvPr/>
        </p:nvSpPr>
        <p:spPr>
          <a:xfrm>
            <a:off x="6309360" y="4727448"/>
            <a:ext cx="3200400" cy="868680"/>
          </a:xfrm>
          <a:prstGeom prst="rect">
            <a:avLst/>
          </a:prstGeom>
          <a:noFill/>
          <a:ln/>
        </p:spPr>
        <p:txBody>
          <a:bodyPr wrap="square" lIns="0" tIns="0" rIns="0" bIns="0" rtlCol="0" anchor="ctr"/>
          <a:lstStyle/>
          <a:p>
            <a:pPr algn="l" indent="0" marL="0">
              <a:buNone/>
            </a:pPr>
            <a:r>
              <a:rPr lang="en-US" sz="1700" b="1" dirty="0">
                <a:solidFill>
                  <a:srgbClr val="0E7490"/>
                </a:solidFill>
                <a:latin typeface="Cambria" pitchFamily="34" charset="0"/>
                <a:ea typeface="Cambria" pitchFamily="34" charset="-122"/>
                <a:cs typeface="Cambria" pitchFamily="34" charset="-120"/>
              </a:rPr>
              <a:t>83.44% / 16.56%</a:t>
            </a:r>
            <a:endParaRPr lang="en-US" sz="1700" dirty="0"/>
          </a:p>
        </p:txBody>
      </p:sp>
      <p:sp>
        <p:nvSpPr>
          <p:cNvPr id="13" name="Text 10"/>
          <p:cNvSpPr/>
          <p:nvPr/>
        </p:nvSpPr>
        <p:spPr>
          <a:xfrm>
            <a:off x="9464040" y="4617720"/>
            <a:ext cx="1920240" cy="1097280"/>
          </a:xfrm>
          <a:prstGeom prst="rect">
            <a:avLst/>
          </a:prstGeom>
          <a:noFill/>
          <a:ln/>
        </p:spPr>
        <p:txBody>
          <a:bodyPr wrap="square" lIns="0" tIns="0" rIns="0" bIns="0" rtlCol="0" anchor="ctr"/>
          <a:lstStyle/>
          <a:p>
            <a:pPr algn="l" indent="0" marL="0">
              <a:lnSpc>
                <a:spcPct val="115000"/>
              </a:lnSpc>
              <a:buNone/>
            </a:pPr>
            <a:r>
              <a:rPr lang="en-US" sz="1200" dirty="0">
                <a:solidFill>
                  <a:srgbClr val="0B1F3A"/>
                </a:solidFill>
                <a:latin typeface="Calibri" pitchFamily="34" charset="0"/>
                <a:ea typeface="Calibri" pitchFamily="34" charset="-122"/>
                <a:cs typeface="Calibri" pitchFamily="34" charset="-120"/>
              </a:rPr>
              <a:t>Retained / Left (Class Split)</a:t>
            </a:r>
            <a:endParaRPr lang="en-US" sz="1200" dirty="0"/>
          </a:p>
        </p:txBody>
      </p:sp>
      <p:sp>
        <p:nvSpPr>
          <p:cNvPr id="14" name="Text 11"/>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15" name="Text 12"/>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SECTION 09</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Preprocessing Workflow</a:t>
            </a:r>
            <a:endParaRPr lang="en-US" sz="3200" dirty="0"/>
          </a:p>
        </p:txBody>
      </p:sp>
      <p:sp>
        <p:nvSpPr>
          <p:cNvPr id="4" name="Text 2"/>
          <p:cNvSpPr/>
          <p:nvPr/>
        </p:nvSpPr>
        <p:spPr>
          <a:xfrm>
            <a:off x="594360" y="1234440"/>
            <a:ext cx="10972800" cy="411480"/>
          </a:xfrm>
          <a:prstGeom prst="rect">
            <a:avLst/>
          </a:prstGeom>
          <a:noFill/>
          <a:ln/>
        </p:spPr>
        <p:txBody>
          <a:bodyPr wrap="square" lIns="0" tIns="0" rIns="0" bIns="0" rtlCol="0" anchor="ctr"/>
          <a:lstStyle/>
          <a:p>
            <a:pPr indent="0" marL="0">
              <a:buNone/>
            </a:pPr>
            <a:r>
              <a:rPr lang="en-US" sz="1250" i="1" dirty="0">
                <a:solidFill>
                  <a:srgbClr val="B9C6D9"/>
                </a:solidFill>
                <a:latin typeface="Calibri" pitchFamily="34" charset="0"/>
                <a:ea typeface="Calibri" pitchFamily="34" charset="-122"/>
                <a:cs typeface="Calibri" pitchFamily="34" charset="-120"/>
              </a:rPr>
              <a:t>Every step was verified in R before any transformation was applied — following a Verification → Observation → Action → Rationale structure.</a:t>
            </a:r>
            <a:endParaRPr lang="en-US" sz="1250" dirty="0"/>
          </a:p>
        </p:txBody>
      </p:sp>
      <p:sp>
        <p:nvSpPr>
          <p:cNvPr id="5" name="Shape 3"/>
          <p:cNvSpPr/>
          <p:nvPr/>
        </p:nvSpPr>
        <p:spPr>
          <a:xfrm>
            <a:off x="594360" y="2606040"/>
            <a:ext cx="1481328" cy="1481328"/>
          </a:xfrm>
          <a:prstGeom prst="roundRect">
            <a:avLst>
              <a:gd name="adj" fmla="val 5556"/>
            </a:avLst>
          </a:prstGeom>
          <a:solidFill>
            <a:srgbClr val="112A4E"/>
          </a:solidFill>
          <a:ln w="12700">
            <a:solidFill>
              <a:srgbClr val="244268"/>
            </a:solidFill>
            <a:prstDash val="solid"/>
          </a:ln>
        </p:spPr>
      </p:sp>
      <p:sp>
        <p:nvSpPr>
          <p:cNvPr id="6" name="Shape 4"/>
          <p:cNvSpPr/>
          <p:nvPr/>
        </p:nvSpPr>
        <p:spPr>
          <a:xfrm>
            <a:off x="1051560" y="2779776"/>
            <a:ext cx="566928" cy="566928"/>
          </a:xfrm>
          <a:prstGeom prst="ellipse">
            <a:avLst/>
          </a:prstGeom>
          <a:solidFill>
            <a:srgbClr val="22D3EE"/>
          </a:solidFill>
          <a:ln/>
        </p:spPr>
      </p:sp>
      <p:pic>
        <p:nvPicPr>
          <p:cNvPr id="7" name="Image 0" descr="/home/claude/pptx_build/icons/missing.png">    </p:cNvPr>
          <p:cNvPicPr>
            <a:picLocks noChangeAspect="1"/>
          </p:cNvPicPr>
          <p:nvPr/>
        </p:nvPicPr>
        <p:blipFill>
          <a:blip r:embed="rId1"/>
          <a:stretch>
            <a:fillRect/>
          </a:stretch>
        </p:blipFill>
        <p:spPr>
          <a:xfrm>
            <a:off x="1193292" y="2921508"/>
            <a:ext cx="283464" cy="283464"/>
          </a:xfrm>
          <a:prstGeom prst="rect">
            <a:avLst/>
          </a:prstGeom>
        </p:spPr>
      </p:pic>
      <p:sp>
        <p:nvSpPr>
          <p:cNvPr id="8" name="Text 5"/>
          <p:cNvSpPr/>
          <p:nvPr/>
        </p:nvSpPr>
        <p:spPr>
          <a:xfrm>
            <a:off x="502920"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Missing Value</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Check</a:t>
            </a:r>
            <a:endParaRPr lang="en-US" sz="1000" dirty="0"/>
          </a:p>
        </p:txBody>
      </p:sp>
      <p:sp>
        <p:nvSpPr>
          <p:cNvPr id="9" name="Text 6"/>
          <p:cNvSpPr/>
          <p:nvPr/>
        </p:nvSpPr>
        <p:spPr>
          <a:xfrm>
            <a:off x="594360"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01</a:t>
            </a:r>
            <a:endParaRPr lang="en-US" sz="1000" dirty="0"/>
          </a:p>
        </p:txBody>
      </p:sp>
      <p:sp>
        <p:nvSpPr>
          <p:cNvPr id="10" name="Text 7"/>
          <p:cNvSpPr/>
          <p:nvPr/>
        </p:nvSpPr>
        <p:spPr>
          <a:xfrm>
            <a:off x="2075688"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11" name="Text 8"/>
          <p:cNvSpPr/>
          <p:nvPr/>
        </p:nvSpPr>
        <p:spPr>
          <a:xfrm>
            <a:off x="457200"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0 found</a:t>
            </a:r>
            <a:endParaRPr lang="en-US" sz="950" dirty="0"/>
          </a:p>
        </p:txBody>
      </p:sp>
      <p:sp>
        <p:nvSpPr>
          <p:cNvPr id="12" name="Shape 9"/>
          <p:cNvSpPr/>
          <p:nvPr/>
        </p:nvSpPr>
        <p:spPr>
          <a:xfrm>
            <a:off x="2176272" y="2606040"/>
            <a:ext cx="1481328" cy="1481328"/>
          </a:xfrm>
          <a:prstGeom prst="roundRect">
            <a:avLst>
              <a:gd name="adj" fmla="val 5556"/>
            </a:avLst>
          </a:prstGeom>
          <a:solidFill>
            <a:srgbClr val="112A4E"/>
          </a:solidFill>
          <a:ln w="12700">
            <a:solidFill>
              <a:srgbClr val="244268"/>
            </a:solidFill>
            <a:prstDash val="solid"/>
          </a:ln>
        </p:spPr>
      </p:sp>
      <p:sp>
        <p:nvSpPr>
          <p:cNvPr id="13" name="Shape 10"/>
          <p:cNvSpPr/>
          <p:nvPr/>
        </p:nvSpPr>
        <p:spPr>
          <a:xfrm>
            <a:off x="2633472" y="2779776"/>
            <a:ext cx="566928" cy="566928"/>
          </a:xfrm>
          <a:prstGeom prst="ellipse">
            <a:avLst/>
          </a:prstGeom>
          <a:solidFill>
            <a:srgbClr val="22D3EE"/>
          </a:solidFill>
          <a:ln/>
        </p:spPr>
      </p:sp>
      <p:pic>
        <p:nvPicPr>
          <p:cNvPr id="14" name="Image 1" descr="/home/claude/pptx_build/icons/duplicate.png">    </p:cNvPr>
          <p:cNvPicPr>
            <a:picLocks noChangeAspect="1"/>
          </p:cNvPicPr>
          <p:nvPr/>
        </p:nvPicPr>
        <p:blipFill>
          <a:blip r:embed="rId2"/>
          <a:stretch>
            <a:fillRect/>
          </a:stretch>
        </p:blipFill>
        <p:spPr>
          <a:xfrm>
            <a:off x="2775204" y="2921508"/>
            <a:ext cx="283464" cy="283464"/>
          </a:xfrm>
          <a:prstGeom prst="rect">
            <a:avLst/>
          </a:prstGeom>
        </p:spPr>
      </p:pic>
      <p:sp>
        <p:nvSpPr>
          <p:cNvPr id="15" name="Text 11"/>
          <p:cNvSpPr/>
          <p:nvPr/>
        </p:nvSpPr>
        <p:spPr>
          <a:xfrm>
            <a:off x="2084832"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Duplicate</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Check</a:t>
            </a:r>
            <a:endParaRPr lang="en-US" sz="1000" dirty="0"/>
          </a:p>
        </p:txBody>
      </p:sp>
      <p:sp>
        <p:nvSpPr>
          <p:cNvPr id="16" name="Text 12"/>
          <p:cNvSpPr/>
          <p:nvPr/>
        </p:nvSpPr>
        <p:spPr>
          <a:xfrm>
            <a:off x="2176272"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02</a:t>
            </a:r>
            <a:endParaRPr lang="en-US" sz="1000" dirty="0"/>
          </a:p>
        </p:txBody>
      </p:sp>
      <p:sp>
        <p:nvSpPr>
          <p:cNvPr id="17" name="Text 13"/>
          <p:cNvSpPr/>
          <p:nvPr/>
        </p:nvSpPr>
        <p:spPr>
          <a:xfrm>
            <a:off x="3657600"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18" name="Text 14"/>
          <p:cNvSpPr/>
          <p:nvPr/>
        </p:nvSpPr>
        <p:spPr>
          <a:xfrm>
            <a:off x="2039112"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0 found</a:t>
            </a:r>
            <a:endParaRPr lang="en-US" sz="950" dirty="0"/>
          </a:p>
        </p:txBody>
      </p:sp>
      <p:sp>
        <p:nvSpPr>
          <p:cNvPr id="19" name="Shape 15"/>
          <p:cNvSpPr/>
          <p:nvPr/>
        </p:nvSpPr>
        <p:spPr>
          <a:xfrm>
            <a:off x="3758184" y="2606040"/>
            <a:ext cx="1481328" cy="1481328"/>
          </a:xfrm>
          <a:prstGeom prst="roundRect">
            <a:avLst>
              <a:gd name="adj" fmla="val 5556"/>
            </a:avLst>
          </a:prstGeom>
          <a:solidFill>
            <a:srgbClr val="112A4E"/>
          </a:solidFill>
          <a:ln w="12700">
            <a:solidFill>
              <a:srgbClr val="244268"/>
            </a:solidFill>
            <a:prstDash val="solid"/>
          </a:ln>
        </p:spPr>
      </p:sp>
      <p:sp>
        <p:nvSpPr>
          <p:cNvPr id="20" name="Shape 16"/>
          <p:cNvSpPr/>
          <p:nvPr/>
        </p:nvSpPr>
        <p:spPr>
          <a:xfrm>
            <a:off x="4215384" y="2779776"/>
            <a:ext cx="566928" cy="566928"/>
          </a:xfrm>
          <a:prstGeom prst="ellipse">
            <a:avLst/>
          </a:prstGeom>
          <a:solidFill>
            <a:srgbClr val="22D3EE"/>
          </a:solidFill>
          <a:ln/>
        </p:spPr>
      </p:sp>
      <p:pic>
        <p:nvPicPr>
          <p:cNvPr id="21" name="Image 2" descr="/home/claude/pptx_build/icons/gap.png">    </p:cNvPr>
          <p:cNvPicPr>
            <a:picLocks noChangeAspect="1"/>
          </p:cNvPicPr>
          <p:nvPr/>
        </p:nvPicPr>
        <p:blipFill>
          <a:blip r:embed="rId3"/>
          <a:stretch>
            <a:fillRect/>
          </a:stretch>
        </p:blipFill>
        <p:spPr>
          <a:xfrm>
            <a:off x="4357116" y="2921508"/>
            <a:ext cx="283464" cy="283464"/>
          </a:xfrm>
          <a:prstGeom prst="rect">
            <a:avLst/>
          </a:prstGeom>
        </p:spPr>
      </p:pic>
      <p:sp>
        <p:nvSpPr>
          <p:cNvPr id="22" name="Text 17"/>
          <p:cNvSpPr/>
          <p:nvPr/>
        </p:nvSpPr>
        <p:spPr>
          <a:xfrm>
            <a:off x="3666744"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Redundancy</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Check</a:t>
            </a:r>
            <a:endParaRPr lang="en-US" sz="1000" dirty="0"/>
          </a:p>
        </p:txBody>
      </p:sp>
      <p:sp>
        <p:nvSpPr>
          <p:cNvPr id="23" name="Text 18"/>
          <p:cNvSpPr/>
          <p:nvPr/>
        </p:nvSpPr>
        <p:spPr>
          <a:xfrm>
            <a:off x="3758184"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03</a:t>
            </a:r>
            <a:endParaRPr lang="en-US" sz="1000" dirty="0"/>
          </a:p>
        </p:txBody>
      </p:sp>
      <p:sp>
        <p:nvSpPr>
          <p:cNvPr id="24" name="Text 19"/>
          <p:cNvSpPr/>
          <p:nvPr/>
        </p:nvSpPr>
        <p:spPr>
          <a:xfrm>
            <a:off x="5239512"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25" name="Text 20"/>
          <p:cNvSpPr/>
          <p:nvPr/>
        </p:nvSpPr>
        <p:spPr>
          <a:xfrm>
            <a:off x="3621024"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EducationLevel flagged</a:t>
            </a:r>
            <a:endParaRPr lang="en-US" sz="950" dirty="0"/>
          </a:p>
        </p:txBody>
      </p:sp>
      <p:sp>
        <p:nvSpPr>
          <p:cNvPr id="26" name="Shape 21"/>
          <p:cNvSpPr/>
          <p:nvPr/>
        </p:nvSpPr>
        <p:spPr>
          <a:xfrm>
            <a:off x="5340096" y="2606040"/>
            <a:ext cx="1481328" cy="1481328"/>
          </a:xfrm>
          <a:prstGeom prst="roundRect">
            <a:avLst>
              <a:gd name="adj" fmla="val 5556"/>
            </a:avLst>
          </a:prstGeom>
          <a:solidFill>
            <a:srgbClr val="112A4E"/>
          </a:solidFill>
          <a:ln w="12700">
            <a:solidFill>
              <a:srgbClr val="244268"/>
            </a:solidFill>
            <a:prstDash val="solid"/>
          </a:ln>
        </p:spPr>
      </p:sp>
      <p:sp>
        <p:nvSpPr>
          <p:cNvPr id="27" name="Shape 22"/>
          <p:cNvSpPr/>
          <p:nvPr/>
        </p:nvSpPr>
        <p:spPr>
          <a:xfrm>
            <a:off x="5797296" y="2779776"/>
            <a:ext cx="566928" cy="566928"/>
          </a:xfrm>
          <a:prstGeom prst="ellipse">
            <a:avLst/>
          </a:prstGeom>
          <a:solidFill>
            <a:srgbClr val="22D3EE"/>
          </a:solidFill>
          <a:ln/>
        </p:spPr>
      </p:sp>
      <p:pic>
        <p:nvPicPr>
          <p:cNvPr id="28" name="Image 3" descr="/home/claude/pptx_build/icons/feature.png">    </p:cNvPr>
          <p:cNvPicPr>
            <a:picLocks noChangeAspect="1"/>
          </p:cNvPicPr>
          <p:nvPr/>
        </p:nvPicPr>
        <p:blipFill>
          <a:blip r:embed="rId4"/>
          <a:stretch>
            <a:fillRect/>
          </a:stretch>
        </p:blipFill>
        <p:spPr>
          <a:xfrm>
            <a:off x="5939028" y="2921508"/>
            <a:ext cx="283464" cy="283464"/>
          </a:xfrm>
          <a:prstGeom prst="rect">
            <a:avLst/>
          </a:prstGeom>
        </p:spPr>
      </p:pic>
      <p:sp>
        <p:nvSpPr>
          <p:cNvPr id="29" name="Text 23"/>
          <p:cNvSpPr/>
          <p:nvPr/>
        </p:nvSpPr>
        <p:spPr>
          <a:xfrm>
            <a:off x="5248656"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Removal</a:t>
            </a:r>
            <a:endParaRPr lang="en-US" sz="1000" dirty="0"/>
          </a:p>
        </p:txBody>
      </p:sp>
      <p:sp>
        <p:nvSpPr>
          <p:cNvPr id="30" name="Text 24"/>
          <p:cNvSpPr/>
          <p:nvPr/>
        </p:nvSpPr>
        <p:spPr>
          <a:xfrm>
            <a:off x="5340096"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04</a:t>
            </a:r>
            <a:endParaRPr lang="en-US" sz="1000" dirty="0"/>
          </a:p>
        </p:txBody>
      </p:sp>
      <p:sp>
        <p:nvSpPr>
          <p:cNvPr id="31" name="Text 25"/>
          <p:cNvSpPr/>
          <p:nvPr/>
        </p:nvSpPr>
        <p:spPr>
          <a:xfrm>
            <a:off x="6821424"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32" name="Text 26"/>
          <p:cNvSpPr/>
          <p:nvPr/>
        </p:nvSpPr>
        <p:spPr>
          <a:xfrm>
            <a:off x="5202936"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21 → 19 columns</a:t>
            </a:r>
            <a:endParaRPr lang="en-US" sz="950" dirty="0"/>
          </a:p>
        </p:txBody>
      </p:sp>
      <p:sp>
        <p:nvSpPr>
          <p:cNvPr id="33" name="Shape 27"/>
          <p:cNvSpPr/>
          <p:nvPr/>
        </p:nvSpPr>
        <p:spPr>
          <a:xfrm>
            <a:off x="6922008" y="2606040"/>
            <a:ext cx="1481328" cy="1481328"/>
          </a:xfrm>
          <a:prstGeom prst="roundRect">
            <a:avLst>
              <a:gd name="adj" fmla="val 5556"/>
            </a:avLst>
          </a:prstGeom>
          <a:solidFill>
            <a:srgbClr val="112A4E"/>
          </a:solidFill>
          <a:ln w="12700">
            <a:solidFill>
              <a:srgbClr val="244268"/>
            </a:solidFill>
            <a:prstDash val="solid"/>
          </a:ln>
        </p:spPr>
      </p:sp>
      <p:sp>
        <p:nvSpPr>
          <p:cNvPr id="34" name="Shape 28"/>
          <p:cNvSpPr/>
          <p:nvPr/>
        </p:nvSpPr>
        <p:spPr>
          <a:xfrm>
            <a:off x="7379208" y="2779776"/>
            <a:ext cx="566928" cy="566928"/>
          </a:xfrm>
          <a:prstGeom prst="ellipse">
            <a:avLst/>
          </a:prstGeom>
          <a:solidFill>
            <a:srgbClr val="22D3EE"/>
          </a:solidFill>
          <a:ln/>
        </p:spPr>
      </p:sp>
      <p:pic>
        <p:nvPicPr>
          <p:cNvPr id="35" name="Image 4" descr="/home/claude/pptx_build/icons/outlier.png">    </p:cNvPr>
          <p:cNvPicPr>
            <a:picLocks noChangeAspect="1"/>
          </p:cNvPicPr>
          <p:nvPr/>
        </p:nvPicPr>
        <p:blipFill>
          <a:blip r:embed="rId5"/>
          <a:stretch>
            <a:fillRect/>
          </a:stretch>
        </p:blipFill>
        <p:spPr>
          <a:xfrm>
            <a:off x="7520940" y="2921508"/>
            <a:ext cx="283464" cy="283464"/>
          </a:xfrm>
          <a:prstGeom prst="rect">
            <a:avLst/>
          </a:prstGeom>
        </p:spPr>
      </p:pic>
      <p:sp>
        <p:nvSpPr>
          <p:cNvPr id="36" name="Text 29"/>
          <p:cNvSpPr/>
          <p:nvPr/>
        </p:nvSpPr>
        <p:spPr>
          <a:xfrm>
            <a:off x="6830568"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Outlier</a:t>
            </a:r>
            <a:endParaRPr lang="en-US" sz="1000" dirty="0"/>
          </a:p>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Detection (IQR)</a:t>
            </a:r>
            <a:endParaRPr lang="en-US" sz="1000" dirty="0"/>
          </a:p>
        </p:txBody>
      </p:sp>
      <p:sp>
        <p:nvSpPr>
          <p:cNvPr id="37" name="Text 30"/>
          <p:cNvSpPr/>
          <p:nvPr/>
        </p:nvSpPr>
        <p:spPr>
          <a:xfrm>
            <a:off x="6922008"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05</a:t>
            </a:r>
            <a:endParaRPr lang="en-US" sz="1000" dirty="0"/>
          </a:p>
        </p:txBody>
      </p:sp>
      <p:sp>
        <p:nvSpPr>
          <p:cNvPr id="38" name="Text 31"/>
          <p:cNvSpPr/>
          <p:nvPr/>
        </p:nvSpPr>
        <p:spPr>
          <a:xfrm>
            <a:off x="8403336"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39" name="Text 32"/>
          <p:cNvSpPr/>
          <p:nvPr/>
        </p:nvSpPr>
        <p:spPr>
          <a:xfrm>
            <a:off x="6784848"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Flagged, retained</a:t>
            </a:r>
            <a:endParaRPr lang="en-US" sz="950" dirty="0"/>
          </a:p>
        </p:txBody>
      </p:sp>
      <p:sp>
        <p:nvSpPr>
          <p:cNvPr id="40" name="Shape 33"/>
          <p:cNvSpPr/>
          <p:nvPr/>
        </p:nvSpPr>
        <p:spPr>
          <a:xfrm>
            <a:off x="8503920" y="2606040"/>
            <a:ext cx="1481328" cy="1481328"/>
          </a:xfrm>
          <a:prstGeom prst="roundRect">
            <a:avLst>
              <a:gd name="adj" fmla="val 5556"/>
            </a:avLst>
          </a:prstGeom>
          <a:solidFill>
            <a:srgbClr val="112A4E"/>
          </a:solidFill>
          <a:ln w="12700">
            <a:solidFill>
              <a:srgbClr val="244268"/>
            </a:solidFill>
            <a:prstDash val="solid"/>
          </a:ln>
        </p:spPr>
      </p:sp>
      <p:sp>
        <p:nvSpPr>
          <p:cNvPr id="41" name="Shape 34"/>
          <p:cNvSpPr/>
          <p:nvPr/>
        </p:nvSpPr>
        <p:spPr>
          <a:xfrm>
            <a:off x="8961120" y="2779776"/>
            <a:ext cx="566928" cy="566928"/>
          </a:xfrm>
          <a:prstGeom prst="ellipse">
            <a:avLst/>
          </a:prstGeom>
          <a:solidFill>
            <a:srgbClr val="22D3EE"/>
          </a:solidFill>
          <a:ln/>
        </p:spPr>
      </p:sp>
      <p:pic>
        <p:nvPicPr>
          <p:cNvPr id="42" name="Image 5" descr="/home/claude/pptx_build/icons/encoding.png">    </p:cNvPr>
          <p:cNvPicPr>
            <a:picLocks noChangeAspect="1"/>
          </p:cNvPicPr>
          <p:nvPr/>
        </p:nvPicPr>
        <p:blipFill>
          <a:blip r:embed="rId6"/>
          <a:stretch>
            <a:fillRect/>
          </a:stretch>
        </p:blipFill>
        <p:spPr>
          <a:xfrm>
            <a:off x="9102852" y="2921508"/>
            <a:ext cx="283464" cy="283464"/>
          </a:xfrm>
          <a:prstGeom prst="rect">
            <a:avLst/>
          </a:prstGeom>
        </p:spPr>
      </p:pic>
      <p:sp>
        <p:nvSpPr>
          <p:cNvPr id="43" name="Text 35"/>
          <p:cNvSpPr/>
          <p:nvPr/>
        </p:nvSpPr>
        <p:spPr>
          <a:xfrm>
            <a:off x="8412480"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Encoding</a:t>
            </a:r>
            <a:endParaRPr lang="en-US" sz="1000" dirty="0"/>
          </a:p>
        </p:txBody>
      </p:sp>
      <p:sp>
        <p:nvSpPr>
          <p:cNvPr id="44" name="Text 36"/>
          <p:cNvSpPr/>
          <p:nvPr/>
        </p:nvSpPr>
        <p:spPr>
          <a:xfrm>
            <a:off x="8503920"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06</a:t>
            </a:r>
            <a:endParaRPr lang="en-US" sz="1000" dirty="0"/>
          </a:p>
        </p:txBody>
      </p:sp>
      <p:sp>
        <p:nvSpPr>
          <p:cNvPr id="45" name="Text 37"/>
          <p:cNvSpPr/>
          <p:nvPr/>
        </p:nvSpPr>
        <p:spPr>
          <a:xfrm>
            <a:off x="9985248" y="3108960"/>
            <a:ext cx="100584" cy="45720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a:t>
            </a:r>
            <a:endParaRPr lang="en-US" sz="2000" dirty="0"/>
          </a:p>
        </p:txBody>
      </p:sp>
      <p:sp>
        <p:nvSpPr>
          <p:cNvPr id="46" name="Text 38"/>
          <p:cNvSpPr/>
          <p:nvPr/>
        </p:nvSpPr>
        <p:spPr>
          <a:xfrm>
            <a:off x="8366760"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One-hot + binary</a:t>
            </a:r>
            <a:endParaRPr lang="en-US" sz="950" dirty="0"/>
          </a:p>
        </p:txBody>
      </p:sp>
      <p:sp>
        <p:nvSpPr>
          <p:cNvPr id="47" name="Shape 39"/>
          <p:cNvSpPr/>
          <p:nvPr/>
        </p:nvSpPr>
        <p:spPr>
          <a:xfrm>
            <a:off x="10085832" y="2606040"/>
            <a:ext cx="1481328" cy="1481328"/>
          </a:xfrm>
          <a:prstGeom prst="roundRect">
            <a:avLst>
              <a:gd name="adj" fmla="val 5556"/>
            </a:avLst>
          </a:prstGeom>
          <a:solidFill>
            <a:srgbClr val="112A4E"/>
          </a:solidFill>
          <a:ln w="12700">
            <a:solidFill>
              <a:srgbClr val="244268"/>
            </a:solidFill>
            <a:prstDash val="solid"/>
          </a:ln>
        </p:spPr>
      </p:sp>
      <p:sp>
        <p:nvSpPr>
          <p:cNvPr id="48" name="Shape 40"/>
          <p:cNvSpPr/>
          <p:nvPr/>
        </p:nvSpPr>
        <p:spPr>
          <a:xfrm>
            <a:off x="10543032" y="2779776"/>
            <a:ext cx="566928" cy="566928"/>
          </a:xfrm>
          <a:prstGeom prst="ellipse">
            <a:avLst/>
          </a:prstGeom>
          <a:solidFill>
            <a:srgbClr val="22D3EE"/>
          </a:solidFill>
          <a:ln/>
        </p:spPr>
      </p:sp>
      <p:pic>
        <p:nvPicPr>
          <p:cNvPr id="49" name="Image 6" descr="/home/claude/pptx_build/icons/scaling.png">    </p:cNvPr>
          <p:cNvPicPr>
            <a:picLocks noChangeAspect="1"/>
          </p:cNvPicPr>
          <p:nvPr/>
        </p:nvPicPr>
        <p:blipFill>
          <a:blip r:embed="rId7"/>
          <a:stretch>
            <a:fillRect/>
          </a:stretch>
        </p:blipFill>
        <p:spPr>
          <a:xfrm>
            <a:off x="10684764" y="2921508"/>
            <a:ext cx="283464" cy="283464"/>
          </a:xfrm>
          <a:prstGeom prst="rect">
            <a:avLst/>
          </a:prstGeom>
        </p:spPr>
      </p:pic>
      <p:sp>
        <p:nvSpPr>
          <p:cNvPr id="50" name="Text 41"/>
          <p:cNvSpPr/>
          <p:nvPr/>
        </p:nvSpPr>
        <p:spPr>
          <a:xfrm>
            <a:off x="9994392" y="3410712"/>
            <a:ext cx="1664208"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Scaling</a:t>
            </a:r>
            <a:endParaRPr lang="en-US" sz="1000" dirty="0"/>
          </a:p>
        </p:txBody>
      </p:sp>
      <p:sp>
        <p:nvSpPr>
          <p:cNvPr id="51" name="Text 42"/>
          <p:cNvSpPr/>
          <p:nvPr/>
        </p:nvSpPr>
        <p:spPr>
          <a:xfrm>
            <a:off x="10085832" y="2313432"/>
            <a:ext cx="1481328" cy="256032"/>
          </a:xfrm>
          <a:prstGeom prst="rect">
            <a:avLst/>
          </a:prstGeom>
          <a:noFill/>
          <a:ln/>
        </p:spPr>
        <p:txBody>
          <a:bodyPr wrap="square" lIns="0" tIns="0" rIns="0" bIns="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07</a:t>
            </a:r>
            <a:endParaRPr lang="en-US" sz="1000" dirty="0"/>
          </a:p>
        </p:txBody>
      </p:sp>
      <p:sp>
        <p:nvSpPr>
          <p:cNvPr id="52" name="Text 43"/>
          <p:cNvSpPr/>
          <p:nvPr/>
        </p:nvSpPr>
        <p:spPr>
          <a:xfrm>
            <a:off x="9948672" y="4224528"/>
            <a:ext cx="1755648" cy="640080"/>
          </a:xfrm>
          <a:prstGeom prst="rect">
            <a:avLst/>
          </a:prstGeom>
          <a:noFill/>
          <a:ln/>
        </p:spPr>
        <p:txBody>
          <a:bodyPr wrap="square" lIns="0" tIns="0" rIns="0" bIns="0" rtlCol="0" anchor="ctr"/>
          <a:lstStyle/>
          <a:p>
            <a:pPr algn="ctr" indent="0" marL="0">
              <a:lnSpc>
                <a:spcPct val="110000"/>
              </a:lnSpc>
              <a:buNone/>
            </a:pPr>
            <a:r>
              <a:rPr lang="en-US" sz="950" dirty="0">
                <a:solidFill>
                  <a:srgbClr val="AFC0D6"/>
                </a:solidFill>
                <a:latin typeface="Calibri" pitchFamily="34" charset="0"/>
                <a:ea typeface="Calibri" pitchFamily="34" charset="-122"/>
                <a:cs typeface="Calibri" pitchFamily="34" charset="-120"/>
              </a:rPr>
              <a:t>Z-score standardized</a:t>
            </a:r>
            <a:endParaRPr lang="en-US" sz="950" dirty="0"/>
          </a:p>
        </p:txBody>
      </p:sp>
      <p:sp>
        <p:nvSpPr>
          <p:cNvPr id="53" name="Text 4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6E86A6"/>
                </a:solidFill>
                <a:latin typeface="Calibri" pitchFamily="34" charset="0"/>
                <a:ea typeface="Calibri" pitchFamily="34" charset="-122"/>
                <a:cs typeface="Calibri" pitchFamily="34" charset="-120"/>
              </a:rPr>
              <a:t>DA1  ·  EMPLOYEE ATTRITION PREDICTION</a:t>
            </a:r>
            <a:endParaRPr lang="en-US" sz="850" dirty="0"/>
          </a:p>
        </p:txBody>
      </p:sp>
      <p:sp>
        <p:nvSpPr>
          <p:cNvPr id="54" name="Text 45"/>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6E86A6"/>
                </a:solidFill>
                <a:latin typeface="Calibri" pitchFamily="34" charset="0"/>
                <a:ea typeface="Calibri" pitchFamily="34" charset="-122"/>
                <a:cs typeface="Calibri"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10  ·  VERIFICATION → OBSERVATION → ACTION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Missing Values</a:t>
            </a:r>
            <a:endParaRPr lang="en-US" sz="3200" dirty="0"/>
          </a:p>
        </p:txBody>
      </p:sp>
      <p:sp>
        <p:nvSpPr>
          <p:cNvPr id="4" name="Shape 2"/>
          <p:cNvSpPr/>
          <p:nvPr/>
        </p:nvSpPr>
        <p:spPr>
          <a:xfrm>
            <a:off x="594360" y="1828800"/>
            <a:ext cx="5212080" cy="3977640"/>
          </a:xfrm>
          <a:prstGeom prst="roundRect">
            <a:avLst>
              <a:gd name="adj" fmla="val 1839"/>
            </a:avLst>
          </a:prstGeom>
          <a:solidFill>
            <a:srgbClr val="0B1F3A"/>
          </a:solidFill>
          <a:ln/>
        </p:spPr>
      </p:sp>
      <p:sp>
        <p:nvSpPr>
          <p:cNvPr id="5" name="Shape 3"/>
          <p:cNvSpPr/>
          <p:nvPr/>
        </p:nvSpPr>
        <p:spPr>
          <a:xfrm>
            <a:off x="2697480" y="2286000"/>
            <a:ext cx="1005840" cy="1005840"/>
          </a:xfrm>
          <a:prstGeom prst="ellipse">
            <a:avLst/>
          </a:prstGeom>
          <a:solidFill>
            <a:srgbClr val="1FA97E"/>
          </a:solidFill>
          <a:ln/>
        </p:spPr>
      </p:sp>
      <p:pic>
        <p:nvPicPr>
          <p:cNvPr id="6" name="Image 0" descr="/home/claude/pptx_build/icons/missing.png">    </p:cNvPr>
          <p:cNvPicPr>
            <a:picLocks noChangeAspect="1"/>
          </p:cNvPicPr>
          <p:nvPr/>
        </p:nvPicPr>
        <p:blipFill>
          <a:blip r:embed="rId1"/>
          <a:stretch>
            <a:fillRect/>
          </a:stretch>
        </p:blipFill>
        <p:spPr>
          <a:xfrm>
            <a:off x="2948940" y="2537460"/>
            <a:ext cx="502920" cy="502920"/>
          </a:xfrm>
          <a:prstGeom prst="rect">
            <a:avLst/>
          </a:prstGeom>
        </p:spPr>
      </p:pic>
      <p:sp>
        <p:nvSpPr>
          <p:cNvPr id="7" name="Text 4"/>
          <p:cNvSpPr/>
          <p:nvPr/>
        </p:nvSpPr>
        <p:spPr>
          <a:xfrm>
            <a:off x="594360" y="3429000"/>
            <a:ext cx="521208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a:t>
            </a:r>
            <a:endParaRPr lang="en-US" sz="5600" dirty="0"/>
          </a:p>
        </p:txBody>
      </p:sp>
      <p:sp>
        <p:nvSpPr>
          <p:cNvPr id="8" name="Text 5"/>
          <p:cNvSpPr/>
          <p:nvPr/>
        </p:nvSpPr>
        <p:spPr>
          <a:xfrm>
            <a:off x="1051560" y="4343400"/>
            <a:ext cx="4297680" cy="548640"/>
          </a:xfrm>
          <a:prstGeom prst="rect">
            <a:avLst/>
          </a:prstGeom>
          <a:noFill/>
          <a:ln/>
        </p:spPr>
        <p:txBody>
          <a:bodyPr wrap="square" lIns="0" tIns="0" rIns="0" bIns="0" rtlCol="0" anchor="ctr"/>
          <a:lstStyle/>
          <a:p>
            <a:pPr algn="ctr" indent="0" marL="0">
              <a:lnSpc>
                <a:spcPct val="115000"/>
              </a:lnSpc>
              <a:buNone/>
            </a:pPr>
            <a:r>
              <a:rPr lang="en-US" sz="1300" dirty="0">
                <a:solidFill>
                  <a:srgbClr val="B9C6D9"/>
                </a:solidFill>
                <a:latin typeface="Calibri" pitchFamily="34" charset="0"/>
                <a:ea typeface="Calibri" pitchFamily="34" charset="-122"/>
                <a:cs typeface="Calibri" pitchFamily="34" charset="-120"/>
              </a:rPr>
              <a:t>missing cells across all 50,000 × 21 records</a:t>
            </a:r>
            <a:endParaRPr lang="en-US" sz="1300" dirty="0"/>
          </a:p>
        </p:txBody>
      </p:sp>
      <p:sp>
        <p:nvSpPr>
          <p:cNvPr id="9" name="Text 6"/>
          <p:cNvSpPr/>
          <p:nvPr/>
        </p:nvSpPr>
        <p:spPr>
          <a:xfrm>
            <a:off x="6126480" y="1874520"/>
            <a:ext cx="1828800" cy="457200"/>
          </a:xfrm>
          <a:prstGeom prst="rect">
            <a:avLst/>
          </a:prstGeom>
          <a:noFill/>
          <a:ln/>
        </p:spPr>
        <p:txBody>
          <a:bodyPr wrap="square" lIns="0" tIns="0" rIns="0" bIns="0" rtlCol="0" anchor="ctr"/>
          <a:lstStyle/>
          <a:p>
            <a:pPr indent="0" marL="0">
              <a:buNone/>
            </a:pPr>
            <a:r>
              <a:rPr lang="en-US" sz="1300" b="1" dirty="0">
                <a:solidFill>
                  <a:srgbClr val="0E7490"/>
                </a:solidFill>
                <a:latin typeface="Calibri" pitchFamily="34" charset="0"/>
                <a:ea typeface="Calibri" pitchFamily="34" charset="-122"/>
                <a:cs typeface="Calibri" pitchFamily="34" charset="-120"/>
              </a:rPr>
              <a:t>Verification</a:t>
            </a:r>
            <a:endParaRPr lang="en-US" sz="1300" dirty="0"/>
          </a:p>
        </p:txBody>
      </p:sp>
      <p:sp>
        <p:nvSpPr>
          <p:cNvPr id="10" name="Text 7"/>
          <p:cNvSpPr/>
          <p:nvPr/>
        </p:nvSpPr>
        <p:spPr>
          <a:xfrm>
            <a:off x="6126480" y="2258568"/>
            <a:ext cx="5440680" cy="502920"/>
          </a:xfrm>
          <a:prstGeom prst="rect">
            <a:avLst/>
          </a:prstGeom>
          <a:noFill/>
          <a:ln/>
        </p:spPr>
        <p:txBody>
          <a:bodyPr wrap="square" lIns="0" tIns="0" rIns="0" bIns="0" rtlCol="0" anchor="ctr"/>
          <a:lstStyle/>
          <a:p>
            <a:pPr indent="0" marL="0">
              <a:lnSpc>
                <a:spcPct val="115000"/>
              </a:lnSpc>
              <a:buNone/>
            </a:pPr>
            <a:r>
              <a:rPr lang="en-US" sz="1250" dirty="0">
                <a:solidFill>
                  <a:srgbClr val="0B1F3A"/>
                </a:solidFill>
                <a:latin typeface="Calibri" pitchFamily="34" charset="0"/>
                <a:ea typeface="Calibri" pitchFamily="34" charset="-122"/>
                <a:cs typeface="Calibri" pitchFamily="34" charset="-120"/>
              </a:rPr>
              <a:t>colSums(is.na(df))  ·  checked all 21 columns</a:t>
            </a:r>
            <a:endParaRPr lang="en-US" sz="1250" dirty="0"/>
          </a:p>
        </p:txBody>
      </p:sp>
      <p:sp>
        <p:nvSpPr>
          <p:cNvPr id="11" name="Shape 8"/>
          <p:cNvSpPr/>
          <p:nvPr/>
        </p:nvSpPr>
        <p:spPr>
          <a:xfrm>
            <a:off x="6126480" y="2743200"/>
            <a:ext cx="5440680" cy="0"/>
          </a:xfrm>
          <a:prstGeom prst="line">
            <a:avLst/>
          </a:prstGeom>
          <a:noFill/>
          <a:ln w="9525">
            <a:solidFill>
              <a:srgbClr val="E2E6EC"/>
            </a:solidFill>
            <a:prstDash val="solid"/>
          </a:ln>
        </p:spPr>
      </p:sp>
      <p:sp>
        <p:nvSpPr>
          <p:cNvPr id="12" name="Text 9"/>
          <p:cNvSpPr/>
          <p:nvPr/>
        </p:nvSpPr>
        <p:spPr>
          <a:xfrm>
            <a:off x="6126480" y="2834640"/>
            <a:ext cx="1828800" cy="457200"/>
          </a:xfrm>
          <a:prstGeom prst="rect">
            <a:avLst/>
          </a:prstGeom>
          <a:noFill/>
          <a:ln/>
        </p:spPr>
        <p:txBody>
          <a:bodyPr wrap="square" lIns="0" tIns="0" rIns="0" bIns="0" rtlCol="0" anchor="ctr"/>
          <a:lstStyle/>
          <a:p>
            <a:pPr indent="0" marL="0">
              <a:buNone/>
            </a:pPr>
            <a:r>
              <a:rPr lang="en-US" sz="1300" b="1" dirty="0">
                <a:solidFill>
                  <a:srgbClr val="0E7490"/>
                </a:solidFill>
                <a:latin typeface="Calibri" pitchFamily="34" charset="0"/>
                <a:ea typeface="Calibri" pitchFamily="34" charset="-122"/>
                <a:cs typeface="Calibri" pitchFamily="34" charset="-120"/>
              </a:rPr>
              <a:t>Observation</a:t>
            </a:r>
            <a:endParaRPr lang="en-US" sz="1300" dirty="0"/>
          </a:p>
        </p:txBody>
      </p:sp>
      <p:sp>
        <p:nvSpPr>
          <p:cNvPr id="13" name="Text 10"/>
          <p:cNvSpPr/>
          <p:nvPr/>
        </p:nvSpPr>
        <p:spPr>
          <a:xfrm>
            <a:off x="6126480" y="3218688"/>
            <a:ext cx="5440680" cy="502920"/>
          </a:xfrm>
          <a:prstGeom prst="rect">
            <a:avLst/>
          </a:prstGeom>
          <a:noFill/>
          <a:ln/>
        </p:spPr>
        <p:txBody>
          <a:bodyPr wrap="square" lIns="0" tIns="0" rIns="0" bIns="0" rtlCol="0" anchor="ctr"/>
          <a:lstStyle/>
          <a:p>
            <a:pPr indent="0" marL="0">
              <a:lnSpc>
                <a:spcPct val="115000"/>
              </a:lnSpc>
              <a:buNone/>
            </a:pPr>
            <a:r>
              <a:rPr lang="en-US" sz="1250" dirty="0">
                <a:solidFill>
                  <a:srgbClr val="0B1F3A"/>
                </a:solidFill>
                <a:latin typeface="Calibri" pitchFamily="34" charset="0"/>
                <a:ea typeface="Calibri" pitchFamily="34" charset="-122"/>
                <a:cs typeface="Calibri" pitchFamily="34" charset="-120"/>
              </a:rPr>
              <a:t>Every column returned a count of 0</a:t>
            </a:r>
            <a:endParaRPr lang="en-US" sz="1250" dirty="0"/>
          </a:p>
        </p:txBody>
      </p:sp>
      <p:sp>
        <p:nvSpPr>
          <p:cNvPr id="14" name="Shape 11"/>
          <p:cNvSpPr/>
          <p:nvPr/>
        </p:nvSpPr>
        <p:spPr>
          <a:xfrm>
            <a:off x="6126480" y="3703320"/>
            <a:ext cx="5440680" cy="0"/>
          </a:xfrm>
          <a:prstGeom prst="line">
            <a:avLst/>
          </a:prstGeom>
          <a:noFill/>
          <a:ln w="9525">
            <a:solidFill>
              <a:srgbClr val="E2E6EC"/>
            </a:solidFill>
            <a:prstDash val="solid"/>
          </a:ln>
        </p:spPr>
      </p:sp>
      <p:sp>
        <p:nvSpPr>
          <p:cNvPr id="15" name="Text 12"/>
          <p:cNvSpPr/>
          <p:nvPr/>
        </p:nvSpPr>
        <p:spPr>
          <a:xfrm>
            <a:off x="6126480" y="3794760"/>
            <a:ext cx="1828800" cy="457200"/>
          </a:xfrm>
          <a:prstGeom prst="rect">
            <a:avLst/>
          </a:prstGeom>
          <a:noFill/>
          <a:ln/>
        </p:spPr>
        <p:txBody>
          <a:bodyPr wrap="square" lIns="0" tIns="0" rIns="0" bIns="0" rtlCol="0" anchor="ctr"/>
          <a:lstStyle/>
          <a:p>
            <a:pPr indent="0" marL="0">
              <a:buNone/>
            </a:pPr>
            <a:r>
              <a:rPr lang="en-US" sz="1300" b="1" dirty="0">
                <a:solidFill>
                  <a:srgbClr val="0E7490"/>
                </a:solidFill>
                <a:latin typeface="Calibri" pitchFamily="34" charset="0"/>
                <a:ea typeface="Calibri" pitchFamily="34" charset="-122"/>
                <a:cs typeface="Calibri" pitchFamily="34" charset="-120"/>
              </a:rPr>
              <a:t>Action</a:t>
            </a:r>
            <a:endParaRPr lang="en-US" sz="1300" dirty="0"/>
          </a:p>
        </p:txBody>
      </p:sp>
      <p:sp>
        <p:nvSpPr>
          <p:cNvPr id="16" name="Text 13"/>
          <p:cNvSpPr/>
          <p:nvPr/>
        </p:nvSpPr>
        <p:spPr>
          <a:xfrm>
            <a:off x="6126480" y="4178808"/>
            <a:ext cx="5440680" cy="502920"/>
          </a:xfrm>
          <a:prstGeom prst="rect">
            <a:avLst/>
          </a:prstGeom>
          <a:noFill/>
          <a:ln/>
        </p:spPr>
        <p:txBody>
          <a:bodyPr wrap="square" lIns="0" tIns="0" rIns="0" bIns="0" rtlCol="0" anchor="ctr"/>
          <a:lstStyle/>
          <a:p>
            <a:pPr indent="0" marL="0">
              <a:lnSpc>
                <a:spcPct val="115000"/>
              </a:lnSpc>
              <a:buNone/>
            </a:pPr>
            <a:r>
              <a:rPr lang="en-US" sz="1250" dirty="0">
                <a:solidFill>
                  <a:srgbClr val="0B1F3A"/>
                </a:solidFill>
                <a:latin typeface="Calibri" pitchFamily="34" charset="0"/>
                <a:ea typeface="Calibri" pitchFamily="34" charset="-122"/>
                <a:cs typeface="Calibri" pitchFamily="34" charset="-120"/>
              </a:rPr>
              <a:t>No imputation performed</a:t>
            </a:r>
            <a:endParaRPr lang="en-US" sz="1250" dirty="0"/>
          </a:p>
        </p:txBody>
      </p:sp>
      <p:sp>
        <p:nvSpPr>
          <p:cNvPr id="17" name="Shape 14"/>
          <p:cNvSpPr/>
          <p:nvPr/>
        </p:nvSpPr>
        <p:spPr>
          <a:xfrm>
            <a:off x="6126480" y="4663440"/>
            <a:ext cx="5440680" cy="0"/>
          </a:xfrm>
          <a:prstGeom prst="line">
            <a:avLst/>
          </a:prstGeom>
          <a:noFill/>
          <a:ln w="9525">
            <a:solidFill>
              <a:srgbClr val="E2E6EC"/>
            </a:solidFill>
            <a:prstDash val="solid"/>
          </a:ln>
        </p:spPr>
      </p:sp>
      <p:sp>
        <p:nvSpPr>
          <p:cNvPr id="18" name="Text 15"/>
          <p:cNvSpPr/>
          <p:nvPr/>
        </p:nvSpPr>
        <p:spPr>
          <a:xfrm>
            <a:off x="6126480" y="4754880"/>
            <a:ext cx="1828800" cy="457200"/>
          </a:xfrm>
          <a:prstGeom prst="rect">
            <a:avLst/>
          </a:prstGeom>
          <a:noFill/>
          <a:ln/>
        </p:spPr>
        <p:txBody>
          <a:bodyPr wrap="square" lIns="0" tIns="0" rIns="0" bIns="0" rtlCol="0" anchor="ctr"/>
          <a:lstStyle/>
          <a:p>
            <a:pPr indent="0" marL="0">
              <a:buNone/>
            </a:pPr>
            <a:r>
              <a:rPr lang="en-US" sz="1300" b="1" dirty="0">
                <a:solidFill>
                  <a:srgbClr val="0E7490"/>
                </a:solidFill>
                <a:latin typeface="Calibri" pitchFamily="34" charset="0"/>
                <a:ea typeface="Calibri" pitchFamily="34" charset="-122"/>
                <a:cs typeface="Calibri" pitchFamily="34" charset="-120"/>
              </a:rPr>
              <a:t>Rationale</a:t>
            </a:r>
            <a:endParaRPr lang="en-US" sz="1300" dirty="0"/>
          </a:p>
        </p:txBody>
      </p:sp>
      <p:sp>
        <p:nvSpPr>
          <p:cNvPr id="19" name="Text 16"/>
          <p:cNvSpPr/>
          <p:nvPr/>
        </p:nvSpPr>
        <p:spPr>
          <a:xfrm>
            <a:off x="6126480" y="5138928"/>
            <a:ext cx="5440680" cy="502920"/>
          </a:xfrm>
          <a:prstGeom prst="rect">
            <a:avLst/>
          </a:prstGeom>
          <a:noFill/>
          <a:ln/>
        </p:spPr>
        <p:txBody>
          <a:bodyPr wrap="square" lIns="0" tIns="0" rIns="0" bIns="0" rtlCol="0" anchor="ctr"/>
          <a:lstStyle/>
          <a:p>
            <a:pPr indent="0" marL="0">
              <a:lnSpc>
                <a:spcPct val="115000"/>
              </a:lnSpc>
              <a:buNone/>
            </a:pPr>
            <a:r>
              <a:rPr lang="en-US" sz="1250" dirty="0">
                <a:solidFill>
                  <a:srgbClr val="0B1F3A"/>
                </a:solidFill>
                <a:latin typeface="Calibri" pitchFamily="34" charset="0"/>
                <a:ea typeface="Calibri" pitchFamily="34" charset="-122"/>
                <a:cs typeface="Calibri" pitchFamily="34" charset="-120"/>
              </a:rPr>
              <a:t>No missing values exist — imputation would be unnecessary</a:t>
            </a:r>
            <a:endParaRPr lang="en-US" sz="1250" dirty="0"/>
          </a:p>
        </p:txBody>
      </p:sp>
      <p:sp>
        <p:nvSpPr>
          <p:cNvPr id="20" name="Text 1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1" name="Text 18"/>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11  ·  VERIFICATION → OBSERVATION → ACTION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Duplicate Analysis</a:t>
            </a:r>
            <a:endParaRPr lang="en-US" sz="3200" dirty="0"/>
          </a:p>
        </p:txBody>
      </p:sp>
      <p:sp>
        <p:nvSpPr>
          <p:cNvPr id="4" name="Shape 2"/>
          <p:cNvSpPr/>
          <p:nvPr/>
        </p:nvSpPr>
        <p:spPr>
          <a:xfrm>
            <a:off x="594360" y="1920240"/>
            <a:ext cx="5349240" cy="2331720"/>
          </a:xfrm>
          <a:prstGeom prst="roundRect">
            <a:avLst>
              <a:gd name="adj" fmla="val 3137"/>
            </a:avLst>
          </a:prstGeom>
          <a:solidFill>
            <a:srgbClr val="F3F5F8"/>
          </a:solidFill>
          <a:ln w="12700">
            <a:solidFill>
              <a:srgbClr val="E2E6EC"/>
            </a:solidFill>
            <a:prstDash val="solid"/>
          </a:ln>
        </p:spPr>
      </p:sp>
      <p:sp>
        <p:nvSpPr>
          <p:cNvPr id="5" name="Text 3"/>
          <p:cNvSpPr/>
          <p:nvPr/>
        </p:nvSpPr>
        <p:spPr>
          <a:xfrm>
            <a:off x="594360" y="2176272"/>
            <a:ext cx="5349240" cy="914400"/>
          </a:xfrm>
          <a:prstGeom prst="rect">
            <a:avLst/>
          </a:prstGeom>
          <a:noFill/>
          <a:ln/>
        </p:spPr>
        <p:txBody>
          <a:bodyPr wrap="square" lIns="0" tIns="0" rIns="0" bIns="0" rtlCol="0" anchor="ctr"/>
          <a:lstStyle/>
          <a:p>
            <a:pPr algn="ctr" indent="0" marL="0">
              <a:buNone/>
            </a:pPr>
            <a:r>
              <a:rPr lang="en-US" sz="4800" b="1" dirty="0">
                <a:solidFill>
                  <a:srgbClr val="0E7490"/>
                </a:solidFill>
                <a:latin typeface="Cambria" pitchFamily="34" charset="0"/>
                <a:ea typeface="Cambria" pitchFamily="34" charset="-122"/>
                <a:cs typeface="Cambria" pitchFamily="34" charset="-120"/>
              </a:rPr>
              <a:t>0</a:t>
            </a:r>
            <a:endParaRPr lang="en-US" sz="4800" dirty="0"/>
          </a:p>
        </p:txBody>
      </p:sp>
      <p:sp>
        <p:nvSpPr>
          <p:cNvPr id="6" name="Text 4"/>
          <p:cNvSpPr/>
          <p:nvPr/>
        </p:nvSpPr>
        <p:spPr>
          <a:xfrm>
            <a:off x="960120" y="3154680"/>
            <a:ext cx="461772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Fully Duplicated Rows</a:t>
            </a:r>
            <a:endParaRPr lang="en-US" sz="1400" dirty="0"/>
          </a:p>
        </p:txBody>
      </p:sp>
      <p:sp>
        <p:nvSpPr>
          <p:cNvPr id="7" name="Text 5"/>
          <p:cNvSpPr/>
          <p:nvPr/>
        </p:nvSpPr>
        <p:spPr>
          <a:xfrm>
            <a:off x="960120" y="3657600"/>
            <a:ext cx="4617720" cy="365760"/>
          </a:xfrm>
          <a:prstGeom prst="rect">
            <a:avLst/>
          </a:prstGeom>
          <a:noFill/>
          <a:ln/>
        </p:spPr>
        <p:txBody>
          <a:bodyPr wrap="square" lIns="0" tIns="0" rIns="0" bIns="0" rtlCol="0" anchor="ctr"/>
          <a:lstStyle/>
          <a:p>
            <a:pPr algn="ctr" indent="0" marL="0">
              <a:buNone/>
            </a:pPr>
            <a:r>
              <a:rPr lang="en-US" sz="1150" i="1" dirty="0">
                <a:solidFill>
                  <a:srgbClr val="5B6B7F"/>
                </a:solidFill>
                <a:latin typeface="Calibri" pitchFamily="34" charset="0"/>
                <a:ea typeface="Calibri" pitchFamily="34" charset="-122"/>
                <a:cs typeface="Calibri" pitchFamily="34" charset="-120"/>
              </a:rPr>
              <a:t>duplicated(df)</a:t>
            </a:r>
            <a:endParaRPr lang="en-US" sz="1150" dirty="0"/>
          </a:p>
        </p:txBody>
      </p:sp>
      <p:sp>
        <p:nvSpPr>
          <p:cNvPr id="8" name="Shape 6"/>
          <p:cNvSpPr/>
          <p:nvPr/>
        </p:nvSpPr>
        <p:spPr>
          <a:xfrm>
            <a:off x="6217920" y="1920240"/>
            <a:ext cx="5349240" cy="2331720"/>
          </a:xfrm>
          <a:prstGeom prst="roundRect">
            <a:avLst>
              <a:gd name="adj" fmla="val 3137"/>
            </a:avLst>
          </a:prstGeom>
          <a:solidFill>
            <a:srgbClr val="F3F5F8"/>
          </a:solidFill>
          <a:ln w="12700">
            <a:solidFill>
              <a:srgbClr val="E2E6EC"/>
            </a:solidFill>
            <a:prstDash val="solid"/>
          </a:ln>
        </p:spPr>
      </p:sp>
      <p:sp>
        <p:nvSpPr>
          <p:cNvPr id="9" name="Text 7"/>
          <p:cNvSpPr/>
          <p:nvPr/>
        </p:nvSpPr>
        <p:spPr>
          <a:xfrm>
            <a:off x="6217920" y="2176272"/>
            <a:ext cx="5349240" cy="914400"/>
          </a:xfrm>
          <a:prstGeom prst="rect">
            <a:avLst/>
          </a:prstGeom>
          <a:noFill/>
          <a:ln/>
        </p:spPr>
        <p:txBody>
          <a:bodyPr wrap="square" lIns="0" tIns="0" rIns="0" bIns="0" rtlCol="0" anchor="ctr"/>
          <a:lstStyle/>
          <a:p>
            <a:pPr algn="ctr" indent="0" marL="0">
              <a:buNone/>
            </a:pPr>
            <a:r>
              <a:rPr lang="en-US" sz="4800" b="1" dirty="0">
                <a:solidFill>
                  <a:srgbClr val="0E7490"/>
                </a:solidFill>
                <a:latin typeface="Cambria" pitchFamily="34" charset="0"/>
                <a:ea typeface="Cambria" pitchFamily="34" charset="-122"/>
                <a:cs typeface="Cambria" pitchFamily="34" charset="-120"/>
              </a:rPr>
              <a:t>0</a:t>
            </a:r>
            <a:endParaRPr lang="en-US" sz="4800" dirty="0"/>
          </a:p>
        </p:txBody>
      </p:sp>
      <p:sp>
        <p:nvSpPr>
          <p:cNvPr id="10" name="Text 8"/>
          <p:cNvSpPr/>
          <p:nvPr/>
        </p:nvSpPr>
        <p:spPr>
          <a:xfrm>
            <a:off x="6583680" y="3154680"/>
            <a:ext cx="461772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Duplicate EmployeeNumber Values</a:t>
            </a:r>
            <a:endParaRPr lang="en-US" sz="1400" dirty="0"/>
          </a:p>
        </p:txBody>
      </p:sp>
      <p:sp>
        <p:nvSpPr>
          <p:cNvPr id="11" name="Text 9"/>
          <p:cNvSpPr/>
          <p:nvPr/>
        </p:nvSpPr>
        <p:spPr>
          <a:xfrm>
            <a:off x="6583680" y="3657600"/>
            <a:ext cx="4617720" cy="365760"/>
          </a:xfrm>
          <a:prstGeom prst="rect">
            <a:avLst/>
          </a:prstGeom>
          <a:noFill/>
          <a:ln/>
        </p:spPr>
        <p:txBody>
          <a:bodyPr wrap="square" lIns="0" tIns="0" rIns="0" bIns="0" rtlCol="0" anchor="ctr"/>
          <a:lstStyle/>
          <a:p>
            <a:pPr algn="ctr" indent="0" marL="0">
              <a:buNone/>
            </a:pPr>
            <a:r>
              <a:rPr lang="en-US" sz="1150" i="1" dirty="0">
                <a:solidFill>
                  <a:srgbClr val="5B6B7F"/>
                </a:solidFill>
                <a:latin typeface="Calibri" pitchFamily="34" charset="0"/>
                <a:ea typeface="Calibri" pitchFamily="34" charset="-122"/>
                <a:cs typeface="Calibri" pitchFamily="34" charset="-120"/>
              </a:rPr>
              <a:t>duplicated(df$EmployeeNumber)</a:t>
            </a:r>
            <a:endParaRPr lang="en-US" sz="1150" dirty="0"/>
          </a:p>
        </p:txBody>
      </p:sp>
      <p:sp>
        <p:nvSpPr>
          <p:cNvPr id="12" name="Shape 10"/>
          <p:cNvSpPr/>
          <p:nvPr/>
        </p:nvSpPr>
        <p:spPr>
          <a:xfrm>
            <a:off x="594360" y="4572000"/>
            <a:ext cx="10972800" cy="1051560"/>
          </a:xfrm>
          <a:prstGeom prst="roundRect">
            <a:avLst>
              <a:gd name="adj" fmla="val 6957"/>
            </a:avLst>
          </a:prstGeom>
          <a:solidFill>
            <a:srgbClr val="0B1F3A"/>
          </a:solidFill>
          <a:ln/>
        </p:spPr>
      </p:sp>
      <p:sp>
        <p:nvSpPr>
          <p:cNvPr id="13" name="Text 11"/>
          <p:cNvSpPr/>
          <p:nvPr/>
        </p:nvSpPr>
        <p:spPr>
          <a:xfrm>
            <a:off x="960120" y="4572000"/>
            <a:ext cx="10241280" cy="1051560"/>
          </a:xfrm>
          <a:prstGeom prst="rect">
            <a:avLst/>
          </a:prstGeom>
          <a:noFill/>
          <a:ln/>
        </p:spPr>
        <p:txBody>
          <a:bodyPr wrap="square" lIns="0" tIns="0" rIns="0" bIns="0" rtlCol="0" anchor="ctr"/>
          <a:lstStyle/>
          <a:p>
            <a:pPr algn="l" indent="0" marL="0">
              <a:lnSpc>
                <a:spcPct val="120000"/>
              </a:lnSpc>
              <a:buNone/>
            </a:pPr>
            <a:r>
              <a:rPr lang="en-US" sz="1300" i="1" dirty="0">
                <a:solidFill>
                  <a:srgbClr val="FFFFFF"/>
                </a:solidFill>
                <a:latin typeface="Calibri" pitchFamily="34" charset="0"/>
                <a:ea typeface="Calibri" pitchFamily="34" charset="-122"/>
                <a:cs typeface="Calibri" pitchFamily="34" charset="-120"/>
              </a:rPr>
              <a:t>Rationale:  Each of the 50,000 records represents a distinct employee with no repeated entries — no rows were removed.</a:t>
            </a:r>
            <a:endParaRPr lang="en-US" sz="1300" dirty="0"/>
          </a:p>
        </p:txBody>
      </p:sp>
      <p:sp>
        <p:nvSpPr>
          <p:cNvPr id="14" name="Text 12"/>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15" name="Text 13"/>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Feature Engineering</a:t>
            </a:r>
            <a:endParaRPr lang="en-US" sz="3200" dirty="0"/>
          </a:p>
        </p:txBody>
      </p:sp>
      <p:sp>
        <p:nvSpPr>
          <p:cNvPr id="4" name="Shape 2"/>
          <p:cNvSpPr/>
          <p:nvPr/>
        </p:nvSpPr>
        <p:spPr>
          <a:xfrm>
            <a:off x="594360" y="1783080"/>
            <a:ext cx="3291840" cy="1371600"/>
          </a:xfrm>
          <a:prstGeom prst="roundRect">
            <a:avLst>
              <a:gd name="adj" fmla="val 5333"/>
            </a:avLst>
          </a:prstGeom>
          <a:solidFill>
            <a:srgbClr val="F3F5F8"/>
          </a:solidFill>
          <a:ln w="12700">
            <a:solidFill>
              <a:srgbClr val="E2E6EC"/>
            </a:solidFill>
            <a:prstDash val="solid"/>
          </a:ln>
        </p:spPr>
      </p:sp>
      <p:sp>
        <p:nvSpPr>
          <p:cNvPr id="5" name="Text 3"/>
          <p:cNvSpPr/>
          <p:nvPr/>
        </p:nvSpPr>
        <p:spPr>
          <a:xfrm>
            <a:off x="594360" y="1920240"/>
            <a:ext cx="3291840" cy="685800"/>
          </a:xfrm>
          <a:prstGeom prst="rect">
            <a:avLst/>
          </a:prstGeom>
          <a:noFill/>
          <a:ln/>
        </p:spPr>
        <p:txBody>
          <a:bodyPr wrap="square" lIns="0" tIns="0" rIns="0" bIns="0" rtlCol="0" anchor="ctr"/>
          <a:lstStyle/>
          <a:p>
            <a:pPr algn="ctr" indent="0" marL="0">
              <a:buNone/>
            </a:pPr>
            <a:r>
              <a:rPr lang="en-US" sz="3200" b="1" dirty="0">
                <a:solidFill>
                  <a:srgbClr val="6B7684"/>
                </a:solidFill>
                <a:latin typeface="Cambria" pitchFamily="34" charset="0"/>
                <a:ea typeface="Cambria" pitchFamily="34" charset="-122"/>
                <a:cs typeface="Cambria" pitchFamily="34" charset="-120"/>
              </a:rPr>
              <a:t>21</a:t>
            </a:r>
            <a:endParaRPr lang="en-US" sz="3200" dirty="0"/>
          </a:p>
        </p:txBody>
      </p:sp>
      <p:sp>
        <p:nvSpPr>
          <p:cNvPr id="6" name="Text 4"/>
          <p:cNvSpPr/>
          <p:nvPr/>
        </p:nvSpPr>
        <p:spPr>
          <a:xfrm>
            <a:off x="594360" y="2606040"/>
            <a:ext cx="3291840" cy="365760"/>
          </a:xfrm>
          <a:prstGeom prst="rect">
            <a:avLst/>
          </a:prstGeom>
          <a:noFill/>
          <a:ln/>
        </p:spPr>
        <p:txBody>
          <a:bodyPr wrap="square" lIns="0" tIns="0" rIns="0" bIns="0" rtlCol="0" anchor="ctr"/>
          <a:lstStyle/>
          <a:p>
            <a:pPr algn="ctr" indent="0" marL="0">
              <a:buNone/>
            </a:pPr>
            <a:r>
              <a:rPr lang="en-US" sz="1150" dirty="0">
                <a:solidFill>
                  <a:srgbClr val="5B6B7F"/>
                </a:solidFill>
                <a:latin typeface="Calibri" pitchFamily="34" charset="0"/>
                <a:ea typeface="Calibri" pitchFamily="34" charset="-122"/>
                <a:cs typeface="Calibri" pitchFamily="34" charset="-120"/>
              </a:rPr>
              <a:t>Columns Before</a:t>
            </a:r>
            <a:endParaRPr lang="en-US" sz="1150" dirty="0"/>
          </a:p>
        </p:txBody>
      </p:sp>
      <p:sp>
        <p:nvSpPr>
          <p:cNvPr id="7" name="Text 5"/>
          <p:cNvSpPr/>
          <p:nvPr/>
        </p:nvSpPr>
        <p:spPr>
          <a:xfrm>
            <a:off x="3977640" y="1965960"/>
            <a:ext cx="731520" cy="1005840"/>
          </a:xfrm>
          <a:prstGeom prst="rect">
            <a:avLst/>
          </a:prstGeom>
          <a:noFill/>
          <a:ln/>
        </p:spPr>
        <p:txBody>
          <a:bodyPr wrap="square" lIns="0" tIns="0" rIns="0" bIns="0" rtlCol="0" anchor="ctr"/>
          <a:lstStyle/>
          <a:p>
            <a:pPr algn="ctr" indent="0" marL="0">
              <a:buNone/>
            </a:pPr>
            <a:r>
              <a:rPr lang="en-US" sz="3000" b="1" dirty="0">
                <a:solidFill>
                  <a:srgbClr val="0E7490"/>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4800600" y="1783080"/>
            <a:ext cx="3291840" cy="1371600"/>
          </a:xfrm>
          <a:prstGeom prst="roundRect">
            <a:avLst>
              <a:gd name="adj" fmla="val 5333"/>
            </a:avLst>
          </a:prstGeom>
          <a:solidFill>
            <a:srgbClr val="0B1F3A"/>
          </a:solidFill>
          <a:ln/>
        </p:spPr>
      </p:sp>
      <p:sp>
        <p:nvSpPr>
          <p:cNvPr id="9" name="Text 7"/>
          <p:cNvSpPr/>
          <p:nvPr/>
        </p:nvSpPr>
        <p:spPr>
          <a:xfrm>
            <a:off x="4800600" y="1920240"/>
            <a:ext cx="3291840" cy="685800"/>
          </a:xfrm>
          <a:prstGeom prst="rect">
            <a:avLst/>
          </a:prstGeom>
          <a:noFill/>
          <a:ln/>
        </p:spPr>
        <p:txBody>
          <a:bodyPr wrap="square" lIns="0" tIns="0" rIns="0" bIns="0" rtlCol="0" anchor="ctr"/>
          <a:lstStyle/>
          <a:p>
            <a:pPr algn="ctr" indent="0" marL="0">
              <a:buNone/>
            </a:pPr>
            <a:r>
              <a:rPr lang="en-US" sz="3200" b="1" dirty="0">
                <a:solidFill>
                  <a:srgbClr val="22D3EE"/>
                </a:solidFill>
                <a:latin typeface="Cambria" pitchFamily="34" charset="0"/>
                <a:ea typeface="Cambria" pitchFamily="34" charset="-122"/>
                <a:cs typeface="Cambria" pitchFamily="34" charset="-120"/>
              </a:rPr>
              <a:t>19</a:t>
            </a:r>
            <a:endParaRPr lang="en-US" sz="3200" dirty="0"/>
          </a:p>
        </p:txBody>
      </p:sp>
      <p:sp>
        <p:nvSpPr>
          <p:cNvPr id="10" name="Text 8"/>
          <p:cNvSpPr/>
          <p:nvPr/>
        </p:nvSpPr>
        <p:spPr>
          <a:xfrm>
            <a:off x="4800600" y="2606040"/>
            <a:ext cx="3291840" cy="365760"/>
          </a:xfrm>
          <a:prstGeom prst="rect">
            <a:avLst/>
          </a:prstGeom>
          <a:noFill/>
          <a:ln/>
        </p:spPr>
        <p:txBody>
          <a:bodyPr wrap="square" lIns="0" tIns="0" rIns="0" bIns="0" rtlCol="0" anchor="ctr"/>
          <a:lstStyle/>
          <a:p>
            <a:pPr algn="ctr" indent="0" marL="0">
              <a:buNone/>
            </a:pPr>
            <a:r>
              <a:rPr lang="en-US" sz="1150" dirty="0">
                <a:solidFill>
                  <a:srgbClr val="B9C6D9"/>
                </a:solidFill>
                <a:latin typeface="Calibri" pitchFamily="34" charset="0"/>
                <a:ea typeface="Calibri" pitchFamily="34" charset="-122"/>
                <a:cs typeface="Calibri" pitchFamily="34" charset="-120"/>
              </a:rPr>
              <a:t>Columns After</a:t>
            </a:r>
            <a:endParaRPr lang="en-US" sz="1150" dirty="0"/>
          </a:p>
        </p:txBody>
      </p:sp>
      <p:sp>
        <p:nvSpPr>
          <p:cNvPr id="11" name="Shape 9"/>
          <p:cNvSpPr/>
          <p:nvPr/>
        </p:nvSpPr>
        <p:spPr>
          <a:xfrm>
            <a:off x="594360" y="3429000"/>
            <a:ext cx="5349240" cy="2606040"/>
          </a:xfrm>
          <a:prstGeom prst="roundRect">
            <a:avLst>
              <a:gd name="adj" fmla="val 2807"/>
            </a:avLst>
          </a:prstGeom>
          <a:solidFill>
            <a:srgbClr val="FFFFFF"/>
          </a:solidFill>
          <a:ln w="12700">
            <a:solidFill>
              <a:srgbClr val="E2E6EC"/>
            </a:solidFill>
            <a:prstDash val="solid"/>
          </a:ln>
          <a:effectLst>
            <a:outerShdw sx="100000" sy="100000" kx="0" ky="0" algn="bl" rotWithShape="0" blurRad="101600" dist="25400" dir="5400000">
              <a:srgbClr val="9AA6B4">
                <a:alpha val="20000"/>
              </a:srgbClr>
            </a:outerShdw>
          </a:effectLst>
        </p:spPr>
      </p:sp>
      <p:sp>
        <p:nvSpPr>
          <p:cNvPr id="12" name="Shape 10"/>
          <p:cNvSpPr/>
          <p:nvPr/>
        </p:nvSpPr>
        <p:spPr>
          <a:xfrm>
            <a:off x="886968" y="3703320"/>
            <a:ext cx="1417320" cy="365760"/>
          </a:xfrm>
          <a:prstGeom prst="roundRect">
            <a:avLst>
              <a:gd name="adj" fmla="val 50000"/>
            </a:avLst>
          </a:prstGeom>
          <a:solidFill>
            <a:srgbClr val="D64550"/>
          </a:solidFill>
          <a:ln/>
        </p:spPr>
      </p:sp>
      <p:sp>
        <p:nvSpPr>
          <p:cNvPr id="13" name="Text 11"/>
          <p:cNvSpPr/>
          <p:nvPr/>
        </p:nvSpPr>
        <p:spPr>
          <a:xfrm>
            <a:off x="886968" y="3703320"/>
            <a:ext cx="141732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REMOVED</a:t>
            </a:r>
            <a:endParaRPr lang="en-US" sz="1000" dirty="0"/>
          </a:p>
        </p:txBody>
      </p:sp>
      <p:sp>
        <p:nvSpPr>
          <p:cNvPr id="14" name="Text 12"/>
          <p:cNvSpPr/>
          <p:nvPr/>
        </p:nvSpPr>
        <p:spPr>
          <a:xfrm>
            <a:off x="886968" y="4206240"/>
            <a:ext cx="4764024"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EmployeeNumber</a:t>
            </a:r>
            <a:endParaRPr lang="en-US" sz="1700" dirty="0"/>
          </a:p>
        </p:txBody>
      </p:sp>
      <p:sp>
        <p:nvSpPr>
          <p:cNvPr id="15" name="Text 13"/>
          <p:cNvSpPr/>
          <p:nvPr/>
        </p:nvSpPr>
        <p:spPr>
          <a:xfrm>
            <a:off x="886968" y="4636008"/>
            <a:ext cx="4764024" cy="320040"/>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Identifier</a:t>
            </a:r>
            <a:endParaRPr lang="en-US" sz="1150" dirty="0"/>
          </a:p>
        </p:txBody>
      </p:sp>
      <p:sp>
        <p:nvSpPr>
          <p:cNvPr id="16" name="Text 14"/>
          <p:cNvSpPr/>
          <p:nvPr/>
        </p:nvSpPr>
        <p:spPr>
          <a:xfrm>
            <a:off x="886968" y="5001768"/>
            <a:ext cx="4764024" cy="86868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A unique sequential integer (1–50,000) with no relationship to attrition behavior.</a:t>
            </a:r>
            <a:endParaRPr lang="en-US" sz="1150" dirty="0"/>
          </a:p>
        </p:txBody>
      </p:sp>
      <p:sp>
        <p:nvSpPr>
          <p:cNvPr id="17" name="Shape 15"/>
          <p:cNvSpPr/>
          <p:nvPr/>
        </p:nvSpPr>
        <p:spPr>
          <a:xfrm>
            <a:off x="6217920" y="3429000"/>
            <a:ext cx="5349240" cy="2606040"/>
          </a:xfrm>
          <a:prstGeom prst="roundRect">
            <a:avLst>
              <a:gd name="adj" fmla="val 2807"/>
            </a:avLst>
          </a:prstGeom>
          <a:solidFill>
            <a:srgbClr val="FFFFFF"/>
          </a:solidFill>
          <a:ln w="12700">
            <a:solidFill>
              <a:srgbClr val="E2E6EC"/>
            </a:solidFill>
            <a:prstDash val="solid"/>
          </a:ln>
          <a:effectLst>
            <a:outerShdw sx="100000" sy="100000" kx="0" ky="0" algn="bl" rotWithShape="0" blurRad="101600" dist="25400" dir="5400000">
              <a:srgbClr val="9AA6B4">
                <a:alpha val="20000"/>
              </a:srgbClr>
            </a:outerShdw>
          </a:effectLst>
        </p:spPr>
      </p:sp>
      <p:sp>
        <p:nvSpPr>
          <p:cNvPr id="18" name="Shape 16"/>
          <p:cNvSpPr/>
          <p:nvPr/>
        </p:nvSpPr>
        <p:spPr>
          <a:xfrm>
            <a:off x="6510528" y="3703320"/>
            <a:ext cx="1417320" cy="365760"/>
          </a:xfrm>
          <a:prstGeom prst="roundRect">
            <a:avLst>
              <a:gd name="adj" fmla="val 50000"/>
            </a:avLst>
          </a:prstGeom>
          <a:solidFill>
            <a:srgbClr val="D64550"/>
          </a:solidFill>
          <a:ln/>
        </p:spPr>
      </p:sp>
      <p:sp>
        <p:nvSpPr>
          <p:cNvPr id="19" name="Text 17"/>
          <p:cNvSpPr/>
          <p:nvPr/>
        </p:nvSpPr>
        <p:spPr>
          <a:xfrm>
            <a:off x="6510528" y="3703320"/>
            <a:ext cx="141732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REMOVED</a:t>
            </a:r>
            <a:endParaRPr lang="en-US" sz="1000" dirty="0"/>
          </a:p>
        </p:txBody>
      </p:sp>
      <p:sp>
        <p:nvSpPr>
          <p:cNvPr id="20" name="Text 18"/>
          <p:cNvSpPr/>
          <p:nvPr/>
        </p:nvSpPr>
        <p:spPr>
          <a:xfrm>
            <a:off x="6510528" y="4206240"/>
            <a:ext cx="4764024"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EducationLevel</a:t>
            </a:r>
            <a:endParaRPr lang="en-US" sz="1700" dirty="0"/>
          </a:p>
        </p:txBody>
      </p:sp>
      <p:sp>
        <p:nvSpPr>
          <p:cNvPr id="21" name="Text 19"/>
          <p:cNvSpPr/>
          <p:nvPr/>
        </p:nvSpPr>
        <p:spPr>
          <a:xfrm>
            <a:off x="6510528" y="4636008"/>
            <a:ext cx="4764024" cy="320040"/>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Redundant</a:t>
            </a:r>
            <a:endParaRPr lang="en-US" sz="1150" dirty="0"/>
          </a:p>
        </p:txBody>
      </p:sp>
      <p:sp>
        <p:nvSpPr>
          <p:cNvPr id="22" name="Text 20"/>
          <p:cNvSpPr/>
          <p:nvPr/>
        </p:nvSpPr>
        <p:spPr>
          <a:xfrm>
            <a:off x="6510528" y="5001768"/>
            <a:ext cx="4764024" cy="86868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A cross-tabulation against Education confirmed a strict one-to-one mapping — identical information in two formats.</a:t>
            </a:r>
            <a:endParaRPr lang="en-US" sz="1150" dirty="0"/>
          </a:p>
        </p:txBody>
      </p:sp>
      <p:sp>
        <p:nvSpPr>
          <p:cNvPr id="23" name="Text 21"/>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4" name="Text 22"/>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13  ·  IQR METHOD</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Outlier Detection</a:t>
            </a:r>
            <a:endParaRPr lang="en-US" sz="3200" dirty="0"/>
          </a:p>
        </p:txBody>
      </p:sp>
      <p:sp>
        <p:nvSpPr>
          <p:cNvPr id="4" name="Text 2"/>
          <p:cNvSpPr/>
          <p:nvPr/>
        </p:nvSpPr>
        <p:spPr>
          <a:xfrm>
            <a:off x="594360" y="1371600"/>
            <a:ext cx="10972800" cy="365760"/>
          </a:xfrm>
          <a:prstGeom prst="rect">
            <a:avLst/>
          </a:prstGeom>
          <a:noFill/>
          <a:ln/>
        </p:spPr>
        <p:txBody>
          <a:bodyPr wrap="square" lIns="0" tIns="0" rIns="0" bIns="0" rtlCol="0" anchor="ctr"/>
          <a:lstStyle/>
          <a:p>
            <a:pPr indent="0" marL="0">
              <a:buNone/>
            </a:pPr>
            <a:r>
              <a:rPr lang="en-US" sz="1250" i="1" dirty="0">
                <a:solidFill>
                  <a:srgbClr val="5B6B7F"/>
                </a:solidFill>
                <a:latin typeface="Calibri" pitchFamily="34" charset="0"/>
                <a:ea typeface="Calibri" pitchFamily="34" charset="-122"/>
                <a:cs typeface="Calibri" pitchFamily="34" charset="-120"/>
              </a:rPr>
              <a:t>Bounds computed as [Q1 − 1.5×IQR, Q3 + 1.5×IQR] for 9 numeric columns using quantile() in R.</a:t>
            </a:r>
            <a:endParaRPr lang="en-US" sz="1250" dirty="0"/>
          </a:p>
        </p:txBody>
      </p:sp>
      <p:graphicFrame>
        <p:nvGraphicFramePr>
          <p:cNvPr id="5" name="Chart 0" descr=""/>
          <p:cNvGraphicFramePr/>
          <p:nvPr/>
        </p:nvGraphicFramePr>
        <p:xfrm>
          <a:off x="457200" y="1874520"/>
          <a:ext cx="740664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83880" y="1965960"/>
            <a:ext cx="3383280" cy="1188720"/>
          </a:xfrm>
          <a:prstGeom prst="roundRect">
            <a:avLst>
              <a:gd name="adj" fmla="val 6154"/>
            </a:avLst>
          </a:prstGeom>
          <a:solidFill>
            <a:srgbClr val="F3F5F8"/>
          </a:solidFill>
          <a:ln w="12700">
            <a:solidFill>
              <a:srgbClr val="E2E6EC"/>
            </a:solidFill>
            <a:prstDash val="solid"/>
          </a:ln>
        </p:spPr>
      </p:sp>
      <p:sp>
        <p:nvSpPr>
          <p:cNvPr id="7" name="Text 4"/>
          <p:cNvSpPr/>
          <p:nvPr/>
        </p:nvSpPr>
        <p:spPr>
          <a:xfrm>
            <a:off x="8412480" y="2075688"/>
            <a:ext cx="2926080" cy="32004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Retained, not removed</a:t>
            </a:r>
            <a:endParaRPr lang="en-US" sz="1200" dirty="0"/>
          </a:p>
        </p:txBody>
      </p:sp>
      <p:sp>
        <p:nvSpPr>
          <p:cNvPr id="8" name="Text 5"/>
          <p:cNvSpPr/>
          <p:nvPr/>
        </p:nvSpPr>
        <p:spPr>
          <a:xfrm>
            <a:off x="8412480" y="2404872"/>
            <a:ext cx="2971800" cy="685800"/>
          </a:xfrm>
          <a:prstGeom prst="rect">
            <a:avLst/>
          </a:prstGeom>
          <a:noFill/>
          <a:ln/>
        </p:spPr>
        <p:txBody>
          <a:bodyPr wrap="square" lIns="0" tIns="0" rIns="0" bIns="0" rtlCol="0" anchor="ctr"/>
          <a:lstStyle/>
          <a:p>
            <a:pPr indent="0" marL="0">
              <a:lnSpc>
                <a:spcPct val="115000"/>
              </a:lnSpc>
              <a:buNone/>
            </a:pPr>
            <a:r>
              <a:rPr lang="en-US" sz="1050" dirty="0">
                <a:solidFill>
                  <a:srgbClr val="5B6B7F"/>
                </a:solidFill>
                <a:latin typeface="Calibri" pitchFamily="34" charset="0"/>
                <a:ea typeface="Calibri" pitchFamily="34" charset="-122"/>
                <a:cs typeface="Calibri" pitchFamily="34" charset="-120"/>
              </a:rPr>
              <a:t>All flagged values were kept — they represent plausible employee records, not data-entry errors.</a:t>
            </a:r>
            <a:endParaRPr lang="en-US" sz="1050" dirty="0"/>
          </a:p>
        </p:txBody>
      </p:sp>
      <p:sp>
        <p:nvSpPr>
          <p:cNvPr id="9" name="Shape 6"/>
          <p:cNvSpPr/>
          <p:nvPr/>
        </p:nvSpPr>
        <p:spPr>
          <a:xfrm>
            <a:off x="8183880" y="3337560"/>
            <a:ext cx="3383280" cy="1188720"/>
          </a:xfrm>
          <a:prstGeom prst="roundRect">
            <a:avLst>
              <a:gd name="adj" fmla="val 6154"/>
            </a:avLst>
          </a:prstGeom>
          <a:solidFill>
            <a:srgbClr val="F3F5F8"/>
          </a:solidFill>
          <a:ln w="12700">
            <a:solidFill>
              <a:srgbClr val="E2E6EC"/>
            </a:solidFill>
            <a:prstDash val="solid"/>
          </a:ln>
        </p:spPr>
      </p:sp>
      <p:sp>
        <p:nvSpPr>
          <p:cNvPr id="10" name="Text 7"/>
          <p:cNvSpPr/>
          <p:nvPr/>
        </p:nvSpPr>
        <p:spPr>
          <a:xfrm>
            <a:off x="8412480" y="3447288"/>
            <a:ext cx="2926080" cy="32004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Compensation is clean</a:t>
            </a:r>
            <a:endParaRPr lang="en-US" sz="1200" dirty="0"/>
          </a:p>
        </p:txBody>
      </p:sp>
      <p:sp>
        <p:nvSpPr>
          <p:cNvPr id="11" name="Text 8"/>
          <p:cNvSpPr/>
          <p:nvPr/>
        </p:nvSpPr>
        <p:spPr>
          <a:xfrm>
            <a:off x="8412480" y="3776472"/>
            <a:ext cx="2971800" cy="685800"/>
          </a:xfrm>
          <a:prstGeom prst="rect">
            <a:avLst/>
          </a:prstGeom>
          <a:noFill/>
          <a:ln/>
        </p:spPr>
        <p:txBody>
          <a:bodyPr wrap="square" lIns="0" tIns="0" rIns="0" bIns="0" rtlCol="0" anchor="ctr"/>
          <a:lstStyle/>
          <a:p>
            <a:pPr indent="0" marL="0">
              <a:lnSpc>
                <a:spcPct val="115000"/>
              </a:lnSpc>
              <a:buNone/>
            </a:pPr>
            <a:r>
              <a:rPr lang="en-US" sz="1050" dirty="0">
                <a:solidFill>
                  <a:srgbClr val="5B6B7F"/>
                </a:solidFill>
                <a:latin typeface="Calibri" pitchFamily="34" charset="0"/>
                <a:ea typeface="Calibri" pitchFamily="34" charset="-122"/>
                <a:cs typeface="Calibri" pitchFamily="34" charset="-120"/>
              </a:rPr>
              <a:t>DailyRate, HourlyRate, MonthlyIncome &amp; MonthlyRate show zero IQR-flagged outliers.</a:t>
            </a:r>
            <a:endParaRPr lang="en-US" sz="1050" dirty="0"/>
          </a:p>
        </p:txBody>
      </p:sp>
      <p:sp>
        <p:nvSpPr>
          <p:cNvPr id="12" name="Shape 9"/>
          <p:cNvSpPr/>
          <p:nvPr/>
        </p:nvSpPr>
        <p:spPr>
          <a:xfrm>
            <a:off x="8183880" y="4709160"/>
            <a:ext cx="3383280" cy="1188720"/>
          </a:xfrm>
          <a:prstGeom prst="roundRect">
            <a:avLst>
              <a:gd name="adj" fmla="val 6154"/>
            </a:avLst>
          </a:prstGeom>
          <a:solidFill>
            <a:srgbClr val="F3F5F8"/>
          </a:solidFill>
          <a:ln w="12700">
            <a:solidFill>
              <a:srgbClr val="E2E6EC"/>
            </a:solidFill>
            <a:prstDash val="solid"/>
          </a:ln>
        </p:spPr>
      </p:sp>
      <p:sp>
        <p:nvSpPr>
          <p:cNvPr id="13" name="Text 10"/>
          <p:cNvSpPr/>
          <p:nvPr/>
        </p:nvSpPr>
        <p:spPr>
          <a:xfrm>
            <a:off x="8412480" y="4818888"/>
            <a:ext cx="2926080" cy="32004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Tenure has the widest spread</a:t>
            </a:r>
            <a:endParaRPr lang="en-US" sz="1200" dirty="0"/>
          </a:p>
        </p:txBody>
      </p:sp>
      <p:sp>
        <p:nvSpPr>
          <p:cNvPr id="14" name="Text 11"/>
          <p:cNvSpPr/>
          <p:nvPr/>
        </p:nvSpPr>
        <p:spPr>
          <a:xfrm>
            <a:off x="8412480" y="5148072"/>
            <a:ext cx="2971800" cy="685800"/>
          </a:xfrm>
          <a:prstGeom prst="rect">
            <a:avLst/>
          </a:prstGeom>
          <a:noFill/>
          <a:ln/>
        </p:spPr>
        <p:txBody>
          <a:bodyPr wrap="square" lIns="0" tIns="0" rIns="0" bIns="0" rtlCol="0" anchor="ctr"/>
          <a:lstStyle/>
          <a:p>
            <a:pPr indent="0" marL="0">
              <a:lnSpc>
                <a:spcPct val="115000"/>
              </a:lnSpc>
              <a:buNone/>
            </a:pPr>
            <a:r>
              <a:rPr lang="en-US" sz="1050" dirty="0">
                <a:solidFill>
                  <a:srgbClr val="5B6B7F"/>
                </a:solidFill>
                <a:latin typeface="Calibri" pitchFamily="34" charset="0"/>
                <a:ea typeface="Calibri" pitchFamily="34" charset="-122"/>
                <a:cs typeface="Calibri" pitchFamily="34" charset="-120"/>
              </a:rPr>
              <a:t>YearsAtCompany shows the highest proportion (2.96%) — long-tenured employees are legitimate, informative cases.</a:t>
            </a:r>
            <a:endParaRPr lang="en-US" sz="1050" dirty="0"/>
          </a:p>
        </p:txBody>
      </p:sp>
      <p:sp>
        <p:nvSpPr>
          <p:cNvPr id="15" name="Text 12"/>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16" name="Text 13"/>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14</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Encoding</a:t>
            </a:r>
            <a:endParaRPr lang="en-US" sz="3200" dirty="0"/>
          </a:p>
        </p:txBody>
      </p:sp>
      <p:sp>
        <p:nvSpPr>
          <p:cNvPr id="4" name="Shape 2"/>
          <p:cNvSpPr/>
          <p:nvPr/>
        </p:nvSpPr>
        <p:spPr>
          <a:xfrm>
            <a:off x="594360" y="1828800"/>
            <a:ext cx="5349240" cy="3931920"/>
          </a:xfrm>
          <a:prstGeom prst="roundRect">
            <a:avLst>
              <a:gd name="adj" fmla="val 1860"/>
            </a:avLst>
          </a:prstGeom>
          <a:solidFill>
            <a:srgbClr val="F3F5F8"/>
          </a:solidFill>
          <a:ln w="12700">
            <a:solidFill>
              <a:srgbClr val="E2E6EC"/>
            </a:solidFill>
            <a:prstDash val="solid"/>
          </a:ln>
        </p:spPr>
      </p:sp>
      <p:sp>
        <p:nvSpPr>
          <p:cNvPr id="5" name="Shape 3"/>
          <p:cNvSpPr/>
          <p:nvPr/>
        </p:nvSpPr>
        <p:spPr>
          <a:xfrm>
            <a:off x="832104" y="2066544"/>
            <a:ext cx="658368" cy="658368"/>
          </a:xfrm>
          <a:prstGeom prst="ellipse">
            <a:avLst/>
          </a:prstGeom>
          <a:solidFill>
            <a:srgbClr val="0E7490"/>
          </a:solidFill>
          <a:ln/>
        </p:spPr>
      </p:sp>
      <p:pic>
        <p:nvPicPr>
          <p:cNvPr id="6" name="Image 0" descr="/home/claude/pptx_build/icons/encoding.png">    </p:cNvPr>
          <p:cNvPicPr>
            <a:picLocks noChangeAspect="1"/>
          </p:cNvPicPr>
          <p:nvPr/>
        </p:nvPicPr>
        <p:blipFill>
          <a:blip r:embed="rId1"/>
          <a:stretch>
            <a:fillRect/>
          </a:stretch>
        </p:blipFill>
        <p:spPr>
          <a:xfrm>
            <a:off x="996696" y="2231136"/>
            <a:ext cx="329184" cy="329184"/>
          </a:xfrm>
          <a:prstGeom prst="rect">
            <a:avLst/>
          </a:prstGeom>
        </p:spPr>
      </p:pic>
      <p:sp>
        <p:nvSpPr>
          <p:cNvPr id="7" name="Text 4"/>
          <p:cNvSpPr/>
          <p:nvPr/>
        </p:nvSpPr>
        <p:spPr>
          <a:xfrm>
            <a:off x="1645920" y="2103120"/>
            <a:ext cx="406908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One-Hot Encoding</a:t>
            </a:r>
            <a:endParaRPr lang="en-US" sz="1600" dirty="0"/>
          </a:p>
        </p:txBody>
      </p:sp>
      <p:sp>
        <p:nvSpPr>
          <p:cNvPr id="8" name="Text 5"/>
          <p:cNvSpPr/>
          <p:nvPr/>
        </p:nvSpPr>
        <p:spPr>
          <a:xfrm>
            <a:off x="1645920" y="2514600"/>
            <a:ext cx="4069080" cy="320040"/>
          </a:xfrm>
          <a:prstGeom prst="rect">
            <a:avLst/>
          </a:prstGeom>
          <a:noFill/>
          <a:ln/>
        </p:spPr>
        <p:txBody>
          <a:bodyPr wrap="square" lIns="0" tIns="0" rIns="0" bIns="0" rtlCol="0" anchor="ctr"/>
          <a:lstStyle/>
          <a:p>
            <a:pPr indent="0" marL="0">
              <a:buNone/>
            </a:pPr>
            <a:r>
              <a:rPr lang="en-US" sz="1150" i="1" dirty="0">
                <a:solidFill>
                  <a:srgbClr val="5B6B7F"/>
                </a:solidFill>
                <a:latin typeface="Calibri" pitchFamily="34" charset="0"/>
                <a:ea typeface="Calibri" pitchFamily="34" charset="-122"/>
                <a:cs typeface="Calibri" pitchFamily="34" charset="-120"/>
              </a:rPr>
              <a:t>Nominal categorical variables</a:t>
            </a:r>
            <a:endParaRPr lang="en-US" sz="1150" dirty="0"/>
          </a:p>
        </p:txBody>
      </p:sp>
      <p:sp>
        <p:nvSpPr>
          <p:cNvPr id="9" name="Shape 6"/>
          <p:cNvSpPr/>
          <p:nvPr/>
        </p:nvSpPr>
        <p:spPr>
          <a:xfrm>
            <a:off x="914400" y="3108960"/>
            <a:ext cx="100584" cy="100584"/>
          </a:xfrm>
          <a:prstGeom prst="ellipse">
            <a:avLst/>
          </a:prstGeom>
          <a:solidFill>
            <a:srgbClr val="0E7490"/>
          </a:solidFill>
          <a:ln/>
        </p:spPr>
      </p:sp>
      <p:sp>
        <p:nvSpPr>
          <p:cNvPr id="10" name="Text 7"/>
          <p:cNvSpPr/>
          <p:nvPr/>
        </p:nvSpPr>
        <p:spPr>
          <a:xfrm>
            <a:off x="1143000" y="2971800"/>
            <a:ext cx="4526280" cy="32004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Plant  (anonymized)</a:t>
            </a:r>
            <a:endParaRPr lang="en-US" sz="1200" dirty="0"/>
          </a:p>
        </p:txBody>
      </p:sp>
      <p:sp>
        <p:nvSpPr>
          <p:cNvPr id="11" name="Shape 8"/>
          <p:cNvSpPr/>
          <p:nvPr/>
        </p:nvSpPr>
        <p:spPr>
          <a:xfrm>
            <a:off x="914400" y="3493008"/>
            <a:ext cx="100584" cy="100584"/>
          </a:xfrm>
          <a:prstGeom prst="ellipse">
            <a:avLst/>
          </a:prstGeom>
          <a:solidFill>
            <a:srgbClr val="0E7490"/>
          </a:solidFill>
          <a:ln/>
        </p:spPr>
      </p:sp>
      <p:sp>
        <p:nvSpPr>
          <p:cNvPr id="12" name="Text 9"/>
          <p:cNvSpPr/>
          <p:nvPr/>
        </p:nvSpPr>
        <p:spPr>
          <a:xfrm>
            <a:off x="1143000" y="3355848"/>
            <a:ext cx="4526280" cy="32004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Department</a:t>
            </a:r>
            <a:endParaRPr lang="en-US" sz="1200" dirty="0"/>
          </a:p>
        </p:txBody>
      </p:sp>
      <p:sp>
        <p:nvSpPr>
          <p:cNvPr id="13" name="Shape 10"/>
          <p:cNvSpPr/>
          <p:nvPr/>
        </p:nvSpPr>
        <p:spPr>
          <a:xfrm>
            <a:off x="914400" y="3877056"/>
            <a:ext cx="100584" cy="100584"/>
          </a:xfrm>
          <a:prstGeom prst="ellipse">
            <a:avLst/>
          </a:prstGeom>
          <a:solidFill>
            <a:srgbClr val="0E7490"/>
          </a:solidFill>
          <a:ln/>
        </p:spPr>
      </p:sp>
      <p:sp>
        <p:nvSpPr>
          <p:cNvPr id="14" name="Text 11"/>
          <p:cNvSpPr/>
          <p:nvPr/>
        </p:nvSpPr>
        <p:spPr>
          <a:xfrm>
            <a:off x="1143000" y="3739896"/>
            <a:ext cx="4526280" cy="32004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JobRole</a:t>
            </a:r>
            <a:endParaRPr lang="en-US" sz="1200" dirty="0"/>
          </a:p>
        </p:txBody>
      </p:sp>
      <p:sp>
        <p:nvSpPr>
          <p:cNvPr id="15" name="Shape 12"/>
          <p:cNvSpPr/>
          <p:nvPr/>
        </p:nvSpPr>
        <p:spPr>
          <a:xfrm>
            <a:off x="914400" y="4261104"/>
            <a:ext cx="100584" cy="100584"/>
          </a:xfrm>
          <a:prstGeom prst="ellipse">
            <a:avLst/>
          </a:prstGeom>
          <a:solidFill>
            <a:srgbClr val="0E7490"/>
          </a:solidFill>
          <a:ln/>
        </p:spPr>
      </p:sp>
      <p:sp>
        <p:nvSpPr>
          <p:cNvPr id="16" name="Text 13"/>
          <p:cNvSpPr/>
          <p:nvPr/>
        </p:nvSpPr>
        <p:spPr>
          <a:xfrm>
            <a:off x="1143000" y="4123944"/>
            <a:ext cx="4526280" cy="32004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Shift</a:t>
            </a:r>
            <a:endParaRPr lang="en-US" sz="1200" dirty="0"/>
          </a:p>
        </p:txBody>
      </p:sp>
      <p:sp>
        <p:nvSpPr>
          <p:cNvPr id="17" name="Shape 14"/>
          <p:cNvSpPr/>
          <p:nvPr/>
        </p:nvSpPr>
        <p:spPr>
          <a:xfrm>
            <a:off x="914400" y="4645152"/>
            <a:ext cx="100584" cy="100584"/>
          </a:xfrm>
          <a:prstGeom prst="ellipse">
            <a:avLst/>
          </a:prstGeom>
          <a:solidFill>
            <a:srgbClr val="0E7490"/>
          </a:solidFill>
          <a:ln/>
        </p:spPr>
      </p:sp>
      <p:sp>
        <p:nvSpPr>
          <p:cNvPr id="18" name="Text 15"/>
          <p:cNvSpPr/>
          <p:nvPr/>
        </p:nvSpPr>
        <p:spPr>
          <a:xfrm>
            <a:off x="1143000" y="4507992"/>
            <a:ext cx="4526280" cy="320040"/>
          </a:xfrm>
          <a:prstGeom prst="rect">
            <a:avLst/>
          </a:prstGeom>
          <a:noFill/>
          <a:ln/>
        </p:spPr>
        <p:txBody>
          <a:bodyPr wrap="square" lIns="0" tIns="0" rIns="0" bIns="0" rtlCol="0" anchor="ctr"/>
          <a:lstStyle/>
          <a:p>
            <a:pPr indent="0" marL="0">
              <a:buNone/>
            </a:pPr>
            <a:r>
              <a:rPr lang="en-US" sz="1200" dirty="0">
                <a:solidFill>
                  <a:srgbClr val="0B1F3A"/>
                </a:solidFill>
                <a:latin typeface="Calibri" pitchFamily="34" charset="0"/>
                <a:ea typeface="Calibri" pitchFamily="34" charset="-122"/>
                <a:cs typeface="Calibri" pitchFamily="34" charset="-120"/>
              </a:rPr>
              <a:t>EducationField</a:t>
            </a:r>
            <a:endParaRPr lang="en-US" sz="1200" dirty="0"/>
          </a:p>
        </p:txBody>
      </p:sp>
      <p:sp>
        <p:nvSpPr>
          <p:cNvPr id="19" name="Shape 16"/>
          <p:cNvSpPr/>
          <p:nvPr/>
        </p:nvSpPr>
        <p:spPr>
          <a:xfrm>
            <a:off x="914400" y="5074920"/>
            <a:ext cx="4709160" cy="0"/>
          </a:xfrm>
          <a:prstGeom prst="line">
            <a:avLst/>
          </a:prstGeom>
          <a:noFill/>
          <a:ln w="12700">
            <a:solidFill>
              <a:srgbClr val="E2E6EC"/>
            </a:solidFill>
            <a:prstDash val="solid"/>
          </a:ln>
        </p:spPr>
      </p:sp>
      <p:sp>
        <p:nvSpPr>
          <p:cNvPr id="20" name="Text 17"/>
          <p:cNvSpPr/>
          <p:nvPr/>
        </p:nvSpPr>
        <p:spPr>
          <a:xfrm>
            <a:off x="914400" y="5212080"/>
            <a:ext cx="4709160" cy="411480"/>
          </a:xfrm>
          <a:prstGeom prst="rect">
            <a:avLst/>
          </a:prstGeom>
          <a:noFill/>
          <a:ln/>
        </p:spPr>
        <p:txBody>
          <a:bodyPr wrap="square" lIns="0" tIns="0" rIns="0" bIns="0" rtlCol="0" anchor="ctr"/>
          <a:lstStyle/>
          <a:p>
            <a:pPr indent="0" marL="0">
              <a:buNone/>
            </a:pPr>
            <a:r>
              <a:rPr lang="en-US" sz="1150" i="1" dirty="0">
                <a:solidFill>
                  <a:srgbClr val="0E7490"/>
                </a:solidFill>
                <a:latin typeface="Calibri" pitchFamily="34" charset="0"/>
                <a:ea typeface="Calibri" pitchFamily="34" charset="-122"/>
                <a:cs typeface="Calibri" pitchFamily="34" charset="-120"/>
              </a:rPr>
              <a:t>model.matrix()  in R  →  50,000 × 23 encoded matrix</a:t>
            </a:r>
            <a:endParaRPr lang="en-US" sz="1150" dirty="0"/>
          </a:p>
        </p:txBody>
      </p:sp>
      <p:sp>
        <p:nvSpPr>
          <p:cNvPr id="21" name="Shape 18"/>
          <p:cNvSpPr/>
          <p:nvPr/>
        </p:nvSpPr>
        <p:spPr>
          <a:xfrm>
            <a:off x="6217920" y="1828800"/>
            <a:ext cx="5349240" cy="3931920"/>
          </a:xfrm>
          <a:prstGeom prst="roundRect">
            <a:avLst>
              <a:gd name="adj" fmla="val 1860"/>
            </a:avLst>
          </a:prstGeom>
          <a:solidFill>
            <a:srgbClr val="0B1F3A"/>
          </a:solidFill>
          <a:ln/>
        </p:spPr>
      </p:sp>
      <p:sp>
        <p:nvSpPr>
          <p:cNvPr id="22" name="Shape 19"/>
          <p:cNvSpPr/>
          <p:nvPr/>
        </p:nvSpPr>
        <p:spPr>
          <a:xfrm>
            <a:off x="6455664" y="2066544"/>
            <a:ext cx="658368" cy="658368"/>
          </a:xfrm>
          <a:prstGeom prst="ellipse">
            <a:avLst/>
          </a:prstGeom>
          <a:solidFill>
            <a:srgbClr val="22D3EE"/>
          </a:solidFill>
          <a:ln/>
        </p:spPr>
      </p:sp>
      <p:pic>
        <p:nvPicPr>
          <p:cNvPr id="23" name="Image 1" descr="/home/claude/pptx_build/icons/target.png">    </p:cNvPr>
          <p:cNvPicPr>
            <a:picLocks noChangeAspect="1"/>
          </p:cNvPicPr>
          <p:nvPr/>
        </p:nvPicPr>
        <p:blipFill>
          <a:blip r:embed="rId2"/>
          <a:stretch>
            <a:fillRect/>
          </a:stretch>
        </p:blipFill>
        <p:spPr>
          <a:xfrm>
            <a:off x="6620256" y="2231136"/>
            <a:ext cx="329184" cy="329184"/>
          </a:xfrm>
          <a:prstGeom prst="rect">
            <a:avLst/>
          </a:prstGeom>
        </p:spPr>
      </p:pic>
      <p:sp>
        <p:nvSpPr>
          <p:cNvPr id="24" name="Text 20"/>
          <p:cNvSpPr/>
          <p:nvPr/>
        </p:nvSpPr>
        <p:spPr>
          <a:xfrm>
            <a:off x="7269480" y="2103120"/>
            <a:ext cx="40690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Binary Encoding</a:t>
            </a:r>
            <a:endParaRPr lang="en-US" sz="1600" dirty="0"/>
          </a:p>
        </p:txBody>
      </p:sp>
      <p:sp>
        <p:nvSpPr>
          <p:cNvPr id="25" name="Text 21"/>
          <p:cNvSpPr/>
          <p:nvPr/>
        </p:nvSpPr>
        <p:spPr>
          <a:xfrm>
            <a:off x="7269480" y="2514600"/>
            <a:ext cx="4069080" cy="320040"/>
          </a:xfrm>
          <a:prstGeom prst="rect">
            <a:avLst/>
          </a:prstGeom>
          <a:noFill/>
          <a:ln/>
        </p:spPr>
        <p:txBody>
          <a:bodyPr wrap="square" lIns="0" tIns="0" rIns="0" bIns="0" rtlCol="0" anchor="ctr"/>
          <a:lstStyle/>
          <a:p>
            <a:pPr indent="0" marL="0">
              <a:buNone/>
            </a:pPr>
            <a:r>
              <a:rPr lang="en-US" sz="1150" i="1" dirty="0">
                <a:solidFill>
                  <a:srgbClr val="B9C6D9"/>
                </a:solidFill>
                <a:latin typeface="Calibri" pitchFamily="34" charset="0"/>
                <a:ea typeface="Calibri" pitchFamily="34" charset="-122"/>
                <a:cs typeface="Calibri" pitchFamily="34" charset="-120"/>
              </a:rPr>
              <a:t>Target variable</a:t>
            </a:r>
            <a:endParaRPr lang="en-US" sz="1150" dirty="0"/>
          </a:p>
        </p:txBody>
      </p:sp>
      <p:sp>
        <p:nvSpPr>
          <p:cNvPr id="26" name="Text 22"/>
          <p:cNvSpPr/>
          <p:nvPr/>
        </p:nvSpPr>
        <p:spPr>
          <a:xfrm>
            <a:off x="6537960" y="3200400"/>
            <a:ext cx="4709160" cy="36576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AttritionFlag</a:t>
            </a:r>
            <a:endParaRPr lang="en-US" sz="1400" dirty="0"/>
          </a:p>
        </p:txBody>
      </p:sp>
      <p:sp>
        <p:nvSpPr>
          <p:cNvPr id="27" name="Text 23"/>
          <p:cNvSpPr/>
          <p:nvPr/>
        </p:nvSpPr>
        <p:spPr>
          <a:xfrm>
            <a:off x="6537960" y="3703320"/>
            <a:ext cx="1828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"Yes"</a:t>
            </a:r>
            <a:endParaRPr lang="en-US" sz="1500" dirty="0"/>
          </a:p>
        </p:txBody>
      </p:sp>
      <p:sp>
        <p:nvSpPr>
          <p:cNvPr id="28" name="Text 24"/>
          <p:cNvSpPr/>
          <p:nvPr/>
        </p:nvSpPr>
        <p:spPr>
          <a:xfrm>
            <a:off x="8229600" y="3703320"/>
            <a:ext cx="548640" cy="457200"/>
          </a:xfrm>
          <a:prstGeom prst="rect">
            <a:avLst/>
          </a:prstGeom>
          <a:noFill/>
          <a:ln/>
        </p:spPr>
        <p:txBody>
          <a:bodyPr wrap="square" lIns="0" tIns="0" rIns="0" bIns="0" rtlCol="0" anchor="ctr"/>
          <a:lstStyle/>
          <a:p>
            <a:pPr indent="0" marL="0">
              <a:buNone/>
            </a:pPr>
            <a:r>
              <a:rPr lang="en-US" sz="1500" dirty="0">
                <a:solidFill>
                  <a:srgbClr val="22D3EE"/>
                </a:solidFill>
                <a:latin typeface="Calibri" pitchFamily="34" charset="0"/>
                <a:ea typeface="Calibri" pitchFamily="34" charset="-122"/>
                <a:cs typeface="Calibri" pitchFamily="34" charset="-120"/>
              </a:rPr>
              <a:t>→</a:t>
            </a:r>
            <a:endParaRPr lang="en-US" sz="1500" dirty="0"/>
          </a:p>
        </p:txBody>
      </p:sp>
      <p:sp>
        <p:nvSpPr>
          <p:cNvPr id="29" name="Text 25"/>
          <p:cNvSpPr/>
          <p:nvPr/>
        </p:nvSpPr>
        <p:spPr>
          <a:xfrm>
            <a:off x="8778240" y="3703320"/>
            <a:ext cx="9144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0" name="Text 26"/>
          <p:cNvSpPr/>
          <p:nvPr/>
        </p:nvSpPr>
        <p:spPr>
          <a:xfrm>
            <a:off x="6537960" y="4297680"/>
            <a:ext cx="18288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"No"</a:t>
            </a:r>
            <a:endParaRPr lang="en-US" sz="1500" dirty="0"/>
          </a:p>
        </p:txBody>
      </p:sp>
      <p:sp>
        <p:nvSpPr>
          <p:cNvPr id="31" name="Text 27"/>
          <p:cNvSpPr/>
          <p:nvPr/>
        </p:nvSpPr>
        <p:spPr>
          <a:xfrm>
            <a:off x="8229600" y="4297680"/>
            <a:ext cx="548640" cy="457200"/>
          </a:xfrm>
          <a:prstGeom prst="rect">
            <a:avLst/>
          </a:prstGeom>
          <a:noFill/>
          <a:ln/>
        </p:spPr>
        <p:txBody>
          <a:bodyPr wrap="square" lIns="0" tIns="0" rIns="0" bIns="0" rtlCol="0" anchor="ctr"/>
          <a:lstStyle/>
          <a:p>
            <a:pPr indent="0" marL="0">
              <a:buNone/>
            </a:pPr>
            <a:r>
              <a:rPr lang="en-US" sz="1500" dirty="0">
                <a:solidFill>
                  <a:srgbClr val="22D3EE"/>
                </a:solidFill>
                <a:latin typeface="Calibri" pitchFamily="34" charset="0"/>
                <a:ea typeface="Calibri" pitchFamily="34" charset="-122"/>
                <a:cs typeface="Calibri" pitchFamily="34" charset="-120"/>
              </a:rPr>
              <a:t>→</a:t>
            </a:r>
            <a:endParaRPr lang="en-US" sz="1500" dirty="0"/>
          </a:p>
        </p:txBody>
      </p:sp>
      <p:sp>
        <p:nvSpPr>
          <p:cNvPr id="32" name="Text 28"/>
          <p:cNvSpPr/>
          <p:nvPr/>
        </p:nvSpPr>
        <p:spPr>
          <a:xfrm>
            <a:off x="8778240" y="4297680"/>
            <a:ext cx="9144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0</a:t>
            </a:r>
            <a:endParaRPr lang="en-US" sz="1500" dirty="0"/>
          </a:p>
        </p:txBody>
      </p:sp>
      <p:sp>
        <p:nvSpPr>
          <p:cNvPr id="33" name="Shape 29"/>
          <p:cNvSpPr/>
          <p:nvPr/>
        </p:nvSpPr>
        <p:spPr>
          <a:xfrm>
            <a:off x="6537960" y="5074920"/>
            <a:ext cx="4709160" cy="0"/>
          </a:xfrm>
          <a:prstGeom prst="line">
            <a:avLst/>
          </a:prstGeom>
          <a:noFill/>
          <a:ln w="12700">
            <a:solidFill>
              <a:srgbClr val="22384F"/>
            </a:solidFill>
            <a:prstDash val="solid"/>
          </a:ln>
        </p:spPr>
      </p:sp>
      <p:sp>
        <p:nvSpPr>
          <p:cNvPr id="34" name="Text 30"/>
          <p:cNvSpPr/>
          <p:nvPr/>
        </p:nvSpPr>
        <p:spPr>
          <a:xfrm>
            <a:off x="6537960" y="5212080"/>
            <a:ext cx="4709160" cy="411480"/>
          </a:xfrm>
          <a:prstGeom prst="rect">
            <a:avLst/>
          </a:prstGeom>
          <a:noFill/>
          <a:ln/>
        </p:spPr>
        <p:txBody>
          <a:bodyPr wrap="square" lIns="0" tIns="0" rIns="0" bIns="0" rtlCol="0" anchor="ctr"/>
          <a:lstStyle/>
          <a:p>
            <a:pPr indent="0" marL="0">
              <a:buNone/>
            </a:pPr>
            <a:r>
              <a:rPr lang="en-US" sz="1150" i="1" dirty="0">
                <a:solidFill>
                  <a:srgbClr val="22D3EE"/>
                </a:solidFill>
                <a:latin typeface="Calibri" pitchFamily="34" charset="0"/>
                <a:ea typeface="Calibri" pitchFamily="34" charset="-122"/>
                <a:cs typeface="Calibri" pitchFamily="34" charset="-120"/>
              </a:rPr>
              <a:t>ifelse()  in R  →  AttritionFlag_bin column</a:t>
            </a:r>
            <a:endParaRPr lang="en-US" sz="1150" dirty="0"/>
          </a:p>
        </p:txBody>
      </p:sp>
      <p:sp>
        <p:nvSpPr>
          <p:cNvPr id="35" name="Text 31"/>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36" name="Text 32"/>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15  ·  Z-SCORE STANDARDIZATION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Scaling</a:t>
            </a:r>
            <a:endParaRPr lang="en-US" sz="3200" dirty="0"/>
          </a:p>
        </p:txBody>
      </p:sp>
      <p:sp>
        <p:nvSpPr>
          <p:cNvPr id="4" name="Text 2"/>
          <p:cNvSpPr/>
          <p:nvPr/>
        </p:nvSpPr>
        <p:spPr>
          <a:xfrm>
            <a:off x="594360" y="1371600"/>
            <a:ext cx="10972800" cy="365760"/>
          </a:xfrm>
          <a:prstGeom prst="rect">
            <a:avLst/>
          </a:prstGeom>
          <a:noFill/>
          <a:ln/>
        </p:spPr>
        <p:txBody>
          <a:bodyPr wrap="square" lIns="0" tIns="0" rIns="0" bIns="0" rtlCol="0" anchor="ctr"/>
          <a:lstStyle/>
          <a:p>
            <a:pPr indent="0" marL="0">
              <a:buNone/>
            </a:pPr>
            <a:r>
              <a:rPr lang="en-US" sz="1250" i="1" dirty="0">
                <a:solidFill>
                  <a:srgbClr val="5B6B7F"/>
                </a:solidFill>
                <a:latin typeface="Calibri" pitchFamily="34" charset="0"/>
                <a:ea typeface="Calibri" pitchFamily="34" charset="-122"/>
                <a:cs typeface="Calibri" pitchFamily="34" charset="-120"/>
              </a:rPr>
              <a:t>Applied via scale() in R to 8 numeric columns with differing natural ranges.</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920240"/>
          <a:ext cx="10972800" cy="3794760"/>
        </p:xfrm>
        <a:graphic>
          <a:graphicData uri="http://schemas.openxmlformats.org/drawingml/2006/table">
            <a:tbl>
              <a:tblPr/>
              <a:tblGrid>
                <a:gridCol w="3108960"/>
                <a:gridCol w="1965960"/>
                <a:gridCol w="1965960"/>
                <a:gridCol w="1965960"/>
                <a:gridCol w="1965960"/>
              </a:tblGrid>
              <a:tr h="4216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Before — Mean</a:t>
                      </a:r>
                      <a:endParaRPr lang="en-US" sz="110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Before — SD</a:t>
                      </a:r>
                      <a:endParaRPr lang="en-US" sz="110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After — Mean</a:t>
                      </a:r>
                      <a:endParaRPr lang="en-US" sz="110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After — SD</a:t>
                      </a:r>
                      <a:endParaRPr lang="en-US" sz="110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F3A"/>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DistanceFromHome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31.71</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14.60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DailyRate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1251.29</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318.20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HourlyRate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124.66</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31.64</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MonthlyIncome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31456.33</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7804.83</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MonthlyRate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32462.57</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10100.96</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YearsAtCompany</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3.97</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2.82</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MonthlyOvertimeHours</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25.59</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11.84</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r>
              <a:tr h="421640">
                <a:tc>
                  <a:txBody>
                    <a:bodyPr/>
                    <a:lstStyle/>
                    <a:p>
                      <a:pPr algn="l" indent="0" marL="0">
                        <a:buNone/>
                      </a:pPr>
                      <a:r>
                        <a:rPr lang="en-US" sz="1050" b="1" dirty="0">
                          <a:solidFill>
                            <a:srgbClr val="0B1F3A"/>
                          </a:solidFill>
                          <a:latin typeface="Calibri" pitchFamily="34" charset="0"/>
                          <a:ea typeface="Calibri" pitchFamily="34" charset="-122"/>
                          <a:cs typeface="Calibri" pitchFamily="34" charset="-120"/>
                        </a:rPr>
                        <a:t>EngagementScore</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67.50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dirty="0">
                          <a:solidFill>
                            <a:srgbClr val="0B1F3A"/>
                          </a:solidFill>
                          <a:latin typeface="Calibri" pitchFamily="34" charset="0"/>
                          <a:ea typeface="Calibri" pitchFamily="34" charset="-122"/>
                          <a:cs typeface="Calibri" pitchFamily="34" charset="-120"/>
                        </a:rPr>
                        <a:t>11.86</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c>
                  <a:txBody>
                    <a:bodyPr/>
                    <a:lstStyle/>
                    <a:p>
                      <a:pPr algn="ctr" indent="0" marL="0">
                        <a:buNone/>
                      </a:pPr>
                      <a:r>
                        <a:rPr lang="en-US" sz="1050" b="1" dirty="0">
                          <a:solidFill>
                            <a:srgbClr val="0E749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3F5F8"/>
                    </a:solidFill>
                  </a:tcPr>
                </a:tc>
              </a:tr>
            </a:tbl>
          </a:graphicData>
        </a:graphic>
      </p:graphicFrame>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7" name="Text 4"/>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Exploratory Data Analysis</a:t>
            </a:r>
            <a:endParaRPr lang="en-US" sz="3200" dirty="0"/>
          </a:p>
        </p:txBody>
      </p:sp>
      <p:sp>
        <p:nvSpPr>
          <p:cNvPr id="4" name="Shape 2"/>
          <p:cNvSpPr/>
          <p:nvPr/>
        </p:nvSpPr>
        <p:spPr>
          <a:xfrm>
            <a:off x="594360" y="1783080"/>
            <a:ext cx="5349240" cy="1965960"/>
          </a:xfrm>
          <a:prstGeom prst="roundRect">
            <a:avLst>
              <a:gd name="adj" fmla="val 3721"/>
            </a:avLst>
          </a:prstGeom>
          <a:solidFill>
            <a:srgbClr val="F3F5F8"/>
          </a:solidFill>
          <a:ln w="12700">
            <a:solidFill>
              <a:srgbClr val="E2E6EC"/>
            </a:solidFill>
            <a:prstDash val="solid"/>
          </a:ln>
        </p:spPr>
      </p:sp>
      <p:sp>
        <p:nvSpPr>
          <p:cNvPr id="5" name="Shape 3"/>
          <p:cNvSpPr/>
          <p:nvPr/>
        </p:nvSpPr>
        <p:spPr>
          <a:xfrm>
            <a:off x="845820" y="2423160"/>
            <a:ext cx="685800" cy="685800"/>
          </a:xfrm>
          <a:prstGeom prst="ellipse">
            <a:avLst/>
          </a:prstGeom>
          <a:solidFill>
            <a:srgbClr val="0E7490"/>
          </a:solidFill>
          <a:ln/>
        </p:spPr>
      </p:sp>
      <p:pic>
        <p:nvPicPr>
          <p:cNvPr id="6" name="Image 0" descr="/home/claude/pptx_build/icons/eda.png">    </p:cNvPr>
          <p:cNvPicPr>
            <a:picLocks noChangeAspect="1"/>
          </p:cNvPicPr>
          <p:nvPr/>
        </p:nvPicPr>
        <p:blipFill>
          <a:blip r:embed="rId1"/>
          <a:stretch>
            <a:fillRect/>
          </a:stretch>
        </p:blipFill>
        <p:spPr>
          <a:xfrm>
            <a:off x="1017270" y="2594610"/>
            <a:ext cx="342900" cy="342900"/>
          </a:xfrm>
          <a:prstGeom prst="rect">
            <a:avLst/>
          </a:prstGeom>
        </p:spPr>
      </p:pic>
      <p:sp>
        <p:nvSpPr>
          <p:cNvPr id="7" name="Text 4"/>
          <p:cNvSpPr/>
          <p:nvPr/>
        </p:nvSpPr>
        <p:spPr>
          <a:xfrm>
            <a:off x="1737360" y="2057400"/>
            <a:ext cx="397764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Tooling</a:t>
            </a:r>
            <a:endParaRPr lang="en-US" sz="1500" dirty="0"/>
          </a:p>
        </p:txBody>
      </p:sp>
      <p:sp>
        <p:nvSpPr>
          <p:cNvPr id="8" name="Text 5"/>
          <p:cNvSpPr/>
          <p:nvPr/>
        </p:nvSpPr>
        <p:spPr>
          <a:xfrm>
            <a:off x="1737360" y="2496312"/>
            <a:ext cx="3977640" cy="100584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All visualizations generated in R using ggplot2 and corrplot.</a:t>
            </a:r>
            <a:endParaRPr lang="en-US" sz="1150" dirty="0"/>
          </a:p>
        </p:txBody>
      </p:sp>
      <p:sp>
        <p:nvSpPr>
          <p:cNvPr id="9" name="Shape 6"/>
          <p:cNvSpPr/>
          <p:nvPr/>
        </p:nvSpPr>
        <p:spPr>
          <a:xfrm>
            <a:off x="6217920" y="1783080"/>
            <a:ext cx="5349240" cy="1965960"/>
          </a:xfrm>
          <a:prstGeom prst="roundRect">
            <a:avLst>
              <a:gd name="adj" fmla="val 3721"/>
            </a:avLst>
          </a:prstGeom>
          <a:solidFill>
            <a:srgbClr val="F3F5F8"/>
          </a:solidFill>
          <a:ln w="12700">
            <a:solidFill>
              <a:srgbClr val="E2E6EC"/>
            </a:solidFill>
            <a:prstDash val="solid"/>
          </a:ln>
        </p:spPr>
      </p:sp>
      <p:sp>
        <p:nvSpPr>
          <p:cNvPr id="10" name="Shape 7"/>
          <p:cNvSpPr/>
          <p:nvPr/>
        </p:nvSpPr>
        <p:spPr>
          <a:xfrm>
            <a:off x="6469380" y="2423160"/>
            <a:ext cx="685800" cy="685800"/>
          </a:xfrm>
          <a:prstGeom prst="ellipse">
            <a:avLst/>
          </a:prstGeom>
          <a:solidFill>
            <a:srgbClr val="0E7490"/>
          </a:solidFill>
          <a:ln/>
        </p:spPr>
      </p:sp>
      <p:pic>
        <p:nvPicPr>
          <p:cNvPr id="11" name="Image 1" descr="/home/claude/pptx_build/icons/dataset.png">    </p:cNvPr>
          <p:cNvPicPr>
            <a:picLocks noChangeAspect="1"/>
          </p:cNvPicPr>
          <p:nvPr/>
        </p:nvPicPr>
        <p:blipFill>
          <a:blip r:embed="rId2"/>
          <a:stretch>
            <a:fillRect/>
          </a:stretch>
        </p:blipFill>
        <p:spPr>
          <a:xfrm>
            <a:off x="6640830" y="2594610"/>
            <a:ext cx="342900" cy="342900"/>
          </a:xfrm>
          <a:prstGeom prst="rect">
            <a:avLst/>
          </a:prstGeom>
        </p:spPr>
      </p:pic>
      <p:sp>
        <p:nvSpPr>
          <p:cNvPr id="12" name="Text 8"/>
          <p:cNvSpPr/>
          <p:nvPr/>
        </p:nvSpPr>
        <p:spPr>
          <a:xfrm>
            <a:off x="7360920" y="2057400"/>
            <a:ext cx="397764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Data Used</a:t>
            </a:r>
            <a:endParaRPr lang="en-US" sz="1500" dirty="0"/>
          </a:p>
        </p:txBody>
      </p:sp>
      <p:sp>
        <p:nvSpPr>
          <p:cNvPr id="13" name="Text 9"/>
          <p:cNvSpPr/>
          <p:nvPr/>
        </p:nvSpPr>
        <p:spPr>
          <a:xfrm>
            <a:off x="7360920" y="2496312"/>
            <a:ext cx="3977640" cy="100584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The cleaned dataset from preprocessing (df_clean) — 19 columns, plant identifiers anonymized.</a:t>
            </a:r>
            <a:endParaRPr lang="en-US" sz="1150" dirty="0"/>
          </a:p>
        </p:txBody>
      </p:sp>
      <p:sp>
        <p:nvSpPr>
          <p:cNvPr id="14" name="Shape 10"/>
          <p:cNvSpPr/>
          <p:nvPr/>
        </p:nvSpPr>
        <p:spPr>
          <a:xfrm>
            <a:off x="594360" y="3977640"/>
            <a:ext cx="5349240" cy="1965960"/>
          </a:xfrm>
          <a:prstGeom prst="roundRect">
            <a:avLst>
              <a:gd name="adj" fmla="val 3721"/>
            </a:avLst>
          </a:prstGeom>
          <a:solidFill>
            <a:srgbClr val="F3F5F8"/>
          </a:solidFill>
          <a:ln w="12700">
            <a:solidFill>
              <a:srgbClr val="E2E6EC"/>
            </a:solidFill>
            <a:prstDash val="solid"/>
          </a:ln>
        </p:spPr>
      </p:sp>
      <p:sp>
        <p:nvSpPr>
          <p:cNvPr id="15" name="Shape 11"/>
          <p:cNvSpPr/>
          <p:nvPr/>
        </p:nvSpPr>
        <p:spPr>
          <a:xfrm>
            <a:off x="845820" y="4617720"/>
            <a:ext cx="685800" cy="685800"/>
          </a:xfrm>
          <a:prstGeom prst="ellipse">
            <a:avLst/>
          </a:prstGeom>
          <a:solidFill>
            <a:srgbClr val="0E7490"/>
          </a:solidFill>
          <a:ln/>
        </p:spPr>
      </p:sp>
      <p:pic>
        <p:nvPicPr>
          <p:cNvPr id="16" name="Image 2" descr="/home/claude/pptx_build/icons/gallery.png">    </p:cNvPr>
          <p:cNvPicPr>
            <a:picLocks noChangeAspect="1"/>
          </p:cNvPicPr>
          <p:nvPr/>
        </p:nvPicPr>
        <p:blipFill>
          <a:blip r:embed="rId3"/>
          <a:stretch>
            <a:fillRect/>
          </a:stretch>
        </p:blipFill>
        <p:spPr>
          <a:xfrm>
            <a:off x="1017270" y="4789170"/>
            <a:ext cx="342900" cy="342900"/>
          </a:xfrm>
          <a:prstGeom prst="rect">
            <a:avLst/>
          </a:prstGeom>
        </p:spPr>
      </p:pic>
      <p:sp>
        <p:nvSpPr>
          <p:cNvPr id="17" name="Text 12"/>
          <p:cNvSpPr/>
          <p:nvPr/>
        </p:nvSpPr>
        <p:spPr>
          <a:xfrm>
            <a:off x="1737360" y="4251960"/>
            <a:ext cx="397764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8 Visualizations</a:t>
            </a:r>
            <a:endParaRPr lang="en-US" sz="1500" dirty="0"/>
          </a:p>
        </p:txBody>
      </p:sp>
      <p:sp>
        <p:nvSpPr>
          <p:cNvPr id="18" name="Text 13"/>
          <p:cNvSpPr/>
          <p:nvPr/>
        </p:nvSpPr>
        <p:spPr>
          <a:xfrm>
            <a:off x="1737360" y="4690872"/>
            <a:ext cx="3977640" cy="100584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Distribution, department, income, overtime, engagement, distance, and two correlation views.</a:t>
            </a:r>
            <a:endParaRPr lang="en-US" sz="1150" dirty="0"/>
          </a:p>
        </p:txBody>
      </p:sp>
      <p:sp>
        <p:nvSpPr>
          <p:cNvPr id="19" name="Shape 14"/>
          <p:cNvSpPr/>
          <p:nvPr/>
        </p:nvSpPr>
        <p:spPr>
          <a:xfrm>
            <a:off x="6217920" y="3977640"/>
            <a:ext cx="5349240" cy="1965960"/>
          </a:xfrm>
          <a:prstGeom prst="roundRect">
            <a:avLst>
              <a:gd name="adj" fmla="val 3721"/>
            </a:avLst>
          </a:prstGeom>
          <a:solidFill>
            <a:srgbClr val="F3F5F8"/>
          </a:solidFill>
          <a:ln w="12700">
            <a:solidFill>
              <a:srgbClr val="E2E6EC"/>
            </a:solidFill>
            <a:prstDash val="solid"/>
          </a:ln>
        </p:spPr>
      </p:sp>
      <p:sp>
        <p:nvSpPr>
          <p:cNvPr id="20" name="Shape 15"/>
          <p:cNvSpPr/>
          <p:nvPr/>
        </p:nvSpPr>
        <p:spPr>
          <a:xfrm>
            <a:off x="6469380" y="4617720"/>
            <a:ext cx="685800" cy="685800"/>
          </a:xfrm>
          <a:prstGeom prst="ellipse">
            <a:avLst/>
          </a:prstGeom>
          <a:solidFill>
            <a:srgbClr val="0E7490"/>
          </a:solidFill>
          <a:ln/>
        </p:spPr>
      </p:sp>
      <p:pic>
        <p:nvPicPr>
          <p:cNvPr id="21" name="Image 3" descr="/home/claude/pptx_build/icons/findings.png">    </p:cNvPr>
          <p:cNvPicPr>
            <a:picLocks noChangeAspect="1"/>
          </p:cNvPicPr>
          <p:nvPr/>
        </p:nvPicPr>
        <p:blipFill>
          <a:blip r:embed="rId4"/>
          <a:stretch>
            <a:fillRect/>
          </a:stretch>
        </p:blipFill>
        <p:spPr>
          <a:xfrm>
            <a:off x="6640830" y="4789170"/>
            <a:ext cx="342900" cy="342900"/>
          </a:xfrm>
          <a:prstGeom prst="rect">
            <a:avLst/>
          </a:prstGeom>
        </p:spPr>
      </p:pic>
      <p:sp>
        <p:nvSpPr>
          <p:cNvPr id="22" name="Text 16"/>
          <p:cNvSpPr/>
          <p:nvPr/>
        </p:nvSpPr>
        <p:spPr>
          <a:xfrm>
            <a:off x="7360920" y="4251960"/>
            <a:ext cx="397764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Purpose</a:t>
            </a:r>
            <a:endParaRPr lang="en-US" sz="1500" dirty="0"/>
          </a:p>
        </p:txBody>
      </p:sp>
      <p:sp>
        <p:nvSpPr>
          <p:cNvPr id="23" name="Text 17"/>
          <p:cNvSpPr/>
          <p:nvPr/>
        </p:nvSpPr>
        <p:spPr>
          <a:xfrm>
            <a:off x="7360920" y="4690872"/>
            <a:ext cx="3977640" cy="1005840"/>
          </a:xfrm>
          <a:prstGeom prst="rect">
            <a:avLst/>
          </a:prstGeom>
          <a:noFill/>
          <a:ln/>
        </p:spPr>
        <p:txBody>
          <a:bodyPr wrap="square" lIns="0" tIns="0" rIns="0" bIns="0" rtlCol="0" anchor="ctr"/>
          <a:lstStyle/>
          <a:p>
            <a:pPr indent="0" marL="0">
              <a:lnSpc>
                <a:spcPct val="120000"/>
              </a:lnSpc>
              <a:buNone/>
            </a:pPr>
            <a:r>
              <a:rPr lang="en-US" sz="1150" dirty="0">
                <a:solidFill>
                  <a:srgbClr val="5B6B7F"/>
                </a:solidFill>
                <a:latin typeface="Calibri" pitchFamily="34" charset="0"/>
                <a:ea typeface="Calibri" pitchFamily="34" charset="-122"/>
                <a:cs typeface="Calibri" pitchFamily="34" charset="-120"/>
              </a:rPr>
              <a:t>Surface patterns that distinguish employees who left from those who stayed.</a:t>
            </a:r>
            <a:endParaRPr lang="en-US" sz="1150" dirty="0"/>
          </a:p>
        </p:txBody>
      </p:sp>
      <p:sp>
        <p:nvSpPr>
          <p:cNvPr id="24" name="Text 18"/>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5" name="Text 19"/>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17  ·  1 OF 2</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Key Visualizations</a:t>
            </a:r>
            <a:endParaRPr lang="en-US" sz="3200" dirty="0"/>
          </a:p>
        </p:txBody>
      </p:sp>
      <p:sp>
        <p:nvSpPr>
          <p:cNvPr id="4" name="Shape 2"/>
          <p:cNvSpPr/>
          <p:nvPr/>
        </p:nvSpPr>
        <p:spPr>
          <a:xfrm>
            <a:off x="594360" y="1691640"/>
            <a:ext cx="5349240" cy="2212848"/>
          </a:xfrm>
          <a:prstGeom prst="roundRect">
            <a:avLst>
              <a:gd name="adj" fmla="val 247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5" name="Image 0" descr="/home/claude/pptx_build/fig1_attrition_distribution.png">    </p:cNvPr>
          <p:cNvPicPr>
            <a:picLocks noChangeAspect="1"/>
          </p:cNvPicPr>
          <p:nvPr/>
        </p:nvPicPr>
        <p:blipFill>
          <a:blip r:embed="rId1"/>
          <a:srcRect l="0" r="0" t="0" b="0"/>
          <a:stretch/>
        </p:blipFill>
        <p:spPr>
          <a:xfrm>
            <a:off x="704088" y="1783080"/>
            <a:ext cx="5129784" cy="1536192"/>
          </a:xfrm>
          <a:prstGeom prst="rect">
            <a:avLst/>
          </a:prstGeom>
        </p:spPr>
      </p:pic>
      <p:sp>
        <p:nvSpPr>
          <p:cNvPr id="6" name="Text 3"/>
          <p:cNvSpPr/>
          <p:nvPr/>
        </p:nvSpPr>
        <p:spPr>
          <a:xfrm>
            <a:off x="731520" y="3337560"/>
            <a:ext cx="5074920" cy="27432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Attrition Distribution</a:t>
            </a:r>
            <a:endParaRPr lang="en-US" sz="1200" dirty="0"/>
          </a:p>
        </p:txBody>
      </p:sp>
      <p:sp>
        <p:nvSpPr>
          <p:cNvPr id="7" name="Text 4"/>
          <p:cNvSpPr/>
          <p:nvPr/>
        </p:nvSpPr>
        <p:spPr>
          <a:xfrm>
            <a:off x="731520" y="3602736"/>
            <a:ext cx="5074920" cy="274320"/>
          </a:xfrm>
          <a:prstGeom prst="rect">
            <a:avLst/>
          </a:prstGeom>
          <a:noFill/>
          <a:ln/>
        </p:spPr>
        <p:txBody>
          <a:bodyPr wrap="square" lIns="0" tIns="0" rIns="0" bIns="0" rtlCol="0" anchor="ctr"/>
          <a:lstStyle/>
          <a:p>
            <a:pPr algn="ctr" indent="0" marL="0">
              <a:buNone/>
            </a:pPr>
            <a:r>
              <a:rPr lang="en-US" sz="950" i="1" dirty="0">
                <a:solidFill>
                  <a:srgbClr val="5B6B7F"/>
                </a:solidFill>
                <a:latin typeface="Calibri" pitchFamily="34" charset="0"/>
                <a:ea typeface="Calibri" pitchFamily="34" charset="-122"/>
                <a:cs typeface="Calibri" pitchFamily="34" charset="-120"/>
              </a:rPr>
              <a:t>83.44% retained vs. 16.56% left</a:t>
            </a:r>
            <a:endParaRPr lang="en-US" sz="950" dirty="0"/>
          </a:p>
        </p:txBody>
      </p:sp>
      <p:sp>
        <p:nvSpPr>
          <p:cNvPr id="8" name="Shape 5"/>
          <p:cNvSpPr/>
          <p:nvPr/>
        </p:nvSpPr>
        <p:spPr>
          <a:xfrm>
            <a:off x="6217920" y="1691640"/>
            <a:ext cx="5349240" cy="2212848"/>
          </a:xfrm>
          <a:prstGeom prst="roundRect">
            <a:avLst>
              <a:gd name="adj" fmla="val 247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9" name="Image 1" descr="/home/claude/pptx_build/fig2_attrition_by_department.png">    </p:cNvPr>
          <p:cNvPicPr>
            <a:picLocks noChangeAspect="1"/>
          </p:cNvPicPr>
          <p:nvPr/>
        </p:nvPicPr>
        <p:blipFill>
          <a:blip r:embed="rId2"/>
          <a:srcRect l="0" r="0" t="0" b="0"/>
          <a:stretch/>
        </p:blipFill>
        <p:spPr>
          <a:xfrm>
            <a:off x="6327648" y="1783080"/>
            <a:ext cx="5129784" cy="1536192"/>
          </a:xfrm>
          <a:prstGeom prst="rect">
            <a:avLst/>
          </a:prstGeom>
        </p:spPr>
      </p:pic>
      <p:sp>
        <p:nvSpPr>
          <p:cNvPr id="10" name="Text 6"/>
          <p:cNvSpPr/>
          <p:nvPr/>
        </p:nvSpPr>
        <p:spPr>
          <a:xfrm>
            <a:off x="6355080" y="3337560"/>
            <a:ext cx="5074920" cy="27432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Attrition by Department</a:t>
            </a:r>
            <a:endParaRPr lang="en-US" sz="1200" dirty="0"/>
          </a:p>
        </p:txBody>
      </p:sp>
      <p:sp>
        <p:nvSpPr>
          <p:cNvPr id="11" name="Text 7"/>
          <p:cNvSpPr/>
          <p:nvPr/>
        </p:nvSpPr>
        <p:spPr>
          <a:xfrm>
            <a:off x="6355080" y="3602736"/>
            <a:ext cx="5074920" cy="274320"/>
          </a:xfrm>
          <a:prstGeom prst="rect">
            <a:avLst/>
          </a:prstGeom>
          <a:noFill/>
          <a:ln/>
        </p:spPr>
        <p:txBody>
          <a:bodyPr wrap="square" lIns="0" tIns="0" rIns="0" bIns="0" rtlCol="0" anchor="ctr"/>
          <a:lstStyle/>
          <a:p>
            <a:pPr algn="ctr" indent="0" marL="0">
              <a:buNone/>
            </a:pPr>
            <a:r>
              <a:rPr lang="en-US" sz="950" i="1" dirty="0">
                <a:solidFill>
                  <a:srgbClr val="5B6B7F"/>
                </a:solidFill>
                <a:latin typeface="Calibri" pitchFamily="34" charset="0"/>
                <a:ea typeface="Calibri" pitchFamily="34" charset="-122"/>
                <a:cs typeface="Calibri" pitchFamily="34" charset="-120"/>
              </a:rPr>
              <a:t>Quality Control highest (17.1%); spread &lt; 1 pt</a:t>
            </a:r>
            <a:endParaRPr lang="en-US" sz="950" dirty="0"/>
          </a:p>
        </p:txBody>
      </p:sp>
      <p:sp>
        <p:nvSpPr>
          <p:cNvPr id="12" name="Shape 8"/>
          <p:cNvSpPr/>
          <p:nvPr/>
        </p:nvSpPr>
        <p:spPr>
          <a:xfrm>
            <a:off x="594360" y="4069080"/>
            <a:ext cx="5349240" cy="2212848"/>
          </a:xfrm>
          <a:prstGeom prst="roundRect">
            <a:avLst>
              <a:gd name="adj" fmla="val 247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13" name="Image 2" descr="/home/claude/pptx_build/fig3_income_by_attrition.png">    </p:cNvPr>
          <p:cNvPicPr>
            <a:picLocks noChangeAspect="1"/>
          </p:cNvPicPr>
          <p:nvPr/>
        </p:nvPicPr>
        <p:blipFill>
          <a:blip r:embed="rId3"/>
          <a:srcRect l="0" r="0" t="0" b="0"/>
          <a:stretch/>
        </p:blipFill>
        <p:spPr>
          <a:xfrm>
            <a:off x="704088" y="4160520"/>
            <a:ext cx="5129784" cy="1536192"/>
          </a:xfrm>
          <a:prstGeom prst="rect">
            <a:avLst/>
          </a:prstGeom>
        </p:spPr>
      </p:pic>
      <p:sp>
        <p:nvSpPr>
          <p:cNvPr id="14" name="Text 9"/>
          <p:cNvSpPr/>
          <p:nvPr/>
        </p:nvSpPr>
        <p:spPr>
          <a:xfrm>
            <a:off x="731520" y="5715000"/>
            <a:ext cx="5074920" cy="27432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Income vs. Attrition</a:t>
            </a:r>
            <a:endParaRPr lang="en-US" sz="1200" dirty="0"/>
          </a:p>
        </p:txBody>
      </p:sp>
      <p:sp>
        <p:nvSpPr>
          <p:cNvPr id="15" name="Text 10"/>
          <p:cNvSpPr/>
          <p:nvPr/>
        </p:nvSpPr>
        <p:spPr>
          <a:xfrm>
            <a:off x="731520" y="5980176"/>
            <a:ext cx="5074920" cy="274320"/>
          </a:xfrm>
          <a:prstGeom prst="rect">
            <a:avLst/>
          </a:prstGeom>
          <a:noFill/>
          <a:ln/>
        </p:spPr>
        <p:txBody>
          <a:bodyPr wrap="square" lIns="0" tIns="0" rIns="0" bIns="0" rtlCol="0" anchor="ctr"/>
          <a:lstStyle/>
          <a:p>
            <a:pPr algn="ctr" indent="0" marL="0">
              <a:buNone/>
            </a:pPr>
            <a:r>
              <a:rPr lang="en-US" sz="950" i="1" dirty="0">
                <a:solidFill>
                  <a:srgbClr val="5B6B7F"/>
                </a:solidFill>
                <a:latin typeface="Calibri" pitchFamily="34" charset="0"/>
                <a:ea typeface="Calibri" pitchFamily="34" charset="-122"/>
                <a:cs typeface="Calibri" pitchFamily="34" charset="-120"/>
              </a:rPr>
              <a:t>Nearly identical — income shows no relationship</a:t>
            </a:r>
            <a:endParaRPr lang="en-US" sz="950" dirty="0"/>
          </a:p>
        </p:txBody>
      </p:sp>
      <p:sp>
        <p:nvSpPr>
          <p:cNvPr id="16" name="Shape 11"/>
          <p:cNvSpPr/>
          <p:nvPr/>
        </p:nvSpPr>
        <p:spPr>
          <a:xfrm>
            <a:off x="6217920" y="4069080"/>
            <a:ext cx="5349240" cy="2212848"/>
          </a:xfrm>
          <a:prstGeom prst="roundRect">
            <a:avLst>
              <a:gd name="adj" fmla="val 247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17" name="Image 3" descr="/home/claude/pptx_build/fig4_overtime_by_attrition.png">    </p:cNvPr>
          <p:cNvPicPr>
            <a:picLocks noChangeAspect="1"/>
          </p:cNvPicPr>
          <p:nvPr/>
        </p:nvPicPr>
        <p:blipFill>
          <a:blip r:embed="rId4"/>
          <a:srcRect l="0" r="0" t="0" b="0"/>
          <a:stretch/>
        </p:blipFill>
        <p:spPr>
          <a:xfrm>
            <a:off x="6327648" y="4160520"/>
            <a:ext cx="5129784" cy="1536192"/>
          </a:xfrm>
          <a:prstGeom prst="rect">
            <a:avLst/>
          </a:prstGeom>
        </p:spPr>
      </p:pic>
      <p:sp>
        <p:nvSpPr>
          <p:cNvPr id="18" name="Text 12"/>
          <p:cNvSpPr/>
          <p:nvPr/>
        </p:nvSpPr>
        <p:spPr>
          <a:xfrm>
            <a:off x="6355080" y="5715000"/>
            <a:ext cx="5074920" cy="27432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Overtime vs. Attrition</a:t>
            </a:r>
            <a:endParaRPr lang="en-US" sz="1200" dirty="0"/>
          </a:p>
        </p:txBody>
      </p:sp>
      <p:sp>
        <p:nvSpPr>
          <p:cNvPr id="19" name="Text 13"/>
          <p:cNvSpPr/>
          <p:nvPr/>
        </p:nvSpPr>
        <p:spPr>
          <a:xfrm>
            <a:off x="6355080" y="5980176"/>
            <a:ext cx="5074920" cy="274320"/>
          </a:xfrm>
          <a:prstGeom prst="rect">
            <a:avLst/>
          </a:prstGeom>
          <a:noFill/>
          <a:ln/>
        </p:spPr>
        <p:txBody>
          <a:bodyPr wrap="square" lIns="0" tIns="0" rIns="0" bIns="0" rtlCol="0" anchor="ctr"/>
          <a:lstStyle/>
          <a:p>
            <a:pPr algn="ctr" indent="0" marL="0">
              <a:buNone/>
            </a:pPr>
            <a:r>
              <a:rPr lang="en-US" sz="950" i="1" dirty="0">
                <a:solidFill>
                  <a:srgbClr val="5B6B7F"/>
                </a:solidFill>
                <a:latin typeface="Calibri" pitchFamily="34" charset="0"/>
                <a:ea typeface="Calibri" pitchFamily="34" charset="-122"/>
                <a:cs typeface="Calibri" pitchFamily="34" charset="-120"/>
              </a:rPr>
              <a:t>Median 38 hrs (left) vs. 24 hrs (stayed)</a:t>
            </a:r>
            <a:endParaRPr lang="en-US" sz="950" dirty="0"/>
          </a:p>
        </p:txBody>
      </p:sp>
      <p:sp>
        <p:nvSpPr>
          <p:cNvPr id="20" name="Text 1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1" name="Text 15"/>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17  ·  2 OF 2</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Key Visualizations</a:t>
            </a:r>
            <a:endParaRPr lang="en-US" sz="3200" dirty="0"/>
          </a:p>
        </p:txBody>
      </p:sp>
      <p:sp>
        <p:nvSpPr>
          <p:cNvPr id="4" name="Shape 2"/>
          <p:cNvSpPr/>
          <p:nvPr/>
        </p:nvSpPr>
        <p:spPr>
          <a:xfrm>
            <a:off x="594360" y="1691640"/>
            <a:ext cx="3611880" cy="4160520"/>
          </a:xfrm>
          <a:prstGeom prst="roundRect">
            <a:avLst>
              <a:gd name="adj" fmla="val 151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5" name="Image 0" descr="/home/claude/pptx_build/fig5_engagement_density.png">    </p:cNvPr>
          <p:cNvPicPr>
            <a:picLocks noChangeAspect="1"/>
          </p:cNvPicPr>
          <p:nvPr/>
        </p:nvPicPr>
        <p:blipFill>
          <a:blip r:embed="rId1"/>
          <a:srcRect l="0" r="0" t="0" b="0"/>
          <a:stretch/>
        </p:blipFill>
        <p:spPr>
          <a:xfrm>
            <a:off x="704088" y="1801368"/>
            <a:ext cx="3392424" cy="3063240"/>
          </a:xfrm>
          <a:prstGeom prst="rect">
            <a:avLst/>
          </a:prstGeom>
        </p:spPr>
      </p:pic>
      <p:sp>
        <p:nvSpPr>
          <p:cNvPr id="6" name="Text 3"/>
          <p:cNvSpPr/>
          <p:nvPr/>
        </p:nvSpPr>
        <p:spPr>
          <a:xfrm>
            <a:off x="777240" y="4937760"/>
            <a:ext cx="32461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Engagement vs. Attrition</a:t>
            </a:r>
            <a:endParaRPr lang="en-US" sz="1300" dirty="0"/>
          </a:p>
        </p:txBody>
      </p:sp>
      <p:sp>
        <p:nvSpPr>
          <p:cNvPr id="7" name="Text 4"/>
          <p:cNvSpPr/>
          <p:nvPr/>
        </p:nvSpPr>
        <p:spPr>
          <a:xfrm>
            <a:off x="777240" y="5303520"/>
            <a:ext cx="3246120" cy="502920"/>
          </a:xfrm>
          <a:prstGeom prst="rect">
            <a:avLst/>
          </a:prstGeom>
          <a:noFill/>
          <a:ln/>
        </p:spPr>
        <p:txBody>
          <a:bodyPr wrap="square" lIns="0" tIns="0" rIns="0" bIns="0" rtlCol="0" anchor="ctr"/>
          <a:lstStyle/>
          <a:p>
            <a:pPr algn="ctr" indent="0" marL="0">
              <a:lnSpc>
                <a:spcPct val="115000"/>
              </a:lnSpc>
              <a:buNone/>
            </a:pPr>
            <a:r>
              <a:rPr lang="en-US" sz="1050" i="1" dirty="0">
                <a:solidFill>
                  <a:srgbClr val="5B6B7F"/>
                </a:solidFill>
                <a:latin typeface="Calibri" pitchFamily="34" charset="0"/>
                <a:ea typeface="Calibri" pitchFamily="34" charset="-122"/>
                <a:cs typeface="Calibri" pitchFamily="34" charset="-120"/>
              </a:rPr>
              <a:t>Sharp separation — the clearest signal</a:t>
            </a:r>
            <a:endParaRPr lang="en-US" sz="1050" dirty="0"/>
          </a:p>
        </p:txBody>
      </p:sp>
      <p:sp>
        <p:nvSpPr>
          <p:cNvPr id="8" name="Shape 5"/>
          <p:cNvSpPr/>
          <p:nvPr/>
        </p:nvSpPr>
        <p:spPr>
          <a:xfrm>
            <a:off x="4389120" y="1691640"/>
            <a:ext cx="3611880" cy="4160520"/>
          </a:xfrm>
          <a:prstGeom prst="roundRect">
            <a:avLst>
              <a:gd name="adj" fmla="val 151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9" name="Image 1" descr="/home/claude/pptx_build/fig6_distance_by_attrition.png">    </p:cNvPr>
          <p:cNvPicPr>
            <a:picLocks noChangeAspect="1"/>
          </p:cNvPicPr>
          <p:nvPr/>
        </p:nvPicPr>
        <p:blipFill>
          <a:blip r:embed="rId2"/>
          <a:srcRect l="0" r="0" t="0" b="0"/>
          <a:stretch/>
        </p:blipFill>
        <p:spPr>
          <a:xfrm>
            <a:off x="4498848" y="1801368"/>
            <a:ext cx="3392424" cy="3063240"/>
          </a:xfrm>
          <a:prstGeom prst="rect">
            <a:avLst/>
          </a:prstGeom>
        </p:spPr>
      </p:pic>
      <p:sp>
        <p:nvSpPr>
          <p:cNvPr id="10" name="Text 6"/>
          <p:cNvSpPr/>
          <p:nvPr/>
        </p:nvSpPr>
        <p:spPr>
          <a:xfrm>
            <a:off x="4572000" y="4937760"/>
            <a:ext cx="32461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Distance vs. Attrition</a:t>
            </a:r>
            <a:endParaRPr lang="en-US" sz="1300" dirty="0"/>
          </a:p>
        </p:txBody>
      </p:sp>
      <p:sp>
        <p:nvSpPr>
          <p:cNvPr id="11" name="Text 7"/>
          <p:cNvSpPr/>
          <p:nvPr/>
        </p:nvSpPr>
        <p:spPr>
          <a:xfrm>
            <a:off x="4572000" y="5303520"/>
            <a:ext cx="3246120" cy="502920"/>
          </a:xfrm>
          <a:prstGeom prst="rect">
            <a:avLst/>
          </a:prstGeom>
          <a:noFill/>
          <a:ln/>
        </p:spPr>
        <p:txBody>
          <a:bodyPr wrap="square" lIns="0" tIns="0" rIns="0" bIns="0" rtlCol="0" anchor="ctr"/>
          <a:lstStyle/>
          <a:p>
            <a:pPr algn="ctr" indent="0" marL="0">
              <a:lnSpc>
                <a:spcPct val="115000"/>
              </a:lnSpc>
              <a:buNone/>
            </a:pPr>
            <a:r>
              <a:rPr lang="en-US" sz="1050" i="1" dirty="0">
                <a:solidFill>
                  <a:srgbClr val="5B6B7F"/>
                </a:solidFill>
                <a:latin typeface="Calibri" pitchFamily="34" charset="0"/>
                <a:ea typeface="Calibri" pitchFamily="34" charset="-122"/>
                <a:cs typeface="Calibri" pitchFamily="34" charset="-120"/>
              </a:rPr>
              <a:t>Modest shift: 35 km (left) vs. 31 km (stayed)</a:t>
            </a:r>
            <a:endParaRPr lang="en-US" sz="1050" dirty="0"/>
          </a:p>
        </p:txBody>
      </p:sp>
      <p:sp>
        <p:nvSpPr>
          <p:cNvPr id="12" name="Shape 8"/>
          <p:cNvSpPr/>
          <p:nvPr/>
        </p:nvSpPr>
        <p:spPr>
          <a:xfrm>
            <a:off x="8183880" y="1691640"/>
            <a:ext cx="3611880" cy="4160520"/>
          </a:xfrm>
          <a:prstGeom prst="roundRect">
            <a:avLst>
              <a:gd name="adj" fmla="val 151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13" name="Image 2" descr="/home/claude/pptx_build/fig7_correlation_heatmap.png">    </p:cNvPr>
          <p:cNvPicPr>
            <a:picLocks noChangeAspect="1"/>
          </p:cNvPicPr>
          <p:nvPr/>
        </p:nvPicPr>
        <p:blipFill>
          <a:blip r:embed="rId3"/>
          <a:srcRect l="0" r="0" t="0" b="0"/>
          <a:stretch/>
        </p:blipFill>
        <p:spPr>
          <a:xfrm>
            <a:off x="8293608" y="1801368"/>
            <a:ext cx="3392424" cy="3063240"/>
          </a:xfrm>
          <a:prstGeom prst="rect">
            <a:avLst/>
          </a:prstGeom>
        </p:spPr>
      </p:pic>
      <p:sp>
        <p:nvSpPr>
          <p:cNvPr id="14" name="Text 9"/>
          <p:cNvSpPr/>
          <p:nvPr/>
        </p:nvSpPr>
        <p:spPr>
          <a:xfrm>
            <a:off x="8366760" y="4937760"/>
            <a:ext cx="32461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Predictor Correlation</a:t>
            </a:r>
            <a:endParaRPr lang="en-US" sz="1300" dirty="0"/>
          </a:p>
        </p:txBody>
      </p:sp>
      <p:sp>
        <p:nvSpPr>
          <p:cNvPr id="15" name="Text 10"/>
          <p:cNvSpPr/>
          <p:nvPr/>
        </p:nvSpPr>
        <p:spPr>
          <a:xfrm>
            <a:off x="8366760" y="5303520"/>
            <a:ext cx="3246120" cy="502920"/>
          </a:xfrm>
          <a:prstGeom prst="rect">
            <a:avLst/>
          </a:prstGeom>
          <a:noFill/>
          <a:ln/>
        </p:spPr>
        <p:txBody>
          <a:bodyPr wrap="square" lIns="0" tIns="0" rIns="0" bIns="0" rtlCol="0" anchor="ctr"/>
          <a:lstStyle/>
          <a:p>
            <a:pPr algn="ctr" indent="0" marL="0">
              <a:lnSpc>
                <a:spcPct val="115000"/>
              </a:lnSpc>
              <a:buNone/>
            </a:pPr>
            <a:r>
              <a:rPr lang="en-US" sz="1050" i="1" dirty="0">
                <a:solidFill>
                  <a:srgbClr val="5B6B7F"/>
                </a:solidFill>
                <a:latin typeface="Calibri" pitchFamily="34" charset="0"/>
                <a:ea typeface="Calibri" pitchFamily="34" charset="-122"/>
                <a:cs typeface="Calibri" pitchFamily="34" charset="-120"/>
              </a:rPr>
              <a:t>Near-zero everywhere — confirms no multicollinearity</a:t>
            </a:r>
            <a:endParaRPr lang="en-US" sz="1050" dirty="0"/>
          </a:p>
        </p:txBody>
      </p:sp>
      <p:sp>
        <p:nvSpPr>
          <p:cNvPr id="16" name="Text 11"/>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17" name="Text 12"/>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18</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Major Findings</a:t>
            </a:r>
            <a:endParaRPr lang="en-US" sz="3200" dirty="0"/>
          </a:p>
        </p:txBody>
      </p:sp>
      <p:sp>
        <p:nvSpPr>
          <p:cNvPr id="4" name="Shape 2"/>
          <p:cNvSpPr/>
          <p:nvPr/>
        </p:nvSpPr>
        <p:spPr>
          <a:xfrm>
            <a:off x="548640" y="1737360"/>
            <a:ext cx="5943600" cy="4160520"/>
          </a:xfrm>
          <a:prstGeom prst="roundRect">
            <a:avLst>
              <a:gd name="adj" fmla="val 1319"/>
            </a:avLst>
          </a:prstGeom>
          <a:solidFill>
            <a:srgbClr val="FFFFFF"/>
          </a:solidFill>
          <a:ln w="12700">
            <a:solidFill>
              <a:srgbClr val="E2E6EC"/>
            </a:solidFill>
            <a:prstDash val="solid"/>
          </a:ln>
          <a:effectLst>
            <a:outerShdw sx="100000" sy="100000" kx="0" ky="0" algn="bl" rotWithShape="0" blurRad="76200" dist="25400" dir="5400000">
              <a:srgbClr val="9AA6B4">
                <a:alpha val="20000"/>
              </a:srgbClr>
            </a:outerShdw>
          </a:effectLst>
        </p:spPr>
      </p:sp>
      <p:pic>
        <p:nvPicPr>
          <p:cNvPr id="5" name="Image 0" descr="/home/claude/pptx_build/fig8_correlation_with_target.png">    </p:cNvPr>
          <p:cNvPicPr>
            <a:picLocks noChangeAspect="1"/>
          </p:cNvPicPr>
          <p:nvPr/>
        </p:nvPicPr>
        <p:blipFill>
          <a:blip r:embed="rId1"/>
          <a:srcRect l="0" r="0" t="0" b="0"/>
          <a:stretch/>
        </p:blipFill>
        <p:spPr>
          <a:xfrm>
            <a:off x="685800" y="1874520"/>
            <a:ext cx="5669280" cy="3886200"/>
          </a:xfrm>
          <a:prstGeom prst="rect">
            <a:avLst/>
          </a:prstGeom>
        </p:spPr>
      </p:pic>
      <p:sp>
        <p:nvSpPr>
          <p:cNvPr id="6" name="Shape 3"/>
          <p:cNvSpPr/>
          <p:nvPr/>
        </p:nvSpPr>
        <p:spPr>
          <a:xfrm>
            <a:off x="6766560" y="1783080"/>
            <a:ext cx="4892040" cy="749808"/>
          </a:xfrm>
          <a:prstGeom prst="roundRect">
            <a:avLst>
              <a:gd name="adj" fmla="val 7317"/>
            </a:avLst>
          </a:prstGeom>
          <a:solidFill>
            <a:srgbClr val="F3F5F8"/>
          </a:solidFill>
          <a:ln/>
        </p:spPr>
      </p:sp>
      <p:sp>
        <p:nvSpPr>
          <p:cNvPr id="7" name="Text 4"/>
          <p:cNvSpPr/>
          <p:nvPr/>
        </p:nvSpPr>
        <p:spPr>
          <a:xfrm>
            <a:off x="6949440" y="1783080"/>
            <a:ext cx="2651760" cy="7498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EngagementScore</a:t>
            </a:r>
            <a:endParaRPr lang="en-US" sz="1200" dirty="0"/>
          </a:p>
        </p:txBody>
      </p:sp>
      <p:sp>
        <p:nvSpPr>
          <p:cNvPr id="8" name="Text 5"/>
          <p:cNvSpPr/>
          <p:nvPr/>
        </p:nvSpPr>
        <p:spPr>
          <a:xfrm>
            <a:off x="9555480" y="1783080"/>
            <a:ext cx="1920240" cy="749808"/>
          </a:xfrm>
          <a:prstGeom prst="rect">
            <a:avLst/>
          </a:prstGeom>
          <a:noFill/>
          <a:ln/>
        </p:spPr>
        <p:txBody>
          <a:bodyPr wrap="square" lIns="0" tIns="0" rIns="0" bIns="0" rtlCol="0" anchor="ctr"/>
          <a:lstStyle/>
          <a:p>
            <a:pPr algn="r" indent="0" marL="0">
              <a:buNone/>
            </a:pPr>
            <a:r>
              <a:rPr lang="en-US" sz="1500" b="1" dirty="0">
                <a:solidFill>
                  <a:srgbClr val="0E7490"/>
                </a:solidFill>
                <a:latin typeface="Cambria" pitchFamily="34" charset="0"/>
                <a:ea typeface="Cambria" pitchFamily="34" charset="-122"/>
                <a:cs typeface="Cambria" pitchFamily="34" charset="-120"/>
              </a:rPr>
              <a:t>−0.395</a:t>
            </a:r>
            <a:endParaRPr lang="en-US" sz="1500" dirty="0"/>
          </a:p>
        </p:txBody>
      </p:sp>
      <p:sp>
        <p:nvSpPr>
          <p:cNvPr id="9" name="Shape 6"/>
          <p:cNvSpPr/>
          <p:nvPr/>
        </p:nvSpPr>
        <p:spPr>
          <a:xfrm>
            <a:off x="6766560" y="2642616"/>
            <a:ext cx="4892040" cy="749808"/>
          </a:xfrm>
          <a:prstGeom prst="roundRect">
            <a:avLst>
              <a:gd name="adj" fmla="val 7317"/>
            </a:avLst>
          </a:prstGeom>
          <a:solidFill>
            <a:srgbClr val="F3F5F8"/>
          </a:solidFill>
          <a:ln/>
        </p:spPr>
      </p:sp>
      <p:sp>
        <p:nvSpPr>
          <p:cNvPr id="10" name="Text 7"/>
          <p:cNvSpPr/>
          <p:nvPr/>
        </p:nvSpPr>
        <p:spPr>
          <a:xfrm>
            <a:off x="6949440" y="2642616"/>
            <a:ext cx="2651760" cy="7498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MonthlyOvertimeHours</a:t>
            </a:r>
            <a:endParaRPr lang="en-US" sz="1200" dirty="0"/>
          </a:p>
        </p:txBody>
      </p:sp>
      <p:sp>
        <p:nvSpPr>
          <p:cNvPr id="11" name="Text 8"/>
          <p:cNvSpPr/>
          <p:nvPr/>
        </p:nvSpPr>
        <p:spPr>
          <a:xfrm>
            <a:off x="9555480" y="2642616"/>
            <a:ext cx="1920240" cy="749808"/>
          </a:xfrm>
          <a:prstGeom prst="rect">
            <a:avLst/>
          </a:prstGeom>
          <a:noFill/>
          <a:ln/>
        </p:spPr>
        <p:txBody>
          <a:bodyPr wrap="square" lIns="0" tIns="0" rIns="0" bIns="0" rtlCol="0" anchor="ctr"/>
          <a:lstStyle/>
          <a:p>
            <a:pPr algn="r" indent="0" marL="0">
              <a:buNone/>
            </a:pPr>
            <a:r>
              <a:rPr lang="en-US" sz="1500" b="1" dirty="0">
                <a:solidFill>
                  <a:srgbClr val="0E7490"/>
                </a:solidFill>
                <a:latin typeface="Cambria" pitchFamily="34" charset="0"/>
                <a:ea typeface="Cambria" pitchFamily="34" charset="-122"/>
                <a:cs typeface="Cambria" pitchFamily="34" charset="-120"/>
              </a:rPr>
              <a:t>+0.321</a:t>
            </a:r>
            <a:endParaRPr lang="en-US" sz="1500" dirty="0"/>
          </a:p>
        </p:txBody>
      </p:sp>
      <p:sp>
        <p:nvSpPr>
          <p:cNvPr id="12" name="Shape 9"/>
          <p:cNvSpPr/>
          <p:nvPr/>
        </p:nvSpPr>
        <p:spPr>
          <a:xfrm>
            <a:off x="6766560" y="3502152"/>
            <a:ext cx="4892040" cy="749808"/>
          </a:xfrm>
          <a:prstGeom prst="roundRect">
            <a:avLst>
              <a:gd name="adj" fmla="val 7317"/>
            </a:avLst>
          </a:prstGeom>
          <a:solidFill>
            <a:srgbClr val="F3F5F8"/>
          </a:solidFill>
          <a:ln/>
        </p:spPr>
      </p:sp>
      <p:sp>
        <p:nvSpPr>
          <p:cNvPr id="13" name="Text 10"/>
          <p:cNvSpPr/>
          <p:nvPr/>
        </p:nvSpPr>
        <p:spPr>
          <a:xfrm>
            <a:off x="6949440" y="3502152"/>
            <a:ext cx="2651760" cy="7498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EnvironmentSatisfaction</a:t>
            </a:r>
            <a:endParaRPr lang="en-US" sz="1200" dirty="0"/>
          </a:p>
        </p:txBody>
      </p:sp>
      <p:sp>
        <p:nvSpPr>
          <p:cNvPr id="14" name="Text 11"/>
          <p:cNvSpPr/>
          <p:nvPr/>
        </p:nvSpPr>
        <p:spPr>
          <a:xfrm>
            <a:off x="9555480" y="3502152"/>
            <a:ext cx="1920240" cy="749808"/>
          </a:xfrm>
          <a:prstGeom prst="rect">
            <a:avLst/>
          </a:prstGeom>
          <a:noFill/>
          <a:ln/>
        </p:spPr>
        <p:txBody>
          <a:bodyPr wrap="square" lIns="0" tIns="0" rIns="0" bIns="0" rtlCol="0" anchor="ctr"/>
          <a:lstStyle/>
          <a:p>
            <a:pPr algn="r" indent="0" marL="0">
              <a:buNone/>
            </a:pPr>
            <a:r>
              <a:rPr lang="en-US" sz="1500" b="1" dirty="0">
                <a:solidFill>
                  <a:srgbClr val="6B7684"/>
                </a:solidFill>
                <a:latin typeface="Cambria" pitchFamily="34" charset="0"/>
                <a:ea typeface="Cambria" pitchFamily="34" charset="-122"/>
                <a:cs typeface="Cambria" pitchFamily="34" charset="-120"/>
              </a:rPr>
              <a:t>−0.176</a:t>
            </a:r>
            <a:endParaRPr lang="en-US" sz="1500" dirty="0"/>
          </a:p>
        </p:txBody>
      </p:sp>
      <p:sp>
        <p:nvSpPr>
          <p:cNvPr id="15" name="Shape 12"/>
          <p:cNvSpPr/>
          <p:nvPr/>
        </p:nvSpPr>
        <p:spPr>
          <a:xfrm>
            <a:off x="6766560" y="4361688"/>
            <a:ext cx="4892040" cy="749808"/>
          </a:xfrm>
          <a:prstGeom prst="roundRect">
            <a:avLst>
              <a:gd name="adj" fmla="val 7317"/>
            </a:avLst>
          </a:prstGeom>
          <a:solidFill>
            <a:srgbClr val="F3F5F8"/>
          </a:solidFill>
          <a:ln/>
        </p:spPr>
      </p:sp>
      <p:sp>
        <p:nvSpPr>
          <p:cNvPr id="16" name="Text 13"/>
          <p:cNvSpPr/>
          <p:nvPr/>
        </p:nvSpPr>
        <p:spPr>
          <a:xfrm>
            <a:off x="6949440" y="4361688"/>
            <a:ext cx="2651760" cy="7498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DistanceFromHome</a:t>
            </a:r>
            <a:endParaRPr lang="en-US" sz="1200" dirty="0"/>
          </a:p>
        </p:txBody>
      </p:sp>
      <p:sp>
        <p:nvSpPr>
          <p:cNvPr id="17" name="Text 14"/>
          <p:cNvSpPr/>
          <p:nvPr/>
        </p:nvSpPr>
        <p:spPr>
          <a:xfrm>
            <a:off x="9555480" y="4361688"/>
            <a:ext cx="1920240" cy="749808"/>
          </a:xfrm>
          <a:prstGeom prst="rect">
            <a:avLst/>
          </a:prstGeom>
          <a:noFill/>
          <a:ln/>
        </p:spPr>
        <p:txBody>
          <a:bodyPr wrap="square" lIns="0" tIns="0" rIns="0" bIns="0" rtlCol="0" anchor="ctr"/>
          <a:lstStyle/>
          <a:p>
            <a:pPr algn="r" indent="0" marL="0">
              <a:buNone/>
            </a:pPr>
            <a:r>
              <a:rPr lang="en-US" sz="1500" b="1" dirty="0">
                <a:solidFill>
                  <a:srgbClr val="6B7684"/>
                </a:solidFill>
                <a:latin typeface="Cambria" pitchFamily="34" charset="0"/>
                <a:ea typeface="Cambria" pitchFamily="34" charset="-122"/>
                <a:cs typeface="Cambria" pitchFamily="34" charset="-120"/>
              </a:rPr>
              <a:t>+0.088</a:t>
            </a:r>
            <a:endParaRPr lang="en-US" sz="1500" dirty="0"/>
          </a:p>
        </p:txBody>
      </p:sp>
      <p:sp>
        <p:nvSpPr>
          <p:cNvPr id="18" name="Shape 15"/>
          <p:cNvSpPr/>
          <p:nvPr/>
        </p:nvSpPr>
        <p:spPr>
          <a:xfrm>
            <a:off x="6766560" y="5221224"/>
            <a:ext cx="4892040" cy="749808"/>
          </a:xfrm>
          <a:prstGeom prst="roundRect">
            <a:avLst>
              <a:gd name="adj" fmla="val 7317"/>
            </a:avLst>
          </a:prstGeom>
          <a:solidFill>
            <a:srgbClr val="F3F5F8"/>
          </a:solidFill>
          <a:ln/>
        </p:spPr>
      </p:sp>
      <p:sp>
        <p:nvSpPr>
          <p:cNvPr id="19" name="Text 16"/>
          <p:cNvSpPr/>
          <p:nvPr/>
        </p:nvSpPr>
        <p:spPr>
          <a:xfrm>
            <a:off x="6949440" y="5221224"/>
            <a:ext cx="2651760" cy="74980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Compensation &amp; Tenure</a:t>
            </a:r>
            <a:endParaRPr lang="en-US" sz="1200" dirty="0"/>
          </a:p>
        </p:txBody>
      </p:sp>
      <p:sp>
        <p:nvSpPr>
          <p:cNvPr id="20" name="Text 17"/>
          <p:cNvSpPr/>
          <p:nvPr/>
        </p:nvSpPr>
        <p:spPr>
          <a:xfrm>
            <a:off x="9555480" y="5221224"/>
            <a:ext cx="1920240" cy="749808"/>
          </a:xfrm>
          <a:prstGeom prst="rect">
            <a:avLst/>
          </a:prstGeom>
          <a:noFill/>
          <a:ln/>
        </p:spPr>
        <p:txBody>
          <a:bodyPr wrap="square" lIns="0" tIns="0" rIns="0" bIns="0" rtlCol="0" anchor="ctr"/>
          <a:lstStyle/>
          <a:p>
            <a:pPr algn="r" indent="0" marL="0">
              <a:buNone/>
            </a:pPr>
            <a:r>
              <a:rPr lang="en-US" sz="1500" b="1" dirty="0">
                <a:solidFill>
                  <a:srgbClr val="6B7684"/>
                </a:solidFill>
                <a:latin typeface="Cambria" pitchFamily="34" charset="0"/>
                <a:ea typeface="Cambria" pitchFamily="34" charset="-122"/>
                <a:cs typeface="Cambria" pitchFamily="34" charset="-120"/>
              </a:rPr>
              <a:t>≈ 0.00</a:t>
            </a:r>
            <a:endParaRPr lang="en-US" sz="1500" dirty="0"/>
          </a:p>
        </p:txBody>
      </p:sp>
      <p:sp>
        <p:nvSpPr>
          <p:cNvPr id="21" name="Text 18"/>
          <p:cNvSpPr/>
          <p:nvPr/>
        </p:nvSpPr>
        <p:spPr>
          <a:xfrm>
            <a:off x="6766560" y="6153912"/>
            <a:ext cx="4892040" cy="457200"/>
          </a:xfrm>
          <a:prstGeom prst="rect">
            <a:avLst/>
          </a:prstGeom>
          <a:noFill/>
          <a:ln/>
        </p:spPr>
        <p:txBody>
          <a:bodyPr wrap="square" lIns="0" tIns="0" rIns="0" bIns="0" rtlCol="0" anchor="ctr"/>
          <a:lstStyle/>
          <a:p>
            <a:pPr indent="0" marL="0">
              <a:lnSpc>
                <a:spcPct val="120000"/>
              </a:lnSpc>
              <a:buNone/>
            </a:pPr>
            <a:r>
              <a:rPr lang="en-US" sz="1050" i="1" dirty="0">
                <a:solidFill>
                  <a:srgbClr val="5B6B7F"/>
                </a:solidFill>
                <a:latin typeface="Calibri" pitchFamily="34" charset="0"/>
                <a:ea typeface="Calibri" pitchFamily="34" charset="-122"/>
                <a:cs typeface="Calibri" pitchFamily="34" charset="-120"/>
              </a:rPr>
              <a:t>Compensation and tenure show no meaningful relationship — challenging common assumptions about why employees leave.</a:t>
            </a:r>
            <a:endParaRPr lang="en-US" sz="1050" dirty="0"/>
          </a:p>
        </p:txBody>
      </p:sp>
      <p:sp>
        <p:nvSpPr>
          <p:cNvPr id="22" name="Text 19"/>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3" name="Text 20"/>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22D3EE"/>
                </a:solidFill>
                <a:latin typeface="Calibri" pitchFamily="34" charset="0"/>
                <a:ea typeface="Calibri" pitchFamily="34" charset="-122"/>
                <a:cs typeface="Calibri" pitchFamily="34" charset="-120"/>
              </a:rPr>
              <a:t>SECTION 19</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Shape 2"/>
          <p:cNvSpPr/>
          <p:nvPr/>
        </p:nvSpPr>
        <p:spPr>
          <a:xfrm>
            <a:off x="594360" y="1691640"/>
            <a:ext cx="5349240" cy="1417320"/>
          </a:xfrm>
          <a:prstGeom prst="roundRect">
            <a:avLst>
              <a:gd name="adj" fmla="val 5161"/>
            </a:avLst>
          </a:prstGeom>
          <a:solidFill>
            <a:srgbClr val="112A4E"/>
          </a:solidFill>
          <a:ln w="12700">
            <a:solidFill>
              <a:srgbClr val="244268"/>
            </a:solidFill>
            <a:prstDash val="solid"/>
          </a:ln>
        </p:spPr>
      </p:sp>
      <p:sp>
        <p:nvSpPr>
          <p:cNvPr id="5" name="Shape 3"/>
          <p:cNvSpPr/>
          <p:nvPr/>
        </p:nvSpPr>
        <p:spPr>
          <a:xfrm>
            <a:off x="886968" y="2125980"/>
            <a:ext cx="548640" cy="548640"/>
          </a:xfrm>
          <a:prstGeom prst="ellipse">
            <a:avLst/>
          </a:prstGeom>
          <a:solidFill>
            <a:srgbClr val="22D3EE"/>
          </a:solidFill>
          <a:ln/>
        </p:spPr>
      </p:sp>
      <p:pic>
        <p:nvPicPr>
          <p:cNvPr id="6" name="Image 0" descr="/home/claude/pptx_build/icons/dataset.png">    </p:cNvPr>
          <p:cNvPicPr>
            <a:picLocks noChangeAspect="1"/>
          </p:cNvPicPr>
          <p:nvPr/>
        </p:nvPicPr>
        <p:blipFill>
          <a:blip r:embed="rId1"/>
          <a:stretch>
            <a:fillRect/>
          </a:stretch>
        </p:blipFill>
        <p:spPr>
          <a:xfrm>
            <a:off x="1024128" y="2263140"/>
            <a:ext cx="274320" cy="274320"/>
          </a:xfrm>
          <a:prstGeom prst="rect">
            <a:avLst/>
          </a:prstGeom>
        </p:spPr>
      </p:pic>
      <p:sp>
        <p:nvSpPr>
          <p:cNvPr id="7" name="Text 4"/>
          <p:cNvSpPr/>
          <p:nvPr/>
        </p:nvSpPr>
        <p:spPr>
          <a:xfrm>
            <a:off x="1600200" y="16916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A 50,000-record, 21-feature anonymized multi-plant HR dataset was identified and justified.</a:t>
            </a:r>
            <a:endParaRPr lang="en-US" sz="1200" dirty="0"/>
          </a:p>
        </p:txBody>
      </p:sp>
      <p:sp>
        <p:nvSpPr>
          <p:cNvPr id="8" name="Shape 5"/>
          <p:cNvSpPr/>
          <p:nvPr/>
        </p:nvSpPr>
        <p:spPr>
          <a:xfrm>
            <a:off x="6217920" y="1691640"/>
            <a:ext cx="5349240" cy="1417320"/>
          </a:xfrm>
          <a:prstGeom prst="roundRect">
            <a:avLst>
              <a:gd name="adj" fmla="val 5161"/>
            </a:avLst>
          </a:prstGeom>
          <a:solidFill>
            <a:srgbClr val="112A4E"/>
          </a:solidFill>
          <a:ln w="12700">
            <a:solidFill>
              <a:srgbClr val="244268"/>
            </a:solidFill>
            <a:prstDash val="solid"/>
          </a:ln>
        </p:spPr>
      </p:sp>
      <p:sp>
        <p:nvSpPr>
          <p:cNvPr id="9" name="Shape 6"/>
          <p:cNvSpPr/>
          <p:nvPr/>
        </p:nvSpPr>
        <p:spPr>
          <a:xfrm>
            <a:off x="6510528" y="2125980"/>
            <a:ext cx="548640" cy="548640"/>
          </a:xfrm>
          <a:prstGeom prst="ellipse">
            <a:avLst/>
          </a:prstGeom>
          <a:solidFill>
            <a:srgbClr val="22D3EE"/>
          </a:solidFill>
          <a:ln/>
        </p:spPr>
      </p:sp>
      <p:pic>
        <p:nvPicPr>
          <p:cNvPr id="10" name="Image 1" descr="/home/claude/pptx_build/icons/missing.png">    </p:cNvPr>
          <p:cNvPicPr>
            <a:picLocks noChangeAspect="1"/>
          </p:cNvPicPr>
          <p:nvPr/>
        </p:nvPicPr>
        <p:blipFill>
          <a:blip r:embed="rId2"/>
          <a:stretch>
            <a:fillRect/>
          </a:stretch>
        </p:blipFill>
        <p:spPr>
          <a:xfrm>
            <a:off x="6647688" y="2263140"/>
            <a:ext cx="274320" cy="274320"/>
          </a:xfrm>
          <a:prstGeom prst="rect">
            <a:avLst/>
          </a:prstGeom>
        </p:spPr>
      </p:pic>
      <p:sp>
        <p:nvSpPr>
          <p:cNvPr id="11" name="Text 7"/>
          <p:cNvSpPr/>
          <p:nvPr/>
        </p:nvSpPr>
        <p:spPr>
          <a:xfrm>
            <a:off x="7223760" y="16916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Verified complete: zero missing values, zero duplicate records.</a:t>
            </a:r>
            <a:endParaRPr lang="en-US" sz="1200" dirty="0"/>
          </a:p>
        </p:txBody>
      </p:sp>
      <p:sp>
        <p:nvSpPr>
          <p:cNvPr id="12" name="Shape 8"/>
          <p:cNvSpPr/>
          <p:nvPr/>
        </p:nvSpPr>
        <p:spPr>
          <a:xfrm>
            <a:off x="594360" y="3291840"/>
            <a:ext cx="5349240" cy="1417320"/>
          </a:xfrm>
          <a:prstGeom prst="roundRect">
            <a:avLst>
              <a:gd name="adj" fmla="val 5161"/>
            </a:avLst>
          </a:prstGeom>
          <a:solidFill>
            <a:srgbClr val="112A4E"/>
          </a:solidFill>
          <a:ln w="12700">
            <a:solidFill>
              <a:srgbClr val="244268"/>
            </a:solidFill>
            <a:prstDash val="solid"/>
          </a:ln>
        </p:spPr>
      </p:sp>
      <p:sp>
        <p:nvSpPr>
          <p:cNvPr id="13" name="Shape 9"/>
          <p:cNvSpPr/>
          <p:nvPr/>
        </p:nvSpPr>
        <p:spPr>
          <a:xfrm>
            <a:off x="886968" y="3726180"/>
            <a:ext cx="548640" cy="548640"/>
          </a:xfrm>
          <a:prstGeom prst="ellipse">
            <a:avLst/>
          </a:prstGeom>
          <a:solidFill>
            <a:srgbClr val="22D3EE"/>
          </a:solidFill>
          <a:ln/>
        </p:spPr>
      </p:sp>
      <p:pic>
        <p:nvPicPr>
          <p:cNvPr id="14" name="Image 2" descr="/home/claude/pptx_build/icons/feature.png">    </p:cNvPr>
          <p:cNvPicPr>
            <a:picLocks noChangeAspect="1"/>
          </p:cNvPicPr>
          <p:nvPr/>
        </p:nvPicPr>
        <p:blipFill>
          <a:blip r:embed="rId3"/>
          <a:stretch>
            <a:fillRect/>
          </a:stretch>
        </p:blipFill>
        <p:spPr>
          <a:xfrm>
            <a:off x="1024128" y="3863340"/>
            <a:ext cx="274320" cy="274320"/>
          </a:xfrm>
          <a:prstGeom prst="rect">
            <a:avLst/>
          </a:prstGeom>
        </p:spPr>
      </p:pic>
      <p:sp>
        <p:nvSpPr>
          <p:cNvPr id="15" name="Text 10"/>
          <p:cNvSpPr/>
          <p:nvPr/>
        </p:nvSpPr>
        <p:spPr>
          <a:xfrm>
            <a:off x="1600200" y="32918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Redundancy removed, outliers flagged, encoding and scaling applied — all in R.</a:t>
            </a:r>
            <a:endParaRPr lang="en-US" sz="1200" dirty="0"/>
          </a:p>
        </p:txBody>
      </p:sp>
      <p:sp>
        <p:nvSpPr>
          <p:cNvPr id="16" name="Shape 11"/>
          <p:cNvSpPr/>
          <p:nvPr/>
        </p:nvSpPr>
        <p:spPr>
          <a:xfrm>
            <a:off x="6217920" y="3291840"/>
            <a:ext cx="5349240" cy="1417320"/>
          </a:xfrm>
          <a:prstGeom prst="roundRect">
            <a:avLst>
              <a:gd name="adj" fmla="val 5161"/>
            </a:avLst>
          </a:prstGeom>
          <a:solidFill>
            <a:srgbClr val="112A4E"/>
          </a:solidFill>
          <a:ln w="12700">
            <a:solidFill>
              <a:srgbClr val="244268"/>
            </a:solidFill>
            <a:prstDash val="solid"/>
          </a:ln>
        </p:spPr>
      </p:sp>
      <p:sp>
        <p:nvSpPr>
          <p:cNvPr id="17" name="Shape 12"/>
          <p:cNvSpPr/>
          <p:nvPr/>
        </p:nvSpPr>
        <p:spPr>
          <a:xfrm>
            <a:off x="6510528" y="3726180"/>
            <a:ext cx="548640" cy="548640"/>
          </a:xfrm>
          <a:prstGeom prst="ellipse">
            <a:avLst/>
          </a:prstGeom>
          <a:solidFill>
            <a:srgbClr val="22D3EE"/>
          </a:solidFill>
          <a:ln/>
        </p:spPr>
      </p:sp>
      <p:pic>
        <p:nvPicPr>
          <p:cNvPr id="18" name="Image 3" descr="/home/claude/pptx_build/icons/findings.png">    </p:cNvPr>
          <p:cNvPicPr>
            <a:picLocks noChangeAspect="1"/>
          </p:cNvPicPr>
          <p:nvPr/>
        </p:nvPicPr>
        <p:blipFill>
          <a:blip r:embed="rId4"/>
          <a:stretch>
            <a:fillRect/>
          </a:stretch>
        </p:blipFill>
        <p:spPr>
          <a:xfrm>
            <a:off x="6647688" y="3863340"/>
            <a:ext cx="274320" cy="274320"/>
          </a:xfrm>
          <a:prstGeom prst="rect">
            <a:avLst/>
          </a:prstGeom>
        </p:spPr>
      </p:pic>
      <p:sp>
        <p:nvSpPr>
          <p:cNvPr id="19" name="Text 13"/>
          <p:cNvSpPr/>
          <p:nvPr/>
        </p:nvSpPr>
        <p:spPr>
          <a:xfrm>
            <a:off x="7223760" y="32918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EngagementScore and MonthlyOvertimeHours emerged as the strongest attrition signals.</a:t>
            </a:r>
            <a:endParaRPr lang="en-US" sz="1200" dirty="0"/>
          </a:p>
        </p:txBody>
      </p:sp>
      <p:sp>
        <p:nvSpPr>
          <p:cNvPr id="20" name="Shape 14"/>
          <p:cNvSpPr/>
          <p:nvPr/>
        </p:nvSpPr>
        <p:spPr>
          <a:xfrm>
            <a:off x="594360" y="4892040"/>
            <a:ext cx="5349240" cy="1417320"/>
          </a:xfrm>
          <a:prstGeom prst="roundRect">
            <a:avLst>
              <a:gd name="adj" fmla="val 5161"/>
            </a:avLst>
          </a:prstGeom>
          <a:solidFill>
            <a:srgbClr val="112A4E"/>
          </a:solidFill>
          <a:ln w="12700">
            <a:solidFill>
              <a:srgbClr val="244268"/>
            </a:solidFill>
            <a:prstDash val="solid"/>
          </a:ln>
        </p:spPr>
      </p:sp>
      <p:sp>
        <p:nvSpPr>
          <p:cNvPr id="21" name="Shape 15"/>
          <p:cNvSpPr/>
          <p:nvPr/>
        </p:nvSpPr>
        <p:spPr>
          <a:xfrm>
            <a:off x="886968" y="5326380"/>
            <a:ext cx="548640" cy="548640"/>
          </a:xfrm>
          <a:prstGeom prst="ellipse">
            <a:avLst/>
          </a:prstGeom>
          <a:solidFill>
            <a:srgbClr val="22D3EE"/>
          </a:solidFill>
          <a:ln/>
        </p:spPr>
      </p:sp>
      <p:pic>
        <p:nvPicPr>
          <p:cNvPr id="22" name="Image 4" descr="/home/claude/pptx_build/icons/gap.png">    </p:cNvPr>
          <p:cNvPicPr>
            <a:picLocks noChangeAspect="1"/>
          </p:cNvPicPr>
          <p:nvPr/>
        </p:nvPicPr>
        <p:blipFill>
          <a:blip r:embed="rId5"/>
          <a:stretch>
            <a:fillRect/>
          </a:stretch>
        </p:blipFill>
        <p:spPr>
          <a:xfrm>
            <a:off x="1024128" y="5463540"/>
            <a:ext cx="274320" cy="274320"/>
          </a:xfrm>
          <a:prstGeom prst="rect">
            <a:avLst/>
          </a:prstGeom>
        </p:spPr>
      </p:pic>
      <p:sp>
        <p:nvSpPr>
          <p:cNvPr id="23" name="Text 16"/>
          <p:cNvSpPr/>
          <p:nvPr/>
        </p:nvSpPr>
        <p:spPr>
          <a:xfrm>
            <a:off x="1600200" y="48920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Compensation and tenure showed little relationship — challenging common assumptions.</a:t>
            </a:r>
            <a:endParaRPr lang="en-US" sz="1200" dirty="0"/>
          </a:p>
        </p:txBody>
      </p:sp>
      <p:sp>
        <p:nvSpPr>
          <p:cNvPr id="24" name="Shape 17"/>
          <p:cNvSpPr/>
          <p:nvPr/>
        </p:nvSpPr>
        <p:spPr>
          <a:xfrm>
            <a:off x="6217920" y="4892040"/>
            <a:ext cx="5349240" cy="1417320"/>
          </a:xfrm>
          <a:prstGeom prst="roundRect">
            <a:avLst>
              <a:gd name="adj" fmla="val 5161"/>
            </a:avLst>
          </a:prstGeom>
          <a:solidFill>
            <a:srgbClr val="112A4E"/>
          </a:solidFill>
          <a:ln w="12700">
            <a:solidFill>
              <a:srgbClr val="244268"/>
            </a:solidFill>
            <a:prstDash val="solid"/>
          </a:ln>
        </p:spPr>
      </p:sp>
      <p:sp>
        <p:nvSpPr>
          <p:cNvPr id="25" name="Shape 18"/>
          <p:cNvSpPr/>
          <p:nvPr/>
        </p:nvSpPr>
        <p:spPr>
          <a:xfrm>
            <a:off x="6510528" y="5326380"/>
            <a:ext cx="548640" cy="548640"/>
          </a:xfrm>
          <a:prstGeom prst="ellipse">
            <a:avLst/>
          </a:prstGeom>
          <a:solidFill>
            <a:srgbClr val="22D3EE"/>
          </a:solidFill>
          <a:ln/>
        </p:spPr>
      </p:sp>
      <p:pic>
        <p:nvPicPr>
          <p:cNvPr id="26" name="Image 5" descr="/home/claude/pptx_build/icons/workflow.png">    </p:cNvPr>
          <p:cNvPicPr>
            <a:picLocks noChangeAspect="1"/>
          </p:cNvPicPr>
          <p:nvPr/>
        </p:nvPicPr>
        <p:blipFill>
          <a:blip r:embed="rId6"/>
          <a:stretch>
            <a:fillRect/>
          </a:stretch>
        </p:blipFill>
        <p:spPr>
          <a:xfrm>
            <a:off x="6647688" y="5463540"/>
            <a:ext cx="274320" cy="274320"/>
          </a:xfrm>
          <a:prstGeom prst="rect">
            <a:avLst/>
          </a:prstGeom>
        </p:spPr>
      </p:pic>
      <p:sp>
        <p:nvSpPr>
          <p:cNvPr id="27" name="Text 19"/>
          <p:cNvSpPr/>
          <p:nvPr/>
        </p:nvSpPr>
        <p:spPr>
          <a:xfrm>
            <a:off x="7223760" y="4892040"/>
            <a:ext cx="4114800" cy="1417320"/>
          </a:xfrm>
          <a:prstGeom prst="rect">
            <a:avLst/>
          </a:prstGeom>
          <a:noFill/>
          <a:ln/>
        </p:spPr>
        <p:txBody>
          <a:bodyPr wrap="square" lIns="0" tIns="0" rIns="0" bIns="0" rtlCol="0" anchor="ctr"/>
          <a:lstStyle/>
          <a:p>
            <a:pPr algn="l" indent="0" marL="0">
              <a:lnSpc>
                <a:spcPct val="120000"/>
              </a:lnSpc>
              <a:buNone/>
            </a:pPr>
            <a:r>
              <a:rPr lang="en-US" sz="1200" dirty="0">
                <a:solidFill>
                  <a:srgbClr val="FFFFFF"/>
                </a:solidFill>
                <a:latin typeface="Calibri" pitchFamily="34" charset="0"/>
                <a:ea typeface="Calibri" pitchFamily="34" charset="-122"/>
                <a:cs typeface="Calibri" pitchFamily="34" charset="-120"/>
              </a:rPr>
              <a:t>All six objectives were met; the foundation for predictive modelling is in place.</a:t>
            </a:r>
            <a:endParaRPr lang="en-US" sz="1200" dirty="0"/>
          </a:p>
        </p:txBody>
      </p:sp>
      <p:sp>
        <p:nvSpPr>
          <p:cNvPr id="28" name="Text 20"/>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6E86A6"/>
                </a:solidFill>
                <a:latin typeface="Calibri" pitchFamily="34" charset="0"/>
                <a:ea typeface="Calibri" pitchFamily="34" charset="-122"/>
                <a:cs typeface="Calibri" pitchFamily="34" charset="-120"/>
              </a:rPr>
              <a:t>DA1  ·  EMPLOYEE ATTRITION PREDICTION</a:t>
            </a:r>
            <a:endParaRPr lang="en-US" sz="850" dirty="0"/>
          </a:p>
        </p:txBody>
      </p:sp>
      <p:sp>
        <p:nvSpPr>
          <p:cNvPr id="29" name="Text 21"/>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6E86A6"/>
                </a:solidFill>
                <a:latin typeface="Calibri" pitchFamily="34" charset="0"/>
                <a:ea typeface="Calibri" pitchFamily="34" charset="-122"/>
                <a:cs typeface="Calibri" pitchFamily="34" charset="-120"/>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20</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Future Scope</a:t>
            </a:r>
            <a:endParaRPr lang="en-US" sz="3200" dirty="0"/>
          </a:p>
        </p:txBody>
      </p:sp>
      <p:sp>
        <p:nvSpPr>
          <p:cNvPr id="4" name="Shape 2"/>
          <p:cNvSpPr/>
          <p:nvPr/>
        </p:nvSpPr>
        <p:spPr>
          <a:xfrm>
            <a:off x="594360" y="1783080"/>
            <a:ext cx="10972800" cy="1188720"/>
          </a:xfrm>
          <a:prstGeom prst="roundRect">
            <a:avLst>
              <a:gd name="adj" fmla="val 6154"/>
            </a:avLst>
          </a:prstGeom>
          <a:solidFill>
            <a:srgbClr val="F3F5F8"/>
          </a:solidFill>
          <a:ln w="12700">
            <a:solidFill>
              <a:srgbClr val="E2E6EC"/>
            </a:solidFill>
            <a:prstDash val="solid"/>
          </a:ln>
        </p:spPr>
      </p:sp>
      <p:sp>
        <p:nvSpPr>
          <p:cNvPr id="5" name="Shape 3"/>
          <p:cNvSpPr/>
          <p:nvPr/>
        </p:nvSpPr>
        <p:spPr>
          <a:xfrm>
            <a:off x="1074420" y="1988820"/>
            <a:ext cx="777240" cy="777240"/>
          </a:xfrm>
          <a:prstGeom prst="ellipse">
            <a:avLst/>
          </a:prstGeom>
          <a:solidFill>
            <a:srgbClr val="0E7490"/>
          </a:solidFill>
          <a:ln/>
        </p:spPr>
      </p:sp>
      <p:pic>
        <p:nvPicPr>
          <p:cNvPr id="6" name="Image 0" descr="/home/claude/pptx_build/icons/future.png">    </p:cNvPr>
          <p:cNvPicPr>
            <a:picLocks noChangeAspect="1"/>
          </p:cNvPicPr>
          <p:nvPr/>
        </p:nvPicPr>
        <p:blipFill>
          <a:blip r:embed="rId1"/>
          <a:stretch>
            <a:fillRect/>
          </a:stretch>
        </p:blipFill>
        <p:spPr>
          <a:xfrm>
            <a:off x="1268730" y="2183130"/>
            <a:ext cx="388620" cy="388620"/>
          </a:xfrm>
          <a:prstGeom prst="rect">
            <a:avLst/>
          </a:prstGeom>
        </p:spPr>
      </p:pic>
      <p:sp>
        <p:nvSpPr>
          <p:cNvPr id="7" name="Text 4"/>
          <p:cNvSpPr/>
          <p:nvPr/>
        </p:nvSpPr>
        <p:spPr>
          <a:xfrm>
            <a:off x="2103120" y="1920240"/>
            <a:ext cx="9052560" cy="914400"/>
          </a:xfrm>
          <a:prstGeom prst="rect">
            <a:avLst/>
          </a:prstGeom>
          <a:noFill/>
          <a:ln/>
        </p:spPr>
        <p:txBody>
          <a:bodyPr wrap="square" lIns="0" tIns="0" rIns="0" bIns="0" rtlCol="0" anchor="ctr"/>
          <a:lstStyle/>
          <a:p>
            <a:pPr indent="0" marL="0">
              <a:lnSpc>
                <a:spcPct val="125000"/>
              </a:lnSpc>
              <a:buNone/>
            </a:pPr>
            <a:r>
              <a:rPr lang="en-US" sz="1400" b="1" i="1" dirty="0">
                <a:solidFill>
                  <a:srgbClr val="0B1F3A"/>
                </a:solidFill>
                <a:latin typeface="Cambria" pitchFamily="34" charset="0"/>
                <a:ea typeface="Cambria" pitchFamily="34" charset="-122"/>
                <a:cs typeface="Cambria" pitchFamily="34" charset="-120"/>
              </a:rPr>
              <a:t>The cleaned, encoded, and scaled dataset — along with the patterns identified here — provides a well-grounded foundation for the predictive modelling phase to follow.</a:t>
            </a:r>
            <a:endParaRPr lang="en-US" sz="1400" dirty="0"/>
          </a:p>
        </p:txBody>
      </p:sp>
      <p:sp>
        <p:nvSpPr>
          <p:cNvPr id="8" name="Shape 5"/>
          <p:cNvSpPr/>
          <p:nvPr/>
        </p:nvSpPr>
        <p:spPr>
          <a:xfrm>
            <a:off x="594360" y="3291840"/>
            <a:ext cx="3520440" cy="2514600"/>
          </a:xfrm>
          <a:prstGeom prst="roundRect">
            <a:avLst>
              <a:gd name="adj" fmla="val 2909"/>
            </a:avLst>
          </a:prstGeom>
          <a:solidFill>
            <a:srgbClr val="FFFFFF"/>
          </a:solidFill>
          <a:ln w="12700">
            <a:solidFill>
              <a:srgbClr val="E2E6EC"/>
            </a:solidFill>
            <a:prstDash val="solid"/>
          </a:ln>
          <a:effectLst>
            <a:outerShdw sx="100000" sy="100000" kx="0" ky="0" algn="bl" rotWithShape="0" blurRad="101600" dist="25400" dir="5400000">
              <a:srgbClr val="9AA6B4">
                <a:alpha val="20000"/>
              </a:srgbClr>
            </a:outerShdw>
          </a:effectLst>
        </p:spPr>
      </p:sp>
      <p:sp>
        <p:nvSpPr>
          <p:cNvPr id="9" name="Shape 6"/>
          <p:cNvSpPr/>
          <p:nvPr/>
        </p:nvSpPr>
        <p:spPr>
          <a:xfrm>
            <a:off x="1965960" y="3589020"/>
            <a:ext cx="777240" cy="777240"/>
          </a:xfrm>
          <a:prstGeom prst="ellipse">
            <a:avLst/>
          </a:prstGeom>
          <a:solidFill>
            <a:srgbClr val="0E7490"/>
          </a:solidFill>
          <a:ln/>
        </p:spPr>
      </p:sp>
      <p:pic>
        <p:nvPicPr>
          <p:cNvPr id="10" name="Image 1" descr="/home/claude/pptx_build/icons/workflow.png">    </p:cNvPr>
          <p:cNvPicPr>
            <a:picLocks noChangeAspect="1"/>
          </p:cNvPicPr>
          <p:nvPr/>
        </p:nvPicPr>
        <p:blipFill>
          <a:blip r:embed="rId2"/>
          <a:stretch>
            <a:fillRect/>
          </a:stretch>
        </p:blipFill>
        <p:spPr>
          <a:xfrm>
            <a:off x="2160270" y="3783330"/>
            <a:ext cx="388620" cy="388620"/>
          </a:xfrm>
          <a:prstGeom prst="rect">
            <a:avLst/>
          </a:prstGeom>
        </p:spPr>
      </p:pic>
      <p:sp>
        <p:nvSpPr>
          <p:cNvPr id="11" name="Text 7"/>
          <p:cNvSpPr/>
          <p:nvPr/>
        </p:nvSpPr>
        <p:spPr>
          <a:xfrm>
            <a:off x="822960" y="4572000"/>
            <a:ext cx="3063240"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Model Development</a:t>
            </a:r>
            <a:endParaRPr lang="en-US" sz="1400" dirty="0"/>
          </a:p>
        </p:txBody>
      </p:sp>
      <p:sp>
        <p:nvSpPr>
          <p:cNvPr id="12" name="Text 8"/>
          <p:cNvSpPr/>
          <p:nvPr/>
        </p:nvSpPr>
        <p:spPr>
          <a:xfrm>
            <a:off x="850392" y="5029200"/>
            <a:ext cx="3008376" cy="685800"/>
          </a:xfrm>
          <a:prstGeom prst="rect">
            <a:avLst/>
          </a:prstGeom>
          <a:noFill/>
          <a:ln/>
        </p:spPr>
        <p:txBody>
          <a:bodyPr wrap="square" lIns="0" tIns="0" rIns="0" bIns="0" rtlCol="0" anchor="ctr"/>
          <a:lstStyle/>
          <a:p>
            <a:pPr algn="ctr" indent="0" marL="0">
              <a:lnSpc>
                <a:spcPct val="120000"/>
              </a:lnSpc>
              <a:buNone/>
            </a:pPr>
            <a:r>
              <a:rPr lang="en-US" sz="1100" dirty="0">
                <a:solidFill>
                  <a:srgbClr val="5B6B7F"/>
                </a:solidFill>
                <a:latin typeface="Calibri" pitchFamily="34" charset="0"/>
                <a:ea typeface="Calibri" pitchFamily="34" charset="-122"/>
                <a:cs typeface="Calibri" pitchFamily="34" charset="-120"/>
              </a:rPr>
              <a:t>Develop, train, and evaluate classification techniques (DA2 phase).</a:t>
            </a:r>
            <a:endParaRPr lang="en-US" sz="1100" dirty="0"/>
          </a:p>
        </p:txBody>
      </p:sp>
      <p:sp>
        <p:nvSpPr>
          <p:cNvPr id="13" name="Shape 9"/>
          <p:cNvSpPr/>
          <p:nvPr/>
        </p:nvSpPr>
        <p:spPr>
          <a:xfrm>
            <a:off x="4315968" y="3291840"/>
            <a:ext cx="3520440" cy="2514600"/>
          </a:xfrm>
          <a:prstGeom prst="roundRect">
            <a:avLst>
              <a:gd name="adj" fmla="val 2909"/>
            </a:avLst>
          </a:prstGeom>
          <a:solidFill>
            <a:srgbClr val="FFFFFF"/>
          </a:solidFill>
          <a:ln w="12700">
            <a:solidFill>
              <a:srgbClr val="E2E6EC"/>
            </a:solidFill>
            <a:prstDash val="solid"/>
          </a:ln>
          <a:effectLst>
            <a:outerShdw sx="100000" sy="100000" kx="0" ky="0" algn="bl" rotWithShape="0" blurRad="101600" dist="25400" dir="5400000">
              <a:srgbClr val="9AA6B4">
                <a:alpha val="20000"/>
              </a:srgbClr>
            </a:outerShdw>
          </a:effectLst>
        </p:spPr>
      </p:sp>
      <p:sp>
        <p:nvSpPr>
          <p:cNvPr id="14" name="Shape 10"/>
          <p:cNvSpPr/>
          <p:nvPr/>
        </p:nvSpPr>
        <p:spPr>
          <a:xfrm>
            <a:off x="5687568" y="3589020"/>
            <a:ext cx="777240" cy="777240"/>
          </a:xfrm>
          <a:prstGeom prst="ellipse">
            <a:avLst/>
          </a:prstGeom>
          <a:solidFill>
            <a:srgbClr val="0E7490"/>
          </a:solidFill>
          <a:ln/>
        </p:spPr>
      </p:sp>
      <p:pic>
        <p:nvPicPr>
          <p:cNvPr id="15" name="Image 2" descr="/home/claude/pptx_build/icons/findings.png">    </p:cNvPr>
          <p:cNvPicPr>
            <a:picLocks noChangeAspect="1"/>
          </p:cNvPicPr>
          <p:nvPr/>
        </p:nvPicPr>
        <p:blipFill>
          <a:blip r:embed="rId3"/>
          <a:stretch>
            <a:fillRect/>
          </a:stretch>
        </p:blipFill>
        <p:spPr>
          <a:xfrm>
            <a:off x="5881878" y="3783330"/>
            <a:ext cx="388620" cy="388620"/>
          </a:xfrm>
          <a:prstGeom prst="rect">
            <a:avLst/>
          </a:prstGeom>
        </p:spPr>
      </p:pic>
      <p:sp>
        <p:nvSpPr>
          <p:cNvPr id="16" name="Text 11"/>
          <p:cNvSpPr/>
          <p:nvPr/>
        </p:nvSpPr>
        <p:spPr>
          <a:xfrm>
            <a:off x="4544568" y="4572000"/>
            <a:ext cx="3063240"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Priority Features</a:t>
            </a:r>
            <a:endParaRPr lang="en-US" sz="1400" dirty="0"/>
          </a:p>
        </p:txBody>
      </p:sp>
      <p:sp>
        <p:nvSpPr>
          <p:cNvPr id="17" name="Text 12"/>
          <p:cNvSpPr/>
          <p:nvPr/>
        </p:nvSpPr>
        <p:spPr>
          <a:xfrm>
            <a:off x="4572000" y="5029200"/>
            <a:ext cx="3008376" cy="685800"/>
          </a:xfrm>
          <a:prstGeom prst="rect">
            <a:avLst/>
          </a:prstGeom>
          <a:noFill/>
          <a:ln/>
        </p:spPr>
        <p:txBody>
          <a:bodyPr wrap="square" lIns="0" tIns="0" rIns="0" bIns="0" rtlCol="0" anchor="ctr"/>
          <a:lstStyle/>
          <a:p>
            <a:pPr algn="ctr" indent="0" marL="0">
              <a:lnSpc>
                <a:spcPct val="120000"/>
              </a:lnSpc>
              <a:buNone/>
            </a:pPr>
            <a:r>
              <a:rPr lang="en-US" sz="1100" dirty="0">
                <a:solidFill>
                  <a:srgbClr val="5B6B7F"/>
                </a:solidFill>
                <a:latin typeface="Calibri" pitchFamily="34" charset="0"/>
                <a:ea typeface="Calibri" pitchFamily="34" charset="-122"/>
                <a:cs typeface="Calibri" pitchFamily="34" charset="-120"/>
              </a:rPr>
              <a:t>EngagementScore and MonthlyOvertimeHours as leading predictive features.</a:t>
            </a:r>
            <a:endParaRPr lang="en-US" sz="1100" dirty="0"/>
          </a:p>
        </p:txBody>
      </p:sp>
      <p:sp>
        <p:nvSpPr>
          <p:cNvPr id="18" name="Shape 13"/>
          <p:cNvSpPr/>
          <p:nvPr/>
        </p:nvSpPr>
        <p:spPr>
          <a:xfrm>
            <a:off x="8037576" y="3291840"/>
            <a:ext cx="3520440" cy="2514600"/>
          </a:xfrm>
          <a:prstGeom prst="roundRect">
            <a:avLst>
              <a:gd name="adj" fmla="val 2909"/>
            </a:avLst>
          </a:prstGeom>
          <a:solidFill>
            <a:srgbClr val="FFFFFF"/>
          </a:solidFill>
          <a:ln w="12700">
            <a:solidFill>
              <a:srgbClr val="E2E6EC"/>
            </a:solidFill>
            <a:prstDash val="solid"/>
          </a:ln>
          <a:effectLst>
            <a:outerShdw sx="100000" sy="100000" kx="0" ky="0" algn="bl" rotWithShape="0" blurRad="101600" dist="25400" dir="5400000">
              <a:srgbClr val="9AA6B4">
                <a:alpha val="20000"/>
              </a:srgbClr>
            </a:outerShdw>
          </a:effectLst>
        </p:spPr>
      </p:sp>
      <p:sp>
        <p:nvSpPr>
          <p:cNvPr id="19" name="Shape 14"/>
          <p:cNvSpPr/>
          <p:nvPr/>
        </p:nvSpPr>
        <p:spPr>
          <a:xfrm>
            <a:off x="9409176" y="3589020"/>
            <a:ext cx="777240" cy="777240"/>
          </a:xfrm>
          <a:prstGeom prst="ellipse">
            <a:avLst/>
          </a:prstGeom>
          <a:solidFill>
            <a:srgbClr val="0E7490"/>
          </a:solidFill>
          <a:ln/>
        </p:spPr>
      </p:sp>
      <p:pic>
        <p:nvPicPr>
          <p:cNvPr id="20" name="Image 3" descr="/home/claude/pptx_build/icons/target.png">    </p:cNvPr>
          <p:cNvPicPr>
            <a:picLocks noChangeAspect="1"/>
          </p:cNvPicPr>
          <p:nvPr/>
        </p:nvPicPr>
        <p:blipFill>
          <a:blip r:embed="rId4"/>
          <a:stretch>
            <a:fillRect/>
          </a:stretch>
        </p:blipFill>
        <p:spPr>
          <a:xfrm>
            <a:off x="9603486" y="3783330"/>
            <a:ext cx="388620" cy="388620"/>
          </a:xfrm>
          <a:prstGeom prst="rect">
            <a:avLst/>
          </a:prstGeom>
        </p:spPr>
      </p:pic>
      <p:sp>
        <p:nvSpPr>
          <p:cNvPr id="21" name="Text 15"/>
          <p:cNvSpPr/>
          <p:nvPr/>
        </p:nvSpPr>
        <p:spPr>
          <a:xfrm>
            <a:off x="8266176" y="4572000"/>
            <a:ext cx="3063240" cy="411480"/>
          </a:xfrm>
          <a:prstGeom prst="rect">
            <a:avLst/>
          </a:prstGeom>
          <a:noFill/>
          <a:ln/>
        </p:spPr>
        <p:txBody>
          <a:bodyPr wrap="square" lIns="0" tIns="0" rIns="0" bIns="0" rtlCol="0" anchor="ctr"/>
          <a:lstStyle/>
          <a:p>
            <a:pPr algn="ctr" indent="0" marL="0">
              <a:buNone/>
            </a:pPr>
            <a:r>
              <a:rPr lang="en-US" sz="1400" b="1" dirty="0">
                <a:solidFill>
                  <a:srgbClr val="0B1F3A"/>
                </a:solidFill>
                <a:latin typeface="Cambria" pitchFamily="34" charset="0"/>
                <a:ea typeface="Cambria" pitchFamily="34" charset="-122"/>
                <a:cs typeface="Cambria" pitchFamily="34" charset="-120"/>
              </a:rPr>
              <a:t>Working System</a:t>
            </a:r>
            <a:endParaRPr lang="en-US" sz="1400" dirty="0"/>
          </a:p>
        </p:txBody>
      </p:sp>
      <p:sp>
        <p:nvSpPr>
          <p:cNvPr id="22" name="Text 16"/>
          <p:cNvSpPr/>
          <p:nvPr/>
        </p:nvSpPr>
        <p:spPr>
          <a:xfrm>
            <a:off x="8293608" y="5029200"/>
            <a:ext cx="3008376" cy="685800"/>
          </a:xfrm>
          <a:prstGeom prst="rect">
            <a:avLst/>
          </a:prstGeom>
          <a:noFill/>
          <a:ln/>
        </p:spPr>
        <p:txBody>
          <a:bodyPr wrap="square" lIns="0" tIns="0" rIns="0" bIns="0" rtlCol="0" anchor="ctr"/>
          <a:lstStyle/>
          <a:p>
            <a:pPr algn="ctr" indent="0" marL="0">
              <a:lnSpc>
                <a:spcPct val="120000"/>
              </a:lnSpc>
              <a:buNone/>
            </a:pPr>
            <a:r>
              <a:rPr lang="en-US" sz="1100" dirty="0">
                <a:solidFill>
                  <a:srgbClr val="5B6B7F"/>
                </a:solidFill>
                <a:latin typeface="Calibri" pitchFamily="34" charset="0"/>
                <a:ea typeface="Calibri" pitchFamily="34" charset="-122"/>
                <a:cs typeface="Calibri" pitchFamily="34" charset="-120"/>
              </a:rPr>
              <a:t>Translate exploratory findings into a working attrition prediction system.</a:t>
            </a:r>
            <a:endParaRPr lang="en-US" sz="1100" dirty="0"/>
          </a:p>
        </p:txBody>
      </p:sp>
      <p:sp>
        <p:nvSpPr>
          <p:cNvPr id="23" name="Text 1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4" name="Text 18"/>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algn="l" indent="0" marL="0">
              <a:buNone/>
            </a:pPr>
            <a:r>
              <a:rPr lang="en-US" sz="1200" b="1" spc="200" kern="0" dirty="0">
                <a:solidFill>
                  <a:srgbClr val="0E7490"/>
                </a:solidFill>
                <a:latin typeface="Calibri" pitchFamily="34" charset="0"/>
                <a:ea typeface="Calibri" pitchFamily="34" charset="-122"/>
                <a:cs typeface="Calibri" pitchFamily="34" charset="-120"/>
              </a:rPr>
              <a:t>SECTION 21  ·  APA 7TH EDITION</a:t>
            </a:r>
            <a:endParaRPr lang="en-US" sz="12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algn="l" indent="0" marL="0">
              <a:buNone/>
            </a:pPr>
            <a:r>
              <a:rPr lang="en-US" sz="3200" b="1" dirty="0">
                <a:solidFill>
                  <a:srgbClr val="0B1F3A"/>
                </a:solidFill>
                <a:latin typeface="Cambria" pitchFamily="34" charset="0"/>
                <a:ea typeface="Cambria" pitchFamily="34" charset="-122"/>
                <a:cs typeface="Cambria" pitchFamily="34" charset="-120"/>
              </a:rPr>
              <a:t>References</a:t>
            </a:r>
            <a:endParaRPr lang="en-US" sz="3200" dirty="0"/>
          </a:p>
        </p:txBody>
      </p:sp>
      <p:sp>
        <p:nvSpPr>
          <p:cNvPr id="4" name="Shape 2"/>
          <p:cNvSpPr/>
          <p:nvPr/>
        </p:nvSpPr>
        <p:spPr>
          <a:xfrm>
            <a:off x="594360" y="1783080"/>
            <a:ext cx="365760" cy="365760"/>
          </a:xfrm>
          <a:prstGeom prst="roundRect">
            <a:avLst>
              <a:gd name="adj" fmla="val 15000"/>
            </a:avLst>
          </a:prstGeom>
          <a:solidFill>
            <a:srgbClr val="0E7490"/>
          </a:solidFill>
          <a:ln/>
        </p:spPr>
      </p:sp>
      <p:sp>
        <p:nvSpPr>
          <p:cNvPr id="5" name="Text 3"/>
          <p:cNvSpPr/>
          <p:nvPr/>
        </p:nvSpPr>
        <p:spPr>
          <a:xfrm>
            <a:off x="594360"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143000" y="1709928"/>
            <a:ext cx="10424160" cy="777240"/>
          </a:xfrm>
          <a:prstGeom prst="rect">
            <a:avLst/>
          </a:prstGeom>
          <a:noFill/>
          <a:ln/>
        </p:spPr>
        <p:txBody>
          <a:bodyPr wrap="square" lIns="0" tIns="0" rIns="0" bIns="0" rtlCol="0" anchor="t"/>
          <a:lstStyle/>
          <a:p>
            <a:pPr algn="l" indent="0" marL="0">
              <a:lnSpc>
                <a:spcPct val="115000"/>
              </a:lnSpc>
              <a:buNone/>
            </a:pPr>
            <a:r>
              <a:rPr lang="en-US" sz="1150" dirty="0">
                <a:solidFill>
                  <a:srgbClr val="0B1F3A"/>
                </a:solidFill>
                <a:latin typeface="Calibri" pitchFamily="34" charset="0"/>
                <a:ea typeface="Calibri" pitchFamily="34" charset="-122"/>
                <a:cs typeface="Calibri" pitchFamily="34" charset="-120"/>
              </a:rPr>
              <a:t>Al Akasheh, M., Hujran, O., Malik, E. F., &amp; Zaki, N. (2024). Enhancing the prediction of employee turnover with knowledge graphs and explainable AI. IEEE Access, 12, 77041–77053.</a:t>
            </a:r>
            <a:endParaRPr lang="en-US" sz="1150" dirty="0"/>
          </a:p>
        </p:txBody>
      </p:sp>
      <p:sp>
        <p:nvSpPr>
          <p:cNvPr id="7" name="Shape 5"/>
          <p:cNvSpPr/>
          <p:nvPr/>
        </p:nvSpPr>
        <p:spPr>
          <a:xfrm>
            <a:off x="594360" y="2651760"/>
            <a:ext cx="365760" cy="365760"/>
          </a:xfrm>
          <a:prstGeom prst="roundRect">
            <a:avLst>
              <a:gd name="adj" fmla="val 15000"/>
            </a:avLst>
          </a:prstGeom>
          <a:solidFill>
            <a:srgbClr val="0E7490"/>
          </a:solidFill>
          <a:ln/>
        </p:spPr>
      </p:sp>
      <p:sp>
        <p:nvSpPr>
          <p:cNvPr id="8" name="Text 6"/>
          <p:cNvSpPr/>
          <p:nvPr/>
        </p:nvSpPr>
        <p:spPr>
          <a:xfrm>
            <a:off x="594360" y="2651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143000" y="2578608"/>
            <a:ext cx="10424160" cy="777240"/>
          </a:xfrm>
          <a:prstGeom prst="rect">
            <a:avLst/>
          </a:prstGeom>
          <a:noFill/>
          <a:ln/>
        </p:spPr>
        <p:txBody>
          <a:bodyPr wrap="square" lIns="0" tIns="0" rIns="0" bIns="0" rtlCol="0" anchor="t"/>
          <a:lstStyle/>
          <a:p>
            <a:pPr algn="l" indent="0" marL="0">
              <a:lnSpc>
                <a:spcPct val="115000"/>
              </a:lnSpc>
              <a:buNone/>
            </a:pPr>
            <a:r>
              <a:rPr lang="en-US" sz="1150" dirty="0">
                <a:solidFill>
                  <a:srgbClr val="0B1F3A"/>
                </a:solidFill>
                <a:latin typeface="Calibri" pitchFamily="34" charset="0"/>
                <a:ea typeface="Calibri" pitchFamily="34" charset="-122"/>
                <a:cs typeface="Calibri" pitchFamily="34" charset="-120"/>
              </a:rPr>
              <a:t>Guerranti, F., &amp; Dimitri, G. M. (2023). A comparison of machine learning approaches for predicting employee attrition. Applied Sciences, 13(1), 267.</a:t>
            </a:r>
            <a:endParaRPr lang="en-US" sz="1150" dirty="0"/>
          </a:p>
        </p:txBody>
      </p:sp>
      <p:sp>
        <p:nvSpPr>
          <p:cNvPr id="10" name="Shape 8"/>
          <p:cNvSpPr/>
          <p:nvPr/>
        </p:nvSpPr>
        <p:spPr>
          <a:xfrm>
            <a:off x="594360" y="3520440"/>
            <a:ext cx="365760" cy="365760"/>
          </a:xfrm>
          <a:prstGeom prst="roundRect">
            <a:avLst>
              <a:gd name="adj" fmla="val 15000"/>
            </a:avLst>
          </a:prstGeom>
          <a:solidFill>
            <a:srgbClr val="0E7490"/>
          </a:solidFill>
          <a:ln/>
        </p:spPr>
      </p:sp>
      <p:sp>
        <p:nvSpPr>
          <p:cNvPr id="11" name="Text 9"/>
          <p:cNvSpPr/>
          <p:nvPr/>
        </p:nvSpPr>
        <p:spPr>
          <a:xfrm>
            <a:off x="594360" y="3520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143000" y="3447288"/>
            <a:ext cx="10424160" cy="777240"/>
          </a:xfrm>
          <a:prstGeom prst="rect">
            <a:avLst/>
          </a:prstGeom>
          <a:noFill/>
          <a:ln/>
        </p:spPr>
        <p:txBody>
          <a:bodyPr wrap="square" lIns="0" tIns="0" rIns="0" bIns="0" rtlCol="0" anchor="t"/>
          <a:lstStyle/>
          <a:p>
            <a:pPr algn="l" indent="0" marL="0">
              <a:lnSpc>
                <a:spcPct val="115000"/>
              </a:lnSpc>
              <a:buNone/>
            </a:pPr>
            <a:r>
              <a:rPr lang="en-US" sz="1150" dirty="0">
                <a:solidFill>
                  <a:srgbClr val="0B1F3A"/>
                </a:solidFill>
                <a:latin typeface="Calibri" pitchFamily="34" charset="0"/>
                <a:ea typeface="Calibri" pitchFamily="34" charset="-122"/>
                <a:cs typeface="Calibri" pitchFamily="34" charset="-120"/>
              </a:rPr>
              <a:t>Li, W. (2023). A transformer-based deep learning framework to predict employee attrition. PeerJ Computer Science, 9, e1570.</a:t>
            </a:r>
            <a:endParaRPr lang="en-US" sz="1150" dirty="0"/>
          </a:p>
        </p:txBody>
      </p:sp>
      <p:sp>
        <p:nvSpPr>
          <p:cNvPr id="13" name="Shape 11"/>
          <p:cNvSpPr/>
          <p:nvPr/>
        </p:nvSpPr>
        <p:spPr>
          <a:xfrm>
            <a:off x="594360" y="4389120"/>
            <a:ext cx="365760" cy="365760"/>
          </a:xfrm>
          <a:prstGeom prst="roundRect">
            <a:avLst>
              <a:gd name="adj" fmla="val 15000"/>
            </a:avLst>
          </a:prstGeom>
          <a:solidFill>
            <a:srgbClr val="0E7490"/>
          </a:solidFill>
          <a:ln/>
        </p:spPr>
      </p:sp>
      <p:sp>
        <p:nvSpPr>
          <p:cNvPr id="14" name="Text 12"/>
          <p:cNvSpPr/>
          <p:nvPr/>
        </p:nvSpPr>
        <p:spPr>
          <a:xfrm>
            <a:off x="594360" y="4389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143000" y="4315968"/>
            <a:ext cx="10424160" cy="777240"/>
          </a:xfrm>
          <a:prstGeom prst="rect">
            <a:avLst/>
          </a:prstGeom>
          <a:noFill/>
          <a:ln/>
        </p:spPr>
        <p:txBody>
          <a:bodyPr wrap="square" lIns="0" tIns="0" rIns="0" bIns="0" rtlCol="0" anchor="t"/>
          <a:lstStyle/>
          <a:p>
            <a:pPr algn="l" indent="0" marL="0">
              <a:lnSpc>
                <a:spcPct val="115000"/>
              </a:lnSpc>
              <a:buNone/>
            </a:pPr>
            <a:r>
              <a:rPr lang="en-US" sz="1150" dirty="0">
                <a:solidFill>
                  <a:srgbClr val="0B1F3A"/>
                </a:solidFill>
                <a:latin typeface="Calibri" pitchFamily="34" charset="0"/>
                <a:ea typeface="Calibri" pitchFamily="34" charset="-122"/>
                <a:cs typeface="Calibri" pitchFamily="34" charset="-120"/>
              </a:rPr>
              <a:t>Nawaz, M. S., Nawaz, M. Z., Fournier-Viger, P., &amp; Luna, J. M. (2024). Analysis and classification of employee attrition and absenteeism in industry: A sequential pattern mining-based methodology. Computers in Industry, 159, 104106.</a:t>
            </a:r>
            <a:endParaRPr lang="en-US" sz="1150" dirty="0"/>
          </a:p>
        </p:txBody>
      </p:sp>
      <p:sp>
        <p:nvSpPr>
          <p:cNvPr id="16" name="Shape 14"/>
          <p:cNvSpPr/>
          <p:nvPr/>
        </p:nvSpPr>
        <p:spPr>
          <a:xfrm>
            <a:off x="594360" y="5257800"/>
            <a:ext cx="365760" cy="365760"/>
          </a:xfrm>
          <a:prstGeom prst="roundRect">
            <a:avLst>
              <a:gd name="adj" fmla="val 15000"/>
            </a:avLst>
          </a:prstGeom>
          <a:solidFill>
            <a:srgbClr val="0E7490"/>
          </a:solidFill>
          <a:ln/>
        </p:spPr>
      </p:sp>
      <p:sp>
        <p:nvSpPr>
          <p:cNvPr id="17" name="Text 15"/>
          <p:cNvSpPr/>
          <p:nvPr/>
        </p:nvSpPr>
        <p:spPr>
          <a:xfrm>
            <a:off x="594360" y="5257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143000" y="5184648"/>
            <a:ext cx="10424160" cy="777240"/>
          </a:xfrm>
          <a:prstGeom prst="rect">
            <a:avLst/>
          </a:prstGeom>
          <a:noFill/>
          <a:ln/>
        </p:spPr>
        <p:txBody>
          <a:bodyPr wrap="square" lIns="0" tIns="0" rIns="0" bIns="0" rtlCol="0" anchor="t"/>
          <a:lstStyle/>
          <a:p>
            <a:pPr algn="l" indent="0" marL="0">
              <a:lnSpc>
                <a:spcPct val="115000"/>
              </a:lnSpc>
              <a:buNone/>
            </a:pPr>
            <a:r>
              <a:rPr lang="en-US" sz="1150" dirty="0">
                <a:solidFill>
                  <a:srgbClr val="0B1F3A"/>
                </a:solidFill>
                <a:latin typeface="Calibri" pitchFamily="34" charset="0"/>
                <a:ea typeface="Calibri" pitchFamily="34" charset="-122"/>
                <a:cs typeface="Calibri" pitchFamily="34" charset="-120"/>
              </a:rPr>
              <a:t>Raza, A., Munir, K., Almutairi, M., Younas, F., &amp; Fareed, M. M. S. (2022). Predicting employee attrition using machine learning approaches. Applied Sciences, 12(13), 6424.</a:t>
            </a:r>
            <a:endParaRPr lang="en-US" sz="1150" dirty="0"/>
          </a:p>
        </p:txBody>
      </p:sp>
      <p:sp>
        <p:nvSpPr>
          <p:cNvPr id="19" name="Text 1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850" spc="100" kern="0" dirty="0">
                <a:solidFill>
                  <a:srgbClr val="9AA6B4"/>
                </a:solidFill>
                <a:latin typeface="Calibri" pitchFamily="34" charset="0"/>
                <a:ea typeface="Calibri" pitchFamily="34" charset="-122"/>
                <a:cs typeface="Calibri" pitchFamily="34" charset="-120"/>
              </a:rPr>
              <a:t>DA1  ·  EMPLOYEE ATTRITION PREDICTION</a:t>
            </a:r>
            <a:endParaRPr lang="en-US" sz="850" dirty="0"/>
          </a:p>
        </p:txBody>
      </p:sp>
      <p:sp>
        <p:nvSpPr>
          <p:cNvPr id="20" name="Text 18"/>
          <p:cNvSpPr/>
          <p:nvPr/>
        </p:nvSpPr>
        <p:spPr>
          <a:xfrm>
            <a:off x="10972800" y="6510528"/>
            <a:ext cx="685800" cy="274320"/>
          </a:xfrm>
          <a:prstGeom prst="rect">
            <a:avLst/>
          </a:prstGeom>
          <a:noFill/>
          <a:ln/>
        </p:spPr>
        <p:txBody>
          <a:bodyPr wrap="square" lIns="0" tIns="0" rIns="0" bIns="0" rtlCol="0" anchor="ctr"/>
          <a:lstStyle/>
          <a:p>
            <a:pPr algn="r" indent="0" marL="0">
              <a:buNone/>
            </a:pPr>
            <a:r>
              <a:rPr lang="en-US" sz="850" dirty="0">
                <a:solidFill>
                  <a:srgbClr val="9AA6B4"/>
                </a:solidFill>
                <a:latin typeface="Calibri" pitchFamily="34" charset="0"/>
                <a:ea typeface="Calibri" pitchFamily="34" charset="-122"/>
                <a:cs typeface="Calibri" pitchFamily="34" charset="-120"/>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112A4E"/>
          </a:solidFill>
          <a:ln/>
        </p:spPr>
      </p:sp>
      <p:sp>
        <p:nvSpPr>
          <p:cNvPr id="3" name="Shape 1"/>
          <p:cNvSpPr/>
          <p:nvPr/>
        </p:nvSpPr>
        <p:spPr>
          <a:xfrm>
            <a:off x="-1280160" y="5120640"/>
            <a:ext cx="3108960" cy="3108960"/>
          </a:xfrm>
          <a:prstGeom prst="ellipse">
            <a:avLst/>
          </a:prstGeom>
          <a:solidFill>
            <a:srgbClr val="112A4E"/>
          </a:solidFill>
          <a:ln/>
        </p:spPr>
      </p:sp>
      <p:sp>
        <p:nvSpPr>
          <p:cNvPr id="4" name="Shape 2"/>
          <p:cNvSpPr/>
          <p:nvPr/>
        </p:nvSpPr>
        <p:spPr>
          <a:xfrm>
            <a:off x="5591556" y="1600200"/>
            <a:ext cx="1005840" cy="1005840"/>
          </a:xfrm>
          <a:prstGeom prst="ellipse">
            <a:avLst/>
          </a:prstGeom>
          <a:solidFill>
            <a:srgbClr val="22D3EE"/>
          </a:solidFill>
          <a:ln/>
        </p:spPr>
      </p:sp>
      <p:pic>
        <p:nvPicPr>
          <p:cNvPr id="5" name="Image 0" descr="/home/claude/pptx_build/icons/thanks.png">    </p:cNvPr>
          <p:cNvPicPr>
            <a:picLocks noChangeAspect="1"/>
          </p:cNvPicPr>
          <p:nvPr/>
        </p:nvPicPr>
        <p:blipFill>
          <a:blip r:embed="rId1"/>
          <a:stretch>
            <a:fillRect/>
          </a:stretch>
        </p:blipFill>
        <p:spPr>
          <a:xfrm>
            <a:off x="5843016" y="1851660"/>
            <a:ext cx="502920" cy="502920"/>
          </a:xfrm>
          <a:prstGeom prst="rect">
            <a:avLst/>
          </a:prstGeom>
        </p:spPr>
      </p:pic>
      <p:sp>
        <p:nvSpPr>
          <p:cNvPr id="6" name="Text 3"/>
          <p:cNvSpPr/>
          <p:nvPr/>
        </p:nvSpPr>
        <p:spPr>
          <a:xfrm>
            <a:off x="914400" y="3063240"/>
            <a:ext cx="103601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914400" y="3931920"/>
            <a:ext cx="10360152" cy="457200"/>
          </a:xfrm>
          <a:prstGeom prst="rect">
            <a:avLst/>
          </a:prstGeom>
          <a:noFill/>
          <a:ln/>
        </p:spPr>
        <p:txBody>
          <a:bodyPr wrap="square" lIns="0" tIns="0" rIns="0" bIns="0" rtlCol="0" anchor="ctr"/>
          <a:lstStyle/>
          <a:p>
            <a:pPr algn="ctr" indent="0" marL="0">
              <a:buNone/>
            </a:pPr>
            <a:r>
              <a:rPr lang="en-US" sz="1500" i="1" dirty="0">
                <a:solidFill>
                  <a:srgbClr val="22D3EE"/>
                </a:solidFill>
                <a:latin typeface="Calibri" pitchFamily="34" charset="0"/>
                <a:ea typeface="Calibri" pitchFamily="34" charset="-122"/>
                <a:cs typeface="Calibri" pitchFamily="34" charset="-120"/>
              </a:rPr>
              <a:t>Questions &amp; Discussion Welcome</a:t>
            </a:r>
            <a:endParaRPr lang="en-US" sz="1500" dirty="0"/>
          </a:p>
        </p:txBody>
      </p:sp>
      <p:sp>
        <p:nvSpPr>
          <p:cNvPr id="8" name="Text 5"/>
          <p:cNvSpPr/>
          <p:nvPr/>
        </p:nvSpPr>
        <p:spPr>
          <a:xfrm>
            <a:off x="914400" y="4937760"/>
            <a:ext cx="10360152" cy="365760"/>
          </a:xfrm>
          <a:prstGeom prst="rect">
            <a:avLst/>
          </a:prstGeom>
          <a:noFill/>
          <a:ln/>
        </p:spPr>
        <p:txBody>
          <a:bodyPr wrap="square" lIns="0" tIns="0" rIns="0" bIns="0" rtlCol="0" anchor="ctr"/>
          <a:lstStyle/>
          <a:p>
            <a:pPr algn="ctr" indent="0" marL="0">
              <a:buNone/>
            </a:pPr>
            <a:r>
              <a:rPr lang="en-US" sz="1250" dirty="0">
                <a:solidFill>
                  <a:srgbClr val="B9C6D9"/>
                </a:solidFill>
                <a:latin typeface="Calibri" pitchFamily="34" charset="0"/>
                <a:ea typeface="Calibri" pitchFamily="34" charset="-122"/>
                <a:cs typeface="Calibri" pitchFamily="34" charset="-120"/>
              </a:rPr>
              <a:t>Vansh Goyal (24BDS1156)   ·   Ritabrata Dey (24BDS1129)   ·   Chetan Pareek (24BDS1125)</a:t>
            </a:r>
            <a:endParaRPr lang="en-US" sz="1250" dirty="0"/>
          </a:p>
        </p:txBody>
      </p:sp>
      <p:sp>
        <p:nvSpPr>
          <p:cNvPr id="9" name="Text 6"/>
          <p:cNvSpPr/>
          <p:nvPr/>
        </p:nvSpPr>
        <p:spPr>
          <a:xfrm>
            <a:off x="914400" y="5349240"/>
            <a:ext cx="10360152" cy="365760"/>
          </a:xfrm>
          <a:prstGeom prst="rect">
            <a:avLst/>
          </a:prstGeom>
          <a:noFill/>
          <a:ln/>
        </p:spPr>
        <p:txBody>
          <a:bodyPr wrap="square" lIns="0" tIns="0" rIns="0" bIns="0" rtlCol="0" anchor="ctr"/>
          <a:lstStyle/>
          <a:p>
            <a:pPr algn="ctr" indent="0" marL="0">
              <a:buNone/>
            </a:pPr>
            <a:r>
              <a:rPr lang="en-US" sz="1100" dirty="0">
                <a:solidFill>
                  <a:srgbClr val="7C90AC"/>
                </a:solidFill>
                <a:latin typeface="Calibri" pitchFamily="34" charset="0"/>
                <a:ea typeface="Calibri" pitchFamily="34" charset="-122"/>
                <a:cs typeface="Calibri" pitchFamily="34" charset="-120"/>
              </a:rPr>
              <a:t>Programming for Data Science  ·  SCOPE  ·  VIT Chennai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2026-08-04T08:46:58Z</dcterms:created>
  <dcterms:modified xsi:type="dcterms:W3CDTF">2026-08-04T08:46:58Z</dcterms:modified>
</cp:coreProperties>
</file>