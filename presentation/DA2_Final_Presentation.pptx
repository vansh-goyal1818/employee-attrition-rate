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Calibri"/>
              </a:rPr>
              <a:t>PROGRAMMING FOR DATA SCIENCE  ·  DIGITAL ASSIGNMENT 2 (DA2)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mbria"/>
              </a:rPr>
              <a:t>Employee Attrition Prediction
and Workforce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  <a:latin typeface="Calibri"/>
              </a:rPr>
              <a:t>End-to-End Predictive Modeling, SQL Analytics, Hyperparameter Tuning &amp; Threshold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977639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Vansh Goyal</a:t>
            </a:r>
          </a:p>
          <a:p>
            <a:r>
              <a:rPr sz="1200" b="1">
                <a:solidFill>
                  <a:srgbClr val="22D3EE"/>
                </a:solidFill>
                <a:latin typeface="Calibri"/>
              </a:rPr>
              <a:t>Reg. No: 24BDS1156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Lead Modeler &amp;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404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3977639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Ritabrata Dey</a:t>
            </a:r>
          </a:p>
          <a:p>
            <a:r>
              <a:rPr sz="1200" b="1">
                <a:solidFill>
                  <a:srgbClr val="22D3EE"/>
                </a:solidFill>
                <a:latin typeface="Calibri"/>
              </a:rPr>
              <a:t>Reg. No: 24BDS1129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Statistical &amp; SQL 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840480"/>
            <a:ext cx="32918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977639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Chetan Pareek</a:t>
            </a:r>
          </a:p>
          <a:p>
            <a:r>
              <a:rPr sz="1200" b="1">
                <a:solidFill>
                  <a:srgbClr val="22D3EE"/>
                </a:solidFill>
                <a:latin typeface="Calibri"/>
              </a:rPr>
              <a:t>Reg. No: 24BDS1125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Validation &amp; Evaluation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School of Computer Science and Engineering (SCOPE)  ·  Vellore Institute of Technology,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01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Problem Statement and Business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The high operational cost of unplanned workforce attrition in manufacturing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87171"/>
                </a:solidFill>
                <a:latin typeface="Cambria"/>
              </a:rPr>
              <a:t>The Industrial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FFFFFF"/>
                </a:solidFill>
              </a:rPr>
              <a:t>Disruption of Assembly Lines: </a:t>
            </a:r>
            <a:r>
              <a:rPr sz="1150">
                <a:solidFill>
                  <a:srgbClr val="E2E8F0"/>
                </a:solidFill>
              </a:rPr>
              <a:t>In continuous multi-plant manufacturing (Uno Minda), unscheduled operator departures directly impact throughput and increase product defect rates.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FFF"/>
                </a:solidFill>
              </a:rPr>
              <a:t>Financial Burden: </a:t>
            </a:r>
            <a:r>
              <a:rPr sz="1150">
                <a:solidFill>
                  <a:srgbClr val="E2E8F0"/>
                </a:solidFill>
              </a:rPr>
              <a:t>Replacing skilled industrial technicians costs 50% to 150% of annual compensation due to recruitment, onboarding downtime, and knowledge loss.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FFF"/>
                </a:solidFill>
              </a:rPr>
              <a:t>The Reactive Trap: </a:t>
            </a:r>
            <a:r>
              <a:rPr sz="1150">
                <a:solidFill>
                  <a:srgbClr val="E2E8F0"/>
                </a:solidFill>
              </a:rPr>
              <a:t>Traditional HR relies on exit interviews—documenting departure causes only after critical human capital has already left.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FFF"/>
                </a:solidFill>
              </a:rPr>
              <a:t>The Core Need: </a:t>
            </a:r>
            <a:r>
              <a:rPr sz="1150">
                <a:solidFill>
                  <a:srgbClr val="E2E8F0"/>
                </a:solidFill>
              </a:rPr>
              <a:t>Transitioning to an automated predictive risk scoring pipeline that flags flight risks months in advance.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Why Machine Learning &amp; Analytics?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FFFFFF"/>
                </a:solidFill>
              </a:rPr>
              <a:t>Multi-Dimensional Signals: </a:t>
            </a:r>
            <a:r>
              <a:rPr sz="1150">
                <a:solidFill>
                  <a:srgbClr val="E2E8F0"/>
                </a:solidFill>
              </a:rPr>
              <a:t>Attrition is driven by complex interactions between psychometrics, compensation, physical fatigue, and commuting distance.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FFF"/>
                </a:solidFill>
              </a:rPr>
              <a:t>Non-Linear Risk Patterns: </a:t>
            </a:r>
            <a:r>
              <a:rPr sz="1150">
                <a:solidFill>
                  <a:srgbClr val="E2E8F0"/>
                </a:solidFill>
              </a:rPr>
              <a:t>Standard linear models miss threshold effects—such as sudden attrition spikes when monthly overtime exceeds 40 hours.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FFF"/>
                </a:solidFill>
              </a:rPr>
              <a:t>Actionable Early Warning: </a:t>
            </a:r>
            <a:r>
              <a:rPr sz="1150">
                <a:solidFill>
                  <a:srgbClr val="E2E8F0"/>
                </a:solidFill>
              </a:rPr>
              <a:t>Providing plant managers with calibrated probability scores (0.0 – 1.0) allows tiered, targeted retention interventions.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FFFFF"/>
                </a:solidFill>
              </a:rPr>
              <a:t>Objective Ground Truth: </a:t>
            </a:r>
            <a:r>
              <a:rPr sz="1150">
                <a:solidFill>
                  <a:srgbClr val="E2E8F0"/>
                </a:solidFill>
              </a:rPr>
              <a:t>Empirically validated on 50,000 authentic Uno Minda employee records with 0 missing values and 0 synthetic duplicates.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02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DA2 Objectives &amp;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End-to-end data science pipeline from data preparation to calibrated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Cambria"/>
              </a:rPr>
              <a:t>Stage 1: Prep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5564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>• Validation of 50k records   |   • 5 Engineered Features   |   • Leakage prevention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78608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Cambria"/>
              </a:rPr>
              <a:t>Stage 2: Selection &amp;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88336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>• RF Gini Feature Selection   |   • Top 15 Predictors   |   • SQLite DB &amp; SQL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11296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48456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Cambria"/>
              </a:rPr>
              <a:t>Stage 3: Statistical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621024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>• Wilcoxon Rank-Sum Tests   |   • Chi-Square Independence   |   • Point-biserial correlations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43984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81144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Cambria"/>
              </a:rPr>
              <a:t>Stage 4: 10 ML Algorithms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55371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>• 10 Diverse Classifiers   |   • Dummy encoding + Scaling   |   • Baseline 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76672"/>
            <a:ext cx="106984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13832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87171"/>
                </a:solidFill>
                <a:latin typeface="Cambria"/>
              </a:rPr>
              <a:t>Stage 5: Tuning &amp; Thresholds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4864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alibri"/>
              </a:rPr>
              <a:t>• Hyperparameter Tuning   |   • Tuned Model Comparison   |   • Optimal Threshold (0.20)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03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Dataset &amp; Continuation from DA1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Transitioning from exploratory data analysis to predictive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Cambria"/>
              </a:rPr>
              <a:t>50,000</a:t>
            </a:r>
          </a:p>
          <a:p>
            <a:r>
              <a:rPr sz="950" b="1">
                <a:solidFill>
                  <a:srgbClr val="94A3B8"/>
                </a:solidFill>
                <a:latin typeface="Calibri"/>
              </a:rPr>
              <a:t>TOTAL RECORDS</a:t>
            </a:r>
          </a:p>
          <a:p>
            <a:r>
              <a:rPr sz="850">
                <a:solidFill>
                  <a:srgbClr val="E2E8F0"/>
                </a:solidFill>
                <a:latin typeface="Calibri"/>
              </a:rPr>
              <a:t>Authentic HR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75564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Cambria"/>
              </a:rPr>
              <a:t>21 Cols</a:t>
            </a:r>
          </a:p>
          <a:p>
            <a:r>
              <a:rPr sz="950" b="1">
                <a:solidFill>
                  <a:srgbClr val="94A3B8"/>
                </a:solidFill>
                <a:latin typeface="Calibri"/>
              </a:rPr>
              <a:t>RAW FEATURES</a:t>
            </a:r>
          </a:p>
          <a:p>
            <a:r>
              <a:rPr sz="850">
                <a:solidFill>
                  <a:srgbClr val="E2E8F0"/>
                </a:solidFill>
                <a:latin typeface="Calibri"/>
              </a:rPr>
              <a:t>Demographic, comp, psych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5564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34D399"/>
                </a:solidFill>
                <a:latin typeface="Cambria"/>
              </a:rPr>
              <a:t>83.34%</a:t>
            </a:r>
          </a:p>
          <a:p>
            <a:r>
              <a:rPr sz="950" b="1">
                <a:solidFill>
                  <a:srgbClr val="94A3B8"/>
                </a:solidFill>
                <a:latin typeface="Calibri"/>
              </a:rPr>
              <a:t>RETENTION (NO)</a:t>
            </a:r>
          </a:p>
          <a:p>
            <a:r>
              <a:rPr sz="850">
                <a:solidFill>
                  <a:srgbClr val="E2E8F0"/>
                </a:solidFill>
                <a:latin typeface="Calibri"/>
              </a:rPr>
              <a:t>41,668 retained workers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5564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87171"/>
                </a:solidFill>
                <a:latin typeface="Cambria"/>
              </a:rPr>
              <a:t>16.66%</a:t>
            </a:r>
          </a:p>
          <a:p>
            <a:r>
              <a:rPr sz="950" b="1">
                <a:solidFill>
                  <a:srgbClr val="94A3B8"/>
                </a:solidFill>
                <a:latin typeface="Calibri"/>
              </a:rPr>
              <a:t>ATTRITION (YES)</a:t>
            </a:r>
          </a:p>
          <a:p>
            <a:r>
              <a:rPr sz="850">
                <a:solidFill>
                  <a:srgbClr val="E2E8F0"/>
                </a:solidFill>
                <a:latin typeface="Calibri"/>
              </a:rPr>
              <a:t>8,332 departed workers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1206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DA1 Completed Foundations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2E8F0"/>
                </a:solidFill>
              </a:rPr>
              <a:t>• Rigorous Data Hygiene Audits: Confirmed exactly 0 missing cells across 1.05M total entries and 0 duplicate rows.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2E8F0"/>
                </a:solidFill>
              </a:rPr>
              <a:t>• Univariate &amp; Bivariate EDA: Explored employee compensation, education distributions, and tenure curves across manufacturing plants.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2E8F0"/>
                </a:solidFill>
              </a:rPr>
              <a:t>• Ethical Governance: Anonymized all personnel IDs, plant sites, and proprietary Uno Minda identifiers prior to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2120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Cambria"/>
              </a:rPr>
              <a:t>DA2 Scope &amp; Technical Mandate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2E8F0"/>
                </a:solidFill>
              </a:rPr>
              <a:t>• Feature Engineering: Synthesizing multi-variable sentiment and fatigue indicators.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2E8F0"/>
                </a:solidFill>
              </a:rPr>
              <a:t>• Formal Statistical Testing: Quantifying significance via Wilcoxon Rank-Sum and Chi-Square tests.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2E8F0"/>
                </a:solidFill>
              </a:rPr>
              <a:t>• Multi-Model Benchmarking: Training and comparing 10 diverse machine learning algorithms.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2E8F0"/>
                </a:solidFill>
              </a:rPr>
              <a:t>• Operational Threshold Optimization: Resolving the 0.50 cutoff collapse under 16.66% class imbalance.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04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Domain-Guided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Constructing 5 multi-dimensional proxies capturing fatigue, sentiment, and tenure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Cambria"/>
              </a:rPr>
              <a:t>1. SatisfactionIndex</a:t>
            </a:r>
          </a:p>
          <a:p>
            <a:r>
              <a:rPr sz="950">
                <a:solidFill>
                  <a:srgbClr val="94A3B8"/>
                </a:solidFill>
              </a:rPr>
              <a:t>Continuous (1.00 – 4.00)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5564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FFFFF"/>
                </a:solidFill>
              </a:rPr>
              <a:t>Formula: </a:t>
            </a:r>
            <a:r>
              <a:rPr sz="1050">
                <a:solidFill>
                  <a:srgbClr val="E2E8F0"/>
                </a:solidFill>
              </a:rPr>
              <a:t>Arithmetic mean of EnvironmentSatisfaction, JobSatisfaction, and JobInvolvement.
</a:t>
            </a:r>
          </a:p>
          <a:p>
            <a:r>
              <a:rPr b="1" sz="1000">
                <a:solidFill>
                  <a:srgbClr val="22D3EE"/>
                </a:solidFill>
              </a:rPr>
              <a:t>Rationale: </a:t>
            </a:r>
            <a:r>
              <a:rPr sz="1000">
                <a:solidFill>
                  <a:srgbClr val="94A3B8"/>
                </a:solidFill>
              </a:rPr>
              <a:t>Captures composite workplace sentiment while reducing measurement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78608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88336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Cambria"/>
              </a:rPr>
              <a:t>2. EngagementLevel</a:t>
            </a:r>
          </a:p>
          <a:p>
            <a:r>
              <a:rPr sz="950">
                <a:solidFill>
                  <a:srgbClr val="94A3B8"/>
                </a:solidFill>
              </a:rPr>
              <a:t>Categorical (Low, Med, High)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88336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FFFFF"/>
                </a:solidFill>
              </a:rPr>
              <a:t>Formula: </a:t>
            </a:r>
            <a:r>
              <a:rPr sz="1050">
                <a:solidFill>
                  <a:srgbClr val="E2E8F0"/>
                </a:solidFill>
              </a:rPr>
              <a:t>Low (&lt;50), Medium (50-69), High (&gt;=70) mapped from raw continuous EngagementScore.
</a:t>
            </a:r>
          </a:p>
          <a:p>
            <a:r>
              <a:rPr b="1" sz="1000">
                <a:solidFill>
                  <a:srgbClr val="38BDF8"/>
                </a:solidFill>
              </a:rPr>
              <a:t>Rationale: </a:t>
            </a:r>
            <a:r>
              <a:rPr sz="1000">
                <a:solidFill>
                  <a:srgbClr val="94A3B8"/>
                </a:solidFill>
              </a:rPr>
              <a:t>Defines non-linear risk tiers corresponding to standard HR intervention brackets.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11296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21024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Cambria"/>
              </a:rPr>
              <a:t>3. OvertimeLevel</a:t>
            </a:r>
          </a:p>
          <a:p>
            <a:r>
              <a:rPr sz="950">
                <a:solidFill>
                  <a:srgbClr val="94A3B8"/>
                </a:solidFill>
              </a:rPr>
              <a:t>Categorical (Low, Med, High)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62102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FFFFF"/>
                </a:solidFill>
              </a:rPr>
              <a:t>Formula: </a:t>
            </a:r>
            <a:r>
              <a:rPr sz="1050">
                <a:solidFill>
                  <a:srgbClr val="E2E8F0"/>
                </a:solidFill>
              </a:rPr>
              <a:t>Low (&lt;=20h), Medium (21-40h), High (&gt;40h) per month from MonthlyOvertimeHours.
</a:t>
            </a:r>
          </a:p>
          <a:p>
            <a:r>
              <a:rPr b="1" sz="1000">
                <a:solidFill>
                  <a:srgbClr val="FBBF24"/>
                </a:solidFill>
              </a:rPr>
              <a:t>Rationale: </a:t>
            </a:r>
            <a:r>
              <a:rPr sz="1000">
                <a:solidFill>
                  <a:srgbClr val="94A3B8"/>
                </a:solidFill>
              </a:rPr>
              <a:t>Directly isolates chronic worker fatigue and shop-floor burnout thresholds.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43984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Cambria"/>
              </a:rPr>
              <a:t>4. DistanceCategory</a:t>
            </a:r>
          </a:p>
          <a:p>
            <a:r>
              <a:rPr sz="950">
                <a:solidFill>
                  <a:srgbClr val="94A3B8"/>
                </a:solidFill>
              </a:rPr>
              <a:t>Categorical (Near, Mod, Far)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55371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FFFFF"/>
                </a:solidFill>
              </a:rPr>
              <a:t>Formula: </a:t>
            </a:r>
            <a:r>
              <a:rPr sz="1050">
                <a:solidFill>
                  <a:srgbClr val="E2E8F0"/>
                </a:solidFill>
              </a:rPr>
              <a:t>Near (&lt;=10km), Moderate (11-30km), Far (&gt;30km) from workplace residence.
</a:t>
            </a:r>
          </a:p>
          <a:p>
            <a:r>
              <a:rPr b="1" sz="1000">
                <a:solidFill>
                  <a:srgbClr val="34D399"/>
                </a:solidFill>
              </a:rPr>
              <a:t>Rationale: </a:t>
            </a:r>
            <a:r>
              <a:rPr sz="1000">
                <a:solidFill>
                  <a:srgbClr val="94A3B8"/>
                </a:solidFill>
              </a:rPr>
              <a:t>Delineates daily commute friction, a major hidden catalyst of turnover.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76672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87171"/>
                </a:solidFill>
                <a:latin typeface="Cambria"/>
              </a:rPr>
              <a:t>5. TenureGroup</a:t>
            </a:r>
          </a:p>
          <a:p>
            <a:r>
              <a:rPr sz="950">
                <a:solidFill>
                  <a:srgbClr val="94A3B8"/>
                </a:solidFill>
              </a:rPr>
              <a:t>Categorical (New, Early, Est, Long)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4864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FFFFF"/>
                </a:solidFill>
              </a:rPr>
              <a:t>Formula: </a:t>
            </a:r>
            <a:r>
              <a:rPr sz="1050">
                <a:solidFill>
                  <a:srgbClr val="E2E8F0"/>
                </a:solidFill>
              </a:rPr>
              <a:t>New (&lt;=2y), Early (3-5y), Established (6-10y), Long_Term (&gt;10y).
</a:t>
            </a:r>
          </a:p>
          <a:p>
            <a:r>
              <a:rPr b="1" sz="1000">
                <a:solidFill>
                  <a:srgbClr val="F87171"/>
                </a:solidFill>
              </a:rPr>
              <a:t>Rationale: </a:t>
            </a:r>
            <a:r>
              <a:rPr sz="1000">
                <a:solidFill>
                  <a:srgbClr val="94A3B8"/>
                </a:solidFill>
              </a:rPr>
              <a:t>Reflects career assimilation stages and organizational retention vulnerability.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05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Feature Selection &amp; Leakage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Random Forest Gini importance with zero target leakage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Methodology &amp; Safeguards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Identifier Removal: </a:t>
            </a:r>
            <a:r>
              <a:rPr sz="1100">
                <a:solidFill>
                  <a:srgbClr val="E2E8F0"/>
                </a:solidFill>
              </a:rPr>
              <a:t>Dropped non-predictive EmployeeNumber and redundant EducationLevel (text duplicate of numeric Education).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Strict 80/20 Partitioning: </a:t>
            </a:r>
            <a:r>
              <a:rPr sz="1100">
                <a:solidFill>
                  <a:srgbClr val="E2E8F0"/>
                </a:solidFill>
              </a:rPr>
              <a:t>Training set (40,001 rows) and Testing set (9,999 rows) partitioned prior to any encoding.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Gini Impurity Evaluation: </a:t>
            </a:r>
            <a:r>
              <a:rPr sz="1100">
                <a:solidFill>
                  <a:srgbClr val="E2E8F0"/>
                </a:solidFill>
              </a:rPr>
              <a:t>Trained Random Forest (100 trees) on one-hot encoded training predictors. Dummy-level Gini importance scores were aggregated back to parent variables.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Top 15 Feature Retention: </a:t>
            </a:r>
            <a:r>
              <a:rPr sz="1100">
                <a:solidFill>
                  <a:srgbClr val="E2E8F0"/>
                </a:solidFill>
              </a:rPr>
              <a:t>Selected the 15 highest-ranked variables spanning psychometrics, compensation, operations, and demographics.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Target Leakage Check (PASSED): </a:t>
            </a:r>
            <a:r>
              <a:rPr sz="1100">
                <a:solidFill>
                  <a:srgbClr val="E2E8F0"/>
                </a:solidFill>
              </a:rPr>
              <a:t>Verified that AttritionFlag and derived target proxies were strictly excluded from the predictor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Cambria"/>
              </a:rPr>
              <a:t>Selected Predictors (Top 15 Ranking)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1. EngagementScore      </a:t>
            </a:r>
            <a:r>
              <a:rPr sz="950">
                <a:solidFill>
                  <a:srgbClr val="94A3B8"/>
                </a:solidFill>
              </a:rPr>
              <a:t> | Gini: 882.96  (Primary behavioral driver)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2. MonthlyIncome        </a:t>
            </a:r>
            <a:r>
              <a:rPr sz="950">
                <a:solidFill>
                  <a:srgbClr val="94A3B8"/>
                </a:solidFill>
              </a:rPr>
              <a:t> | Gini: 880.37  (Base financial compensation)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3. MonthlyRate          </a:t>
            </a:r>
            <a:r>
              <a:rPr sz="950">
                <a:solidFill>
                  <a:srgbClr val="94A3B8"/>
                </a:solidFill>
              </a:rPr>
              <a:t> | Gini: 872.39  (Variable monthly compensation)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4. DailyRate            </a:t>
            </a:r>
            <a:r>
              <a:rPr sz="950">
                <a:solidFill>
                  <a:srgbClr val="94A3B8"/>
                </a:solidFill>
              </a:rPr>
              <a:t> | Gini: 850.42  (Daily production rate)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5. Education            </a:t>
            </a:r>
            <a:r>
              <a:rPr sz="950">
                <a:solidFill>
                  <a:srgbClr val="94A3B8"/>
                </a:solidFill>
              </a:rPr>
              <a:t> | Gini: 839.04  (Formal education tier)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6. HourlyRate           </a:t>
            </a:r>
            <a:r>
              <a:rPr sz="950">
                <a:solidFill>
                  <a:srgbClr val="94A3B8"/>
                </a:solidFill>
              </a:rPr>
              <a:t> | Gini: 787.18  (Hourly base rate)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7. YearsAtCompany       </a:t>
            </a:r>
            <a:r>
              <a:rPr sz="950">
                <a:solidFill>
                  <a:srgbClr val="94A3B8"/>
                </a:solidFill>
              </a:rPr>
              <a:t> | Gini: 758.51  (Institutional tenure)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8. DistanceFromHome     </a:t>
            </a:r>
            <a:r>
              <a:rPr sz="950">
                <a:solidFill>
                  <a:srgbClr val="94A3B8"/>
                </a:solidFill>
              </a:rPr>
              <a:t> | Gini: 724.05  (Daily commute burden (km))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9. MonthlyOvertimeHours </a:t>
            </a:r>
            <a:r>
              <a:rPr sz="950">
                <a:solidFill>
                  <a:srgbClr val="94A3B8"/>
                </a:solidFill>
              </a:rPr>
              <a:t> | Gini: 706.18  (Workload fatigue indicator)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10. Department          </a:t>
            </a:r>
            <a:r>
              <a:rPr sz="950">
                <a:solidFill>
                  <a:srgbClr val="94A3B8"/>
                </a:solidFill>
              </a:rPr>
              <a:t> | Gini: 537.30  (Operational functional unit)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11. Plant               </a:t>
            </a:r>
            <a:r>
              <a:rPr sz="950">
                <a:solidFill>
                  <a:srgbClr val="94A3B8"/>
                </a:solidFill>
              </a:rPr>
              <a:t> | Gini: 509.56  (Manufacturing site location)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12. EducationField      </a:t>
            </a:r>
            <a:r>
              <a:rPr sz="950">
                <a:solidFill>
                  <a:srgbClr val="94A3B8"/>
                </a:solidFill>
              </a:rPr>
              <a:t> | Gini: 506.42  (Academic specialization)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13. SatisfactionIndex   </a:t>
            </a:r>
            <a:r>
              <a:rPr sz="950">
                <a:solidFill>
                  <a:srgbClr val="94A3B8"/>
                </a:solidFill>
              </a:rPr>
              <a:t> | Gini: 370.11  (Composite sentiment index)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14. JobRole             </a:t>
            </a:r>
            <a:r>
              <a:rPr sz="950">
                <a:solidFill>
                  <a:srgbClr val="94A3B8"/>
                </a:solidFill>
              </a:rPr>
              <a:t> | Gini: 363.26  (Hierarchical job position)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15. JobInvolvement      </a:t>
            </a:r>
            <a:r>
              <a:rPr sz="950">
                <a:solidFill>
                  <a:srgbClr val="94A3B8"/>
                </a:solidFill>
              </a:rPr>
              <a:t> | Gini: 256.09  (Psychological role investment)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06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Database Connectivity &amp; 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Enterprise SQLite integration and structured workforce query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Department-Level Attrition (SQL)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22D3EE"/>
                </a:solidFill>
              </a:rPr>
              <a:t>Department        Headcount   Attrition   Rate    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F87171"/>
                </a:solidFill>
              </a:rPr>
              <a:t>Logistics         7,511       1,330       17.71%  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F87171"/>
                </a:solidFill>
              </a:rPr>
              <a:t>Assembly A        10,947      1,878       17.16%  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FBBF24"/>
                </a:solidFill>
              </a:rPr>
              <a:t>Maintenance       5,874       988         16.82%  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Assembly B        9,065       1,479       16.32%  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E2E8F0"/>
                </a:solidFill>
              </a:rPr>
              <a:t>Quality Control   5,111       824         16.12%  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Packaging         7,468       1,200       16.07%  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Tool Room         4,024       633         15.73%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Cambria"/>
              </a:rPr>
              <a:t>Job Role &amp; Variable Analysis (SQL)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Job Role        Headcount   Attrition   Rate    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F87171"/>
                </a:solidFill>
              </a:rPr>
              <a:t>Operator        27,204      4,671       17.17%  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F87171"/>
                </a:solidFill>
              </a:rPr>
              <a:t>Technician      10,196      1,736       17.03%  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E2E8F0"/>
                </a:solidFill>
              </a:rPr>
              <a:t>Inspector       3,573       574         16.06%  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4D399"/>
                </a:solidFill>
              </a:rPr>
              <a:t>Engineer        4,058       620         15.28%  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4D399"/>
                </a:solidFill>
              </a:rPr>
              <a:t>Supervisor      4,969       731         14.71%  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FFFF"/>
                </a:solidFill>
              </a:rPr>
              <a:t>SQL Key Metric Profiles (Attrition vs Stay):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E2E8F0"/>
                </a:solidFill>
              </a:rPr>
              <a:t>• Avg Engagement Score: </a:t>
            </a:r>
            <a:r>
              <a:rPr sz="950">
                <a:solidFill>
                  <a:srgbClr val="22D3EE"/>
                </a:solidFill>
              </a:rPr>
              <a:t>61.89 (Yes) vs 68.62 (No)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E2E8F0"/>
                </a:solidFill>
              </a:rPr>
              <a:t>• Avg Monthly Overtime: </a:t>
            </a:r>
            <a:r>
              <a:rPr sz="950">
                <a:solidFill>
                  <a:srgbClr val="22D3EE"/>
                </a:solidFill>
              </a:rPr>
              <a:t>27.70 hrs (Yes) vs 25.16 hrs (No)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E2E8F0"/>
                </a:solidFill>
              </a:rPr>
              <a:t>• Avg Commute Distance: </a:t>
            </a:r>
            <a:r>
              <a:rPr sz="950">
                <a:solidFill>
                  <a:srgbClr val="22D3EE"/>
                </a:solidFill>
              </a:rPr>
              <a:t>33.37 km (Yes) vs 31.37 km (No)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E2E8F0"/>
                </a:solidFill>
              </a:rPr>
              <a:t>• Avg Monthly Income: </a:t>
            </a:r>
            <a:r>
              <a:rPr sz="950">
                <a:solidFill>
                  <a:srgbClr val="22D3EE"/>
                </a:solidFill>
              </a:rPr>
              <a:t>INR 30,852 (Yes) vs INR 31,577 (No)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07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Statistical Hypothesis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Non-parametric Wilcoxon tests, Chi-Square independence, and correlations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Wilcoxon Rank-Sum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22D3EE"/>
                </a:solidFill>
              </a:rPr>
              <a:t>Numeric Feature       p-value       Status    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EngagementScore       p &lt; 0.0001    Significant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SatisfactionIndex     p &lt; 0.0001    Significant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EnvironmentSatisfactionp &lt; 0.0001    Significant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MonthlyOvertimeHours  p = 4.51e-69  Significant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DistanceFromHome      p = 1.53e-29  Significant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MonthlyIncome         p = 9.77e-15  Significant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4D399"/>
                </a:solidFill>
              </a:rPr>
              <a:t>YearsAtCompany        p = 0.0071    Significant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94A3B8"/>
                </a:solidFill>
              </a:rPr>
              <a:t>Key Finding: All continuous attributes showed statistically significant divergence (p &lt; 0.01) between cohorts.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Cambria"/>
              </a:rPr>
              <a:t>Chi-Square &amp; Correlation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38BDF8"/>
                </a:solidFill>
              </a:rPr>
              <a:t>Categorical Feature Chi-Square    Status 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4D399"/>
                </a:solidFill>
              </a:rPr>
              <a:t>EngagementLevel     χ² = 1870.27  Significant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4D399"/>
                </a:solidFill>
              </a:rPr>
              <a:t>OvertimeLevel       χ² = 273.58   Significant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4D399"/>
                </a:solidFill>
              </a:rPr>
              <a:t>DistanceCategory    χ² = 94.29    Significant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4D399"/>
                </a:solidFill>
              </a:rPr>
              <a:t>JobRole             χ² = 26.16    Significant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4D399"/>
                </a:solidFill>
              </a:rPr>
              <a:t>Department          χ² = 14.20    Significant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94A3B8"/>
                </a:solidFill>
              </a:rPr>
              <a:t>Plant Site          χ² = 1.89     Not Sig.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94A3B8"/>
                </a:solidFill>
              </a:rPr>
              <a:t>Education Tier      χ² = 2.35     Not Sig.  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FFFFF"/>
                </a:solidFill>
              </a:rPr>
              <a:t>Point-Biserial Correlations with Attrition:
</a:t>
            </a:r>
          </a:p>
          <a:p>
            <a:r>
              <a:rPr sz="950">
                <a:solidFill>
                  <a:srgbClr val="22D3EE"/>
                </a:solidFill>
              </a:rPr>
              <a:t>• EngagementScore: r = -0.2115</a:t>
            </a:r>
          </a:p>
          <a:p>
            <a:r>
              <a:rPr sz="950">
                <a:solidFill>
                  <a:srgbClr val="38BDF8"/>
                </a:solidFill>
              </a:rPr>
              <a:t>• SatisfactionIndex: r = -0.0932</a:t>
            </a:r>
          </a:p>
          <a:p>
            <a:r>
              <a:rPr sz="950">
                <a:solidFill>
                  <a:srgbClr val="F87171"/>
                </a:solidFill>
              </a:rPr>
              <a:t>• MonthlyOvertimeHours: r = +0.0800</a:t>
            </a:r>
          </a:p>
          <a:p>
            <a:r>
              <a:rPr sz="950">
                <a:solidFill>
                  <a:srgbClr val="FBBF24"/>
                </a:solidFill>
              </a:rPr>
              <a:t>• DistanceFromHome: r = +0.0510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08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Machine Learning Model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10 algorithms evaluated under unified preprocessing and cross-validation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Cambria"/>
              </a:rPr>
              <a:t>Linear &amp; Parametric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5564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• Logistic Regression (GLM): Maximum likelihood log-odds estimation   |   • LDA: Linear discriminant analysis maximizing between-class variance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78608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88336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Cambria"/>
              </a:rPr>
              <a:t>Tree &amp; Rule-Based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88336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• Decision Tree (CART): Recursive binary splitting with cp = 0.01   |   • Random Forest: 200 de-correlated trees with mtry =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11296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21024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Cambria"/>
              </a:rPr>
              <a:t>Distance &amp; Instance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621024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• K-Nearest Neighbors (KNN): Euclidean distance voting with k = 15   |   • Support Vector Machine (SVM): Linear kernel maximum margin hyperplane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43984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Cambria"/>
              </a:rPr>
              <a:t>Probabilistic &amp; Regularized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55371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• Naive Bayes: Kernel density estimation with Laplace smoothing   |   • Elastic Net: Regularized GLM blending L1 (Lasso) and L2 (Ridge) penalties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76672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87171"/>
                </a:solidFill>
                <a:latin typeface="Cambria"/>
              </a:rPr>
              <a:t>Gradient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48640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2E8F0"/>
                </a:solidFill>
              </a:rPr>
              <a:t>• Gradient Boosting Machine (GBM): Sequential residual tree boosting   |   • XGBoost: Second-order Taylor gradient boosting with regularization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09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Baseline Model Comparison (Threshold 0.50)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The default threshold failure mode across 9,999 test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0350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Empirical Evaluation (Threshold = 0.50)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22D3EE"/>
                </a:solidFill>
              </a:rPr>
              <a:t>Model               Accuracy  Precision Recall    F1      AUC   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4D399"/>
                </a:solidFill>
              </a:rPr>
              <a:t>LDA                 83.47%    0.5802    0.0282    0.0538  0.6847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34D399"/>
                </a:solidFill>
              </a:rPr>
              <a:t>Logistic Regression 83.45%    0.5663    0.0282    0.0537  0.6846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</a:rPr>
              <a:t>Gradient Boosting   83.34%    0.5000    0.0114    0.0223  0.6807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</a:rPr>
              <a:t>Elastic Net         83.38%    0.5833    0.0084    0.0166  0.6826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</a:rPr>
              <a:t>KNN                 83.21%    0.3415    0.0084    0.0164  0.5662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</a:rPr>
              <a:t>XGBoost             83.38%    0.8333    0.0030    0.0060  0.6789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2E8F0"/>
                </a:solidFill>
              </a:rPr>
              <a:t>Random Forest       83.32%    0.4000    0.0024    0.0048  0.6516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F87171"/>
                </a:solidFill>
              </a:rPr>
              <a:t>Decision Tree       83.34%    NA        0.0000    NA      0.5000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F87171"/>
                </a:solidFill>
              </a:rPr>
              <a:t>Naive Bayes         83.34%    NA        0.0000    NA      0.6707  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F87171"/>
                </a:solidFill>
              </a:rPr>
              <a:t>SVM                 83.34%    NA        0.0000    NA      0.5331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45920"/>
            <a:ext cx="44805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87171"/>
                </a:solidFill>
                <a:latin typeface="Cambria"/>
              </a:rPr>
              <a:t>Critical Failure Mode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19456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The Illusion of High Accuracy: </a:t>
            </a:r>
            <a:r>
              <a:rPr sz="1050">
                <a:solidFill>
                  <a:srgbClr val="E2E8F0"/>
                </a:solidFill>
              </a:rPr>
              <a:t>All 10 models achieve ~83.3% accuracy. However, this is entirely naive: predicting 'No' for every worker guarantees 83.34% accuracy!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Catastrophic False Negatives: </a:t>
            </a:r>
            <a:r>
              <a:rPr sz="1050">
                <a:solidFill>
                  <a:srgbClr val="E2E8F0"/>
                </a:solidFill>
              </a:rPr>
              <a:t>Decision Tree, Naive Bayes, and SVM predict 0 positive cases. Random Forest captures only 4 out of 1,666 attritions; XGBoost captures only 5.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Cause of Failure: </a:t>
            </a:r>
            <a:r>
              <a:rPr sz="1050">
                <a:solidFill>
                  <a:srgbClr val="E2E8F0"/>
                </a:solidFill>
              </a:rPr>
              <a:t>With a minority class prevalence of 16.66%, posterior probabilities rarely exceed 0.50. The model optimizes global loss by sacrificing sensitivity.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Required Remedy: </a:t>
            </a:r>
            <a:r>
              <a:rPr sz="1050">
                <a:solidFill>
                  <a:srgbClr val="E2E8F0"/>
                </a:solidFill>
              </a:rPr>
              <a:t>Systematic hyperparameter tuning coupled with empirical decision threshold optimization.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10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Hyperparameter Tuning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3-fold cross-validation across Random Forest, Gradient Boosting, and XGBoost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Tuning Protocol &amp; Grids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Stratified Subsetting (10,000 Rows): </a:t>
            </a:r>
            <a:r>
              <a:rPr sz="1050">
                <a:solidFill>
                  <a:srgbClr val="E2E8F0"/>
                </a:solidFill>
              </a:rPr>
              <a:t>Extracted a representative stratified sample from 40,001 training rows to ensure computational tractability while preserving class ratio.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3-Fold Cross-Validation: </a:t>
            </a:r>
            <a:r>
              <a:rPr sz="1050">
                <a:solidFill>
                  <a:srgbClr val="E2E8F0"/>
                </a:solidFill>
              </a:rPr>
              <a:t>Optimized area under the ROC curve (twoClassSummary) to ensure robust out-of-fold generalization.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Random Forest Grid: </a:t>
            </a:r>
            <a:r>
              <a:rPr sz="1050">
                <a:solidFill>
                  <a:srgbClr val="E2E8F0"/>
                </a:solidFill>
              </a:rPr>
              <a:t>Evaluated mtry in {5, 10} with 100 trees.
Best: mtry = 5.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Gradient Boosting Grid: </a:t>
            </a:r>
            <a:r>
              <a:rPr sz="1050">
                <a:solidFill>
                  <a:srgbClr val="E2E8F0"/>
                </a:solidFill>
              </a:rPr>
              <a:t>Evaluated interaction.depth {1, 3}, n.trees {100, 200}, shrinkage = 0.1.
Best: depth = 3, n.trees = 100.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XGBoost Grid Search: </a:t>
            </a:r>
            <a:r>
              <a:rPr sz="1050">
                <a:solidFill>
                  <a:srgbClr val="E2E8F0"/>
                </a:solidFill>
              </a:rPr>
              <a:t>Evaluated max_depth {3, 5}, eta {0.05, 0.10}, min_child_weight {1, 5} with subsample = 0.8, colsample_bytree = 0.8.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Cambria"/>
              </a:rPr>
              <a:t>XGBoost Grid Search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38BDF8"/>
                </a:solidFill>
              </a:rPr>
              <a:t>Config  depth   eta     min_child   Train AUC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34D399"/>
                </a:solidFill>
              </a:rPr>
              <a:t>1 (Best)5       0.10    1           0.8868   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E2E8F0"/>
                </a:solidFill>
              </a:rPr>
              <a:t>2       5       0.10    5           0.8625   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E2E8F0"/>
                </a:solidFill>
              </a:rPr>
              <a:t>3       5       0.05    1           0.8241   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E2E8F0"/>
                </a:solidFill>
              </a:rPr>
              <a:t>4       5       0.05    5           0.8072   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E2E8F0"/>
                </a:solidFill>
              </a:rPr>
              <a:t>5       3       0.10    5           0.7559   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E2E8F0"/>
                </a:solidFill>
              </a:rPr>
              <a:t>6       3       0.10    1           0.7550   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E2E8F0"/>
                </a:solidFill>
              </a:rPr>
              <a:t>7       3       0.05    1           0.7286      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E2E8F0"/>
                </a:solidFill>
              </a:rPr>
              <a:t>8       3       0.05    5           0.7281      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2D3EE"/>
                </a:solidFill>
              </a:rPr>
              <a:t>Optimal XGBoost Configuration:
max_depth = 5, eta = 0.10, min_child_weight = 1, Train AUC = 0.8868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11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Tuned Model Comparison (Default Threshold 0.50)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Evaluating tuned ensemble architectures against 9,999 test records</a:t>
            </a:r>
          </a:p>
        </p:txBody>
      </p:sp>
      <p:pic>
        <p:nvPicPr>
          <p:cNvPr id="6" name="Picture 5" descr="tuned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Tuned Model Performance at 0.50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945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50">
                <a:solidFill>
                  <a:srgbClr val="34D399"/>
                </a:solidFill>
              </a:rPr>
              <a:t>Tuned Gradient Boosting: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ROC-AUC: 0.6790 (Highest overall)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Accuracy: 83.41% | Precision: 73.33%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Recall: 0.0066 (11/1,666 detected)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F1-Score: 0.0131</a:t>
            </a:r>
          </a:p>
          <a:p>
            <a:pPr>
              <a:spcAft>
                <a:spcPts val="200"/>
              </a:spcAft>
            </a:pPr>
            <a:r>
              <a:rPr b="1" sz="1150">
                <a:solidFill>
                  <a:srgbClr val="22D3EE"/>
                </a:solidFill>
              </a:rPr>
              <a:t>Tuned XGBoost: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ROC-AUC: 0.6716 (Second highest)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Accuracy: 83.24% | Precision: 41.07%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Recall: 0.0138 (23/1,666 detected)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F1-Score: 0.0267</a:t>
            </a:r>
          </a:p>
          <a:p>
            <a:pPr>
              <a:spcAft>
                <a:spcPts val="200"/>
              </a:spcAft>
            </a:pPr>
            <a:r>
              <a:rPr b="1" sz="1150">
                <a:solidFill>
                  <a:srgbClr val="FBBF24"/>
                </a:solidFill>
              </a:rPr>
              <a:t>Tuned Random Forest: 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ROC-AUC: 0.6412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Accuracy: 83.33% | Precision: 47.06%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Recall: 0.0048 (8/1,666 detected)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</a:rPr>
              <a:t>• F1-Score: 0.0095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F87171"/>
                </a:solidFill>
              </a:rPr>
              <a:t>Key Takeaway: While tuning improved ROC-AUC to ~0.67-0.68, recall remains below 1.5% at threshold 0.50. Threshold optimization is mandatory.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12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Classification Threshold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Resolving class imbalance by sweeping thresholds from 0.10 to 0.90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Optimal Threshold by Maximum F1-Score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22D3EE"/>
                </a:solidFill>
              </a:rPr>
              <a:t>Model ArchitectureThresh  Recall    Prec    F1      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4D399"/>
                </a:solidFill>
              </a:rPr>
              <a:t>XGBoost (Champion)0.20    51.62%    27.43%  0.3583  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8BDF8"/>
                </a:solidFill>
              </a:rPr>
              <a:t>Gradient Boosting 0.20    49.82%    27.78%  0.3567  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FBBF24"/>
                </a:solidFill>
              </a:rPr>
              <a:t>Random Forest     0.20    55.34%    23.79%  0.3328  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FFFFF"/>
                </a:solidFill>
              </a:rPr>
              <a:t>XGBoost Threshold Sensitivity Sweep:
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94A3B8"/>
                </a:solidFill>
              </a:rPr>
              <a:t>Threshold 0.10: </a:t>
            </a:r>
            <a:r>
              <a:rPr sz="900">
                <a:solidFill>
                  <a:srgbClr val="E2E8F0"/>
                </a:solidFill>
              </a:rPr>
              <a:t>Recall = 86.43%, Precision = 20.60%, F1 = 0.3327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94A3B8"/>
                </a:solidFill>
              </a:rPr>
              <a:t>Threshold 0.15: </a:t>
            </a:r>
            <a:r>
              <a:rPr sz="900">
                <a:solidFill>
                  <a:srgbClr val="E2E8F0"/>
                </a:solidFill>
              </a:rPr>
              <a:t>Recall = 67.29%, Precision = 23.55%, F1 = 0.3488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22D3EE"/>
                </a:solidFill>
              </a:rPr>
              <a:t>Threshold 0.20 (Optimal): </a:t>
            </a:r>
            <a:r>
              <a:rPr sz="900">
                <a:solidFill>
                  <a:srgbClr val="FFFFFF"/>
                </a:solidFill>
              </a:rPr>
              <a:t>Recall = 51.62%, Precision = 27.43%, F1 = 0.3583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94A3B8"/>
                </a:solidFill>
              </a:rPr>
              <a:t>Threshold 0.25: </a:t>
            </a:r>
            <a:r>
              <a:rPr sz="900">
                <a:solidFill>
                  <a:srgbClr val="E2E8F0"/>
                </a:solidFill>
              </a:rPr>
              <a:t>Recall = 35.83%, Precision = 30.60%, F1 = 0.3301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94A3B8"/>
                </a:solidFill>
              </a:rPr>
              <a:t>Threshold 0.30: </a:t>
            </a:r>
            <a:r>
              <a:rPr sz="900">
                <a:solidFill>
                  <a:srgbClr val="E2E8F0"/>
                </a:solidFill>
              </a:rPr>
              <a:t>Recall = 22.93%, Precision = 32.82%, F1 = 0.2700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94A3B8"/>
                </a:solidFill>
              </a:rPr>
              <a:t>Threshold 0.50 (Default): </a:t>
            </a:r>
            <a:r>
              <a:rPr sz="900">
                <a:solidFill>
                  <a:srgbClr val="E2E8F0"/>
                </a:solidFill>
              </a:rPr>
              <a:t>Recall = 1.38%, Precision = 41.07%, F1 = 0.0267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288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Cambria"/>
              </a:rPr>
              <a:t>Why Threshold 0.20 is Optimal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9456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Alignment with Base Rate: </a:t>
            </a:r>
            <a:r>
              <a:rPr sz="1050">
                <a:solidFill>
                  <a:srgbClr val="E2E8F0"/>
                </a:solidFill>
              </a:rPr>
              <a:t>Attrition occurs at ~16.66%. A decision cutoff of 0.20 is closely calibrated to this prior, whereas 0.50 requires three times the base rate probability.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Maximizes Interception: </a:t>
            </a:r>
            <a:r>
              <a:rPr sz="1050">
                <a:solidFill>
                  <a:srgbClr val="E2E8F0"/>
                </a:solidFill>
              </a:rPr>
              <a:t>Recall jumps from 1.38% (23 workers) to 51.62% (860 workers). The model captures more than half of all departing staff.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Maintains Practical Specificity: </a:t>
            </a:r>
            <a:r>
              <a:rPr sz="1050">
                <a:solidFill>
                  <a:srgbClr val="E2E8F0"/>
                </a:solidFill>
              </a:rPr>
              <a:t>At 0.20, Specificity remains 72.70%, meaning 6,058 loyal workers are correctly left undisturbed.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Operational Feasibility: </a:t>
            </a:r>
            <a:r>
              <a:rPr sz="1050">
                <a:solidFill>
                  <a:srgbClr val="E2E8F0"/>
                </a:solidFill>
              </a:rPr>
              <a:t>Precision of 27.43% means 1 in ~3.6 flagged employees is an authentic flight risk—an excellent conversion rate for proactive HR check-ins.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13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Champion Model: Tuned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Selected champion model configuration and holistic performance scorecard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Cambria"/>
              </a:rPr>
              <a:t>0.6716</a:t>
            </a:r>
          </a:p>
          <a:p>
            <a:r>
              <a:rPr sz="950" b="1">
                <a:solidFill>
                  <a:srgbClr val="94A3B8"/>
                </a:solidFill>
                <a:latin typeface="Calibri"/>
              </a:rPr>
              <a:t>ROC-AUC</a:t>
            </a:r>
          </a:p>
          <a:p>
            <a:r>
              <a:rPr sz="850">
                <a:solidFill>
                  <a:srgbClr val="E2E8F0"/>
                </a:solidFill>
                <a:latin typeface="Calibri"/>
              </a:rPr>
              <a:t>Solid discrimination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75564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34D399"/>
                </a:solidFill>
                <a:latin typeface="Cambria"/>
              </a:rPr>
              <a:t>51.62%</a:t>
            </a:r>
          </a:p>
          <a:p>
            <a:r>
              <a:rPr sz="950" b="1">
                <a:solidFill>
                  <a:srgbClr val="94A3B8"/>
                </a:solidFill>
                <a:latin typeface="Calibri"/>
              </a:rPr>
              <a:t>RECALL / SENSITIVITY</a:t>
            </a:r>
          </a:p>
          <a:p>
            <a:r>
              <a:rPr sz="850">
                <a:solidFill>
                  <a:srgbClr val="E2E8F0"/>
                </a:solidFill>
                <a:latin typeface="Calibri"/>
              </a:rPr>
              <a:t>860 / 1,666 intercepted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5564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38BDF8"/>
                </a:solidFill>
                <a:latin typeface="Cambria"/>
              </a:rPr>
              <a:t>0.3583</a:t>
            </a:r>
          </a:p>
          <a:p>
            <a:r>
              <a:rPr sz="950" b="1">
                <a:solidFill>
                  <a:srgbClr val="94A3B8"/>
                </a:solidFill>
                <a:latin typeface="Calibri"/>
              </a:rPr>
              <a:t>F1-SCORE</a:t>
            </a:r>
          </a:p>
          <a:p>
            <a:r>
              <a:rPr sz="850">
                <a:solidFill>
                  <a:srgbClr val="E2E8F0"/>
                </a:solidFill>
                <a:latin typeface="Calibri"/>
              </a:rPr>
              <a:t>Optimal harmonic 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755648"/>
            <a:ext cx="219456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BBF24"/>
                </a:solidFill>
                <a:latin typeface="Cambria"/>
              </a:rPr>
              <a:t>69.19%</a:t>
            </a:r>
          </a:p>
          <a:p>
            <a:r>
              <a:rPr sz="950" b="1">
                <a:solidFill>
                  <a:srgbClr val="94A3B8"/>
                </a:solidFill>
                <a:latin typeface="Calibri"/>
              </a:rPr>
              <a:t>ACCURACY</a:t>
            </a:r>
          </a:p>
          <a:p>
            <a:r>
              <a:rPr sz="850">
                <a:solidFill>
                  <a:srgbClr val="E2E8F0"/>
                </a:solidFill>
                <a:latin typeface="Calibri"/>
              </a:rPr>
              <a:t>6,918 / 9,999 correct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1206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Hyperparameter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Objective Function: </a:t>
            </a:r>
            <a:r>
              <a:rPr sz="1050">
                <a:solidFill>
                  <a:srgbClr val="22D3EE"/>
                </a:solidFill>
              </a:rPr>
              <a:t>binary:logistic (eval_metric: logloss / auc)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Tree Depth (max_depth): </a:t>
            </a:r>
            <a:r>
              <a:rPr sz="1050">
                <a:solidFill>
                  <a:srgbClr val="22D3EE"/>
                </a:solidFill>
              </a:rPr>
              <a:t>5 (Captures 5th-order interaction effects)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Learning Rate (eta): </a:t>
            </a:r>
            <a:r>
              <a:rPr sz="1050">
                <a:solidFill>
                  <a:srgbClr val="22D3EE"/>
                </a:solidFill>
              </a:rPr>
              <a:t>0.10 (Balances convergence and regularization)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Min Child Weight: </a:t>
            </a:r>
            <a:r>
              <a:rPr sz="1050">
                <a:solidFill>
                  <a:srgbClr val="22D3EE"/>
                </a:solidFill>
              </a:rPr>
              <a:t>1 (Permits granular leaf partition splits)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Subsample &amp; Colsample: </a:t>
            </a:r>
            <a:r>
              <a:rPr sz="1050">
                <a:solidFill>
                  <a:srgbClr val="22D3EE"/>
                </a:solidFill>
              </a:rPr>
              <a:t>0.80 / 0.80 (Feature and instance subsampling)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Boosting Iterations: </a:t>
            </a:r>
            <a:r>
              <a:rPr sz="1050">
                <a:solidFill>
                  <a:srgbClr val="22D3EE"/>
                </a:solidFill>
              </a:rPr>
              <a:t>100 rounds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Operational Cutoff: </a:t>
            </a:r>
            <a:r>
              <a:rPr sz="1050">
                <a:solidFill>
                  <a:srgbClr val="22D3EE"/>
                </a:solidFill>
              </a:rPr>
              <a:t>0.20 probability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2120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Cambria"/>
              </a:rPr>
              <a:t>Complete Metric Scorecard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E2E8F0"/>
                </a:solidFill>
              </a:rPr>
              <a:t>• Area Under ROC Curve (ROC-AUC): </a:t>
            </a:r>
            <a:r>
              <a:rPr b="1" sz="1050">
                <a:solidFill>
                  <a:srgbClr val="34D399"/>
                </a:solidFill>
              </a:rPr>
              <a:t>0.6716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E2E8F0"/>
                </a:solidFill>
              </a:rPr>
              <a:t>• Overall Classification Accuracy: </a:t>
            </a:r>
            <a:r>
              <a:rPr b="1" sz="1050">
                <a:solidFill>
                  <a:srgbClr val="34D399"/>
                </a:solidFill>
              </a:rPr>
              <a:t>0.6919 (69.19%)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E2E8F0"/>
                </a:solidFill>
              </a:rPr>
              <a:t>• Cohen's Kappa Coefficient: </a:t>
            </a:r>
            <a:r>
              <a:rPr b="1" sz="1050">
                <a:solidFill>
                  <a:srgbClr val="34D399"/>
                </a:solidFill>
              </a:rPr>
              <a:t>0.1798 (Substantial over chance)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E2E8F0"/>
                </a:solidFill>
              </a:rPr>
              <a:t>• Positive Predictive Value (Precision): </a:t>
            </a:r>
            <a:r>
              <a:rPr b="1" sz="1050">
                <a:solidFill>
                  <a:srgbClr val="34D399"/>
                </a:solidFill>
              </a:rPr>
              <a:t>0.2743 (27.43%)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E2E8F0"/>
                </a:solidFill>
              </a:rPr>
              <a:t>• True Positive Rate (Sensitivity / Recall): </a:t>
            </a:r>
            <a:r>
              <a:rPr b="1" sz="1050">
                <a:solidFill>
                  <a:srgbClr val="34D399"/>
                </a:solidFill>
              </a:rPr>
              <a:t>0.5162 (51.62%)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E2E8F0"/>
                </a:solidFill>
              </a:rPr>
              <a:t>• True Negative Rate (Specificity): </a:t>
            </a:r>
            <a:r>
              <a:rPr b="1" sz="1050">
                <a:solidFill>
                  <a:srgbClr val="34D399"/>
                </a:solidFill>
              </a:rPr>
              <a:t>0.7270 (72.70%)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E2E8F0"/>
                </a:solidFill>
              </a:rPr>
              <a:t>• Optimal Harmonic Mean (F1-Score): </a:t>
            </a:r>
            <a:r>
              <a:rPr b="1" sz="1050">
                <a:solidFill>
                  <a:srgbClr val="34D399"/>
                </a:solidFill>
              </a:rPr>
              <a:t>0.3583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14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Final Confusion Matrix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Operational analysis of True Positives, False Positives, and False Negatives</a:t>
            </a:r>
          </a:p>
        </p:txBody>
      </p:sp>
      <p:pic>
        <p:nvPicPr>
          <p:cNvPr id="6" name="Picture 5" descr="fin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Operational HR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True Positives (TP = 860): </a:t>
            </a:r>
            <a:r>
              <a:rPr sz="1000">
                <a:solidFill>
                  <a:srgbClr val="E2E8F0"/>
                </a:solidFill>
              </a:rPr>
              <a:t>The model successfully intercepted 860 employees planning to leave. Proactive retention conversations, compensation reviews, and role adjustments can salvage these skilled personnel.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False Negatives (FN = 806): </a:t>
            </a:r>
            <a:r>
              <a:rPr sz="1000">
                <a:solidFill>
                  <a:srgbClr val="E2E8F0"/>
                </a:solidFill>
              </a:rPr>
              <a:t>806 departures were missed. While non-zero, this is an immense improvement over the 1,643 false negatives under default threshold 0.50.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True Negatives (TN = 6,058): </a:t>
            </a:r>
            <a:r>
              <a:rPr sz="1000">
                <a:solidFill>
                  <a:srgbClr val="E2E8F0"/>
                </a:solidFill>
              </a:rPr>
              <a:t>6,058 retained employees correctly identified as stable, preventing wasted management time and unnecessary interventions.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False Positives (FP = 2,275): </a:t>
            </a:r>
            <a:r>
              <a:rPr sz="1000">
                <a:solidFill>
                  <a:srgbClr val="E2E8F0"/>
                </a:solidFill>
              </a:rPr>
              <a:t>2,275 employees flagged who remained. In HR, false positives have benign consequences: engaging a loyal employee in career development discussions strengthens organizational loyalty!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15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ROC and Precision-Recall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Evaluating discriminative separation and precision-recall trade-offs</a:t>
            </a:r>
          </a:p>
        </p:txBody>
      </p:sp>
      <p:pic>
        <p:nvPicPr>
          <p:cNvPr id="6" name="Picture 5" descr="final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7" name="Picture 6" descr="tuned_precision_recal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22D3EE"/>
                </a:solidFill>
              </a:rPr>
              <a:t>ROC Curve (AUC = 0.672) demonstrates solid ranking discrimination | Precision-Recall Curves confirm optimal F1 at Threshold = 0.20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16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Key Feature Importance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Tree split gain attribution reveals the primary catalysts of workforce turnover</a:t>
            </a:r>
          </a:p>
        </p:txBody>
      </p:sp>
      <p:pic>
        <p:nvPicPr>
          <p:cNvPr id="6" name="Picture 5" descr="fina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Top Predictor Insights (XGBoost Gain)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FFFFFF"/>
                </a:solidFill>
              </a:rPr>
              <a:t>EngagementScore (35.71% Gain): </a:t>
            </a:r>
            <a:r>
              <a:rPr sz="1000">
                <a:solidFill>
                  <a:srgbClr val="E2E8F0"/>
                </a:solidFill>
              </a:rPr>
              <a:t>By far the most powerful individual predictor. Low employee engagement is the primary trigger for turnover.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FFFF"/>
                </a:solidFill>
              </a:rPr>
              <a:t>SatisfactionIndex (9.26% Gain): </a:t>
            </a:r>
            <a:r>
              <a:rPr sz="1000">
                <a:solidFill>
                  <a:srgbClr val="E2E8F0"/>
                </a:solidFill>
              </a:rPr>
              <a:t>The second highest predictor. Validates our engineered combination of job satisfaction, environment rating, and job involvement.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FFFF"/>
                </a:solidFill>
              </a:rPr>
              <a:t>MonthlyOvertimeHours (8.93% Gain): </a:t>
            </a:r>
            <a:r>
              <a:rPr sz="1000">
                <a:solidFill>
                  <a:srgbClr val="E2E8F0"/>
                </a:solidFill>
              </a:rPr>
              <a:t>Chronic overtime fatigue directly accelerates voluntary departure on industrial assembly lines.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FFFF"/>
                </a:solidFill>
              </a:rPr>
              <a:t>DistanceFromHome (8.21% Gain): </a:t>
            </a:r>
            <a:r>
              <a:rPr sz="1000">
                <a:solidFill>
                  <a:srgbClr val="E2E8F0"/>
                </a:solidFill>
              </a:rPr>
              <a:t>Daily commuting friction is a major logistical pain point for plant workers.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FFFF"/>
                </a:solidFill>
              </a:rPr>
              <a:t>Total Compensation (24.13% Cumulative): </a:t>
            </a:r>
            <a:r>
              <a:rPr sz="1000">
                <a:solidFill>
                  <a:srgbClr val="E2E8F0"/>
                </a:solidFill>
              </a:rPr>
              <a:t>MonthlyIncome (6.94%), MonthlyRate (6.45%), DailyRate (5.80%), and HourlyRate (4.94%) combine to form a major secondary retention pillar.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17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Strategic Workforce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Empirical data-driven retention policies for plant human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7171"/>
                </a:solidFill>
                <a:latin typeface="Cambria"/>
              </a:rPr>
              <a:t>1. Overtime Capping &amp; Rest Schedules</a:t>
            </a:r>
          </a:p>
          <a:p>
            <a:r>
              <a:rPr sz="1000">
                <a:solidFill>
                  <a:srgbClr val="E2E8F0"/>
                </a:solidFill>
              </a:rPr>
              <a:t>Data Insight: MonthlyOvertimeHours (8.93% gain) strongly correlates with attrition (r = +0.080, p &lt; 0.0001). Employees exceeding 40 hours overtime exhibit severe turnover spikes.
Action: Institute a strict cap of 25 overtime hours/month and mandate compensatory off-shift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Cambria"/>
              </a:rPr>
              <a:t>2. Targeted Pulse Surveys for Engagement</a:t>
            </a:r>
          </a:p>
          <a:p>
            <a:r>
              <a:rPr sz="1000">
                <a:solidFill>
                  <a:srgbClr val="E2E8F0"/>
                </a:solidFill>
              </a:rPr>
              <a:t>Data Insight: EngagementScore accounts for 35.71% of total model gain. Low-engagement workers (&lt;50) have 3x higher attrition rates.
Action: Implement bi-weekly digital micro-pulse surveys to flag sentiment drops before employees formally resign.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5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Cambria"/>
              </a:rPr>
              <a:t>3. Plant Commute Transit &amp; Shuttles</a:t>
            </a:r>
          </a:p>
          <a:p>
            <a:r>
              <a:rPr sz="1000">
                <a:solidFill>
                  <a:srgbClr val="E2E8F0"/>
                </a:solidFill>
              </a:rPr>
              <a:t>Data Insight: DistanceFromHome averages 33.37 km for departed staff vs 31.37 km for retained staff, accounting for 8.21% model gain.
Action: Deploy company-sponsored shuttle buses connecting major residential corridors to Bawal and Manesar plant clusters.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Cambria"/>
              </a:rPr>
              <a:t>4. Role-Specific Interventions (Operators &amp; Logistics)</a:t>
            </a:r>
          </a:p>
          <a:p>
            <a:r>
              <a:rPr sz="1000">
                <a:solidFill>
                  <a:srgbClr val="E2E8F0"/>
                </a:solidFill>
              </a:rPr>
              <a:t>Data Insight: Logistics (17.71%) and Assembly A (17.16%) experience the highest attrition. Operators represent 56% of all departures.
Action: Target retention bonuses, supervisor training, and career pathing directly toward frontline shop-floor operators.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18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Project 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Academic boundaries, threats to validity, and roadmap for future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Cambria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Cross-Sectional Nature: </a:t>
            </a:r>
            <a:r>
              <a:rPr sz="1000">
                <a:solidFill>
                  <a:srgbClr val="E2E8F0"/>
                </a:solidFill>
              </a:rPr>
              <a:t>The dataset captures a single static snapshot rather than longitudinal time series. Dynamic sentiment trajectories over consecutive quarters cannot be observed.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Synthetic Artifacts: </a:t>
            </a:r>
            <a:r>
              <a:rPr sz="1000">
                <a:solidFill>
                  <a:srgbClr val="E2E8F0"/>
                </a:solidFill>
              </a:rPr>
              <a:t>Certain demographic attributes (e.g., education field, plant location) exhibit uniform distributions characteristic of anonymized benchmarking data, dampening geographic variance.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Precision Trade-Off: </a:t>
            </a:r>
            <a:r>
              <a:rPr sz="1000">
                <a:solidFill>
                  <a:srgbClr val="E2E8F0"/>
                </a:solidFill>
              </a:rPr>
              <a:t>Operating at threshold 0.20 yields Precision of 27.43% (FP = 2,275). While operationally justified in HR, it requires managerial tolerance for false alarms.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Absence of Qualitative Data: </a:t>
            </a:r>
            <a:r>
              <a:rPr sz="1000">
                <a:solidFill>
                  <a:srgbClr val="E2E8F0"/>
                </a:solidFill>
              </a:rPr>
              <a:t>Lacks unstructured exit interview narratives, textual pulse survey feedback, and external macroeconomic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Cambria"/>
              </a:rPr>
              <a:t>Future Scope &amp;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Survival Analysis: </a:t>
            </a:r>
            <a:r>
              <a:rPr sz="1000">
                <a:solidFill>
                  <a:srgbClr val="E2E8F0"/>
                </a:solidFill>
              </a:rPr>
              <a:t>Implement Cox Proportional Hazards and Kaplan-Meier estimators to model time-to-attrition probability curves across tenure brackets.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Explainable AI (XAI) Dashboards: </a:t>
            </a:r>
            <a:r>
              <a:rPr sz="1000">
                <a:solidFill>
                  <a:srgbClr val="E2E8F0"/>
                </a:solidFill>
              </a:rPr>
              <a:t>Integrate SHAP (Shapley Additive exPlanations) and LIME into an interactive Streamlit/R Shiny plant dashboard for individualized employee risk factor explainability.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Natural Language Processing (NLP): </a:t>
            </a:r>
            <a:r>
              <a:rPr sz="1000">
                <a:solidFill>
                  <a:srgbClr val="E2E8F0"/>
                </a:solidFill>
              </a:rPr>
              <a:t>Extract sentiment and topic vectors from employee reviews and peer feedback using transformer embeddings (BERT/RoBERTa).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FFFF"/>
                </a:solidFill>
              </a:rPr>
              <a:t>Cost-Sensitive Objective Functions: </a:t>
            </a:r>
            <a:r>
              <a:rPr sz="1000">
                <a:solidFill>
                  <a:srgbClr val="E2E8F0"/>
                </a:solidFill>
              </a:rPr>
              <a:t>Directly embed asymmetric financial loss matrices into XGBoost's custom gradient objective function.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Calibri"/>
              </a:rPr>
              <a:t>SECTION 19  ·  DIGITAL 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mbria"/>
              </a:rPr>
              <a:t>Conclusion &amp;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Calibri"/>
              </a:rPr>
              <a:t>Summary of completed deliverables and 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2D3EE"/>
                </a:solidFill>
                <a:latin typeface="Cambria"/>
              </a:rPr>
              <a:t>Summary of Deliverables &amp; Ground Truth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Complete End-to-End Pipeline: </a:t>
            </a:r>
            <a:r>
              <a:rPr sz="1100">
                <a:solidFill>
                  <a:srgbClr val="E2E8F0"/>
                </a:solidFill>
              </a:rPr>
              <a:t>Executed feature engineering, Random Forest Gini selection (top 15), SQLite SQL analytics, Wilcoxon/Chi-Square testing, and evaluated 10 machine learning algorithms.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Resolved Default Threshold Collapse: </a:t>
            </a:r>
            <a:r>
              <a:rPr sz="1100">
                <a:solidFill>
                  <a:srgbClr val="E2E8F0"/>
                </a:solidFill>
              </a:rPr>
              <a:t>Demonstrated that default 0.50 thresholding fails on 16.66% imbalanced data (recall &lt; 1.5%), while calibrated thresholding at 0.20 restores operational recall to 51.62%.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Empirically Verified Champion: </a:t>
            </a:r>
            <a:r>
              <a:rPr sz="1100">
                <a:solidFill>
                  <a:srgbClr val="E2E8F0"/>
                </a:solidFill>
              </a:rPr>
              <a:t>Tuned XGBoost at threshold 0.20 delivers ROC-AUC of 0.6716, capturing 860 of 1,666 attritions with optimal F1-score of 0.3583 and 72.70% specificity on 9,999 test records.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FFFF"/>
                </a:solidFill>
              </a:rPr>
              <a:t>Data-Driven Retention Policy: </a:t>
            </a:r>
            <a:r>
              <a:rPr sz="1100">
                <a:solidFill>
                  <a:srgbClr val="E2E8F0"/>
                </a:solidFill>
              </a:rPr>
              <a:t>Proved that workforce turnover is primarily governed by worker engagement (35.71% gain), multi-factor satisfaction (9.26%), overtime burnout (8.93%), and commute burden (8.21%).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Thank You!
Questions &amp; Technical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